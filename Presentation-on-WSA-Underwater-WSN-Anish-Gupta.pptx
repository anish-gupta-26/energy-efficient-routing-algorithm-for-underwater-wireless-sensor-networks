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74" r:id="rId6"/>
    <p:sldId id="266" r:id="rId7"/>
    <p:sldId id="267" r:id="rId8"/>
    <p:sldId id="268" r:id="rId9"/>
    <p:sldId id="269" r:id="rId10"/>
    <p:sldId id="278" r:id="rId11"/>
    <p:sldId id="273" r:id="rId12"/>
    <p:sldId id="271" r:id="rId13"/>
    <p:sldId id="270" r:id="rId14"/>
    <p:sldId id="259" r:id="rId15"/>
    <p:sldId id="261" r:id="rId16"/>
    <p:sldId id="272" r:id="rId17"/>
    <p:sldId id="265" r:id="rId18"/>
    <p:sldId id="279" r:id="rId19"/>
    <p:sldId id="277" r:id="rId20"/>
    <p:sldId id="262" r:id="rId21"/>
    <p:sldId id="26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8C3665-FD3B-318E-5636-7D75D8FB1FBD}" v="591" dt="2024-07-04T17:17:19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696" autoAdjust="0"/>
    <p:restoredTop sz="94660"/>
  </p:normalViewPr>
  <p:slideViewPr>
    <p:cSldViewPr snapToGrid="0">
      <p:cViewPr>
        <p:scale>
          <a:sx n="66" d="100"/>
          <a:sy n="66" d="100"/>
        </p:scale>
        <p:origin x="-720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7/12/2024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2"/>
            <a:ext cx="12191999" cy="106455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335486"/>
            <a:ext cx="12191999" cy="5281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1</a:t>
            </a:r>
          </a:p>
        </p:txBody>
      </p:sp>
      <p:pic>
        <p:nvPicPr>
          <p:cNvPr id="8" name="Picture 7" descr="A purple and white logo&#10;&#10;Description automatically generated">
            <a:extLst>
              <a:ext uri="{FF2B5EF4-FFF2-40B4-BE49-F238E27FC236}">
                <a16:creationId xmlns:a16="http://schemas.microsoft.com/office/drawing/2014/main" xmlns="" id="{373997F9-88B9-AC7B-E802-CDD068F32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914" y="2649070"/>
            <a:ext cx="2384612" cy="24115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6EA3A4A-89F4-4455-5169-F314DC929CC0}"/>
              </a:ext>
            </a:extLst>
          </p:cNvPr>
          <p:cNvSpPr txBox="1"/>
          <p:nvPr/>
        </p:nvSpPr>
        <p:spPr>
          <a:xfrm>
            <a:off x="98275" y="105639"/>
            <a:ext cx="1188663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An Energy Efficient Whale </a:t>
            </a:r>
            <a:r>
              <a:rPr lang="en-US" sz="2400" dirty="0" smtClean="0">
                <a:latin typeface="Times New Roman"/>
                <a:cs typeface="Times New Roman"/>
              </a:rPr>
              <a:t>Swarm-based</a:t>
            </a:r>
            <a:r>
              <a:rPr lang="en-US" sz="2400" dirty="0">
                <a:latin typeface="Times New Roman"/>
                <a:cs typeface="Times New Roman"/>
              </a:rPr>
              <a:t> Routing Algorithm for Underwater Wireless Sensor Network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62B30B9-0A55-DD2D-E616-32B6CFA07BCC}"/>
              </a:ext>
            </a:extLst>
          </p:cNvPr>
          <p:cNvSpPr txBox="1"/>
          <p:nvPr/>
        </p:nvSpPr>
        <p:spPr>
          <a:xfrm>
            <a:off x="225483" y="1312296"/>
            <a:ext cx="1164462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smtClean="0">
                <a:latin typeface="Times New Roman"/>
                <a:cs typeface="Times New Roman"/>
              </a:rPr>
              <a:t>Presented by </a:t>
            </a:r>
            <a:r>
              <a:rPr lang="en-US" sz="2000" b="1" dirty="0" smtClean="0">
                <a:latin typeface="Times New Roman"/>
                <a:cs typeface="Times New Roman"/>
              </a:rPr>
              <a:t>Anish </a:t>
            </a:r>
            <a:r>
              <a:rPr lang="en-US" sz="2000" b="1" dirty="0">
                <a:latin typeface="Times New Roman"/>
                <a:cs typeface="Times New Roman"/>
              </a:rPr>
              <a:t>Gupta</a:t>
            </a:r>
            <a:r>
              <a:rPr lang="en-US" sz="2000" dirty="0">
                <a:latin typeface="Times New Roman"/>
                <a:cs typeface="Times New Roman"/>
              </a:rPr>
              <a:t>, under the guidance </a:t>
            </a:r>
            <a:r>
              <a:rPr lang="en-US" sz="2000" dirty="0" smtClean="0">
                <a:latin typeface="Times New Roman"/>
                <a:cs typeface="Times New Roman"/>
              </a:rPr>
              <a:t>of</a:t>
            </a:r>
            <a:endParaRPr lang="en-US" sz="2000" dirty="0">
              <a:latin typeface="Times New Roman"/>
              <a:cs typeface="Times New Roman"/>
            </a:endParaRPr>
          </a:p>
          <a:p>
            <a:pPr algn="ctr"/>
            <a:r>
              <a:rPr lang="en-US" sz="2000" b="1" dirty="0">
                <a:latin typeface="Times New Roman"/>
                <a:cs typeface="Times New Roman"/>
              </a:rPr>
              <a:t>Dr. Prasenjit </a:t>
            </a:r>
            <a:r>
              <a:rPr lang="en-US" sz="2000" b="1" dirty="0" smtClean="0">
                <a:latin typeface="Times New Roman"/>
                <a:cs typeface="Times New Roman"/>
              </a:rPr>
              <a:t>Chanak</a:t>
            </a:r>
            <a:endParaRPr lang="en-US" sz="2000" b="1" dirty="0">
              <a:latin typeface="Times New Roman"/>
              <a:cs typeface="Times New Roman"/>
            </a:endParaRPr>
          </a:p>
          <a:p>
            <a:pPr algn="ctr"/>
            <a:r>
              <a:rPr lang="en-US" sz="2000" dirty="0">
                <a:latin typeface="Times New Roman"/>
                <a:cs typeface="Times New Roman"/>
              </a:rPr>
              <a:t>Assistant Professor, Department of Computer Science and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19173AF-2C18-5A6F-1286-AB30D902D5A6}"/>
              </a:ext>
            </a:extLst>
          </p:cNvPr>
          <p:cNvSpPr txBox="1"/>
          <p:nvPr/>
        </p:nvSpPr>
        <p:spPr>
          <a:xfrm>
            <a:off x="1626703" y="5411608"/>
            <a:ext cx="90032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Times New Roman"/>
                <a:cs typeface="Times New Roman"/>
              </a:rPr>
              <a:t>Indian Institute of Technology  (BHU) , Varanasi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2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F4ADFF3-9920-5D7A-0FE9-CC184E11361D}"/>
              </a:ext>
            </a:extLst>
          </p:cNvPr>
          <p:cNvSpPr txBox="1"/>
          <p:nvPr/>
        </p:nvSpPr>
        <p:spPr>
          <a:xfrm>
            <a:off x="259594" y="119897"/>
            <a:ext cx="1170997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dirty="0" smtClean="0">
                <a:latin typeface="Times New Roman"/>
                <a:cs typeface="Times New Roman"/>
              </a:rPr>
              <a:t>INTRODUCTION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8" y="850312"/>
            <a:ext cx="11728453" cy="56015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r>
              <a:rPr lang="en-IN" sz="2000" dirty="0" smtClean="0">
                <a:latin typeface="Times New Roman"/>
                <a:cs typeface="Times New Roman"/>
              </a:rPr>
              <a:t>  A Wireless Sensor Network (WSN) is a wireless distributed network that is used to monitor physical and                                            environmental conditions of a region such as temperature, pressure, sound, motion and so on.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IN" sz="2000" dirty="0" smtClean="0">
              <a:latin typeface="Times New Roman"/>
              <a:cs typeface="Times New Roman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IN" sz="2000" dirty="0" smtClean="0">
                <a:latin typeface="Times New Roman"/>
                <a:cs typeface="Times New Roman"/>
              </a:rPr>
              <a:t> It consists of numerous micro-sensor nodes deployed in the monitoring region that collect and process                  information in real time and forward it to a centralized base station via wireless communication.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US" sz="2000" dirty="0" smtClean="0">
              <a:latin typeface="Times New Roman"/>
              <a:cs typeface="Times New Roman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/>
                <a:cs typeface="Times New Roman"/>
              </a:rPr>
              <a:t>The base station then transmits the data to users via internet, satellite or mobile network.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IN" sz="2000" dirty="0" smtClean="0">
              <a:latin typeface="Times New Roman"/>
              <a:cs typeface="Times New Roman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IN" sz="2000" dirty="0" smtClean="0">
                <a:latin typeface="Times New Roman"/>
                <a:cs typeface="Times New Roman"/>
              </a:rPr>
              <a:t>One of the key uses of WSN is in underwater applications such as oceanographic monitoring, disaster management, offshore data collection, surveillance, pollution monitoring and control.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IN" sz="2000" dirty="0" smtClean="0">
              <a:latin typeface="Times New Roman"/>
              <a:cs typeface="Times New Roman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IN" sz="2000" dirty="0" smtClean="0">
                <a:latin typeface="Times New Roman"/>
                <a:cs typeface="Times New Roman"/>
              </a:rPr>
              <a:t>Such networks, where WSN is employed in underwater environment  are popularly referred as Underwater Wireless Sensor Network (UWSN).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IN" sz="2000" dirty="0" smtClean="0">
              <a:latin typeface="Times New Roman"/>
              <a:cs typeface="Times New Roman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IN" sz="2000" dirty="0" smtClean="0">
                <a:latin typeface="Times New Roman"/>
                <a:cs typeface="Times New Roman"/>
              </a:rPr>
              <a:t>The communication in UWSN takes place using acoustic waves which are more suitable for underwater communication.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000" dirty="0" smtClean="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3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9" y="850312"/>
            <a:ext cx="4831954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r>
              <a:rPr lang="en-IN" sz="2000" dirty="0" smtClean="0">
                <a:latin typeface="Times New Roman"/>
                <a:cs typeface="Times New Roman"/>
              </a:rPr>
              <a:t>The routing algorithm in WSN are used to identify the most optimal path for transfer of data packets from source node to base station.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IN" sz="2000" dirty="0" smtClean="0">
              <a:latin typeface="Times New Roman"/>
              <a:cs typeface="Times New Roman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/>
                <a:cs typeface="Times New Roman"/>
              </a:rPr>
              <a:t>The most common issue in WSN research is the energy supply of sensor nodes, which often acts as a bottleneck.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US" sz="2000" dirty="0" smtClean="0">
              <a:latin typeface="Times New Roman"/>
              <a:cs typeface="Times New Roman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/>
                <a:cs typeface="Times New Roman"/>
              </a:rPr>
              <a:t>This paper addresses the energy constraint issue of sensors.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9BEF45A0-6F0F-0E6B-ACD9-724058344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846" y="936619"/>
            <a:ext cx="4731488" cy="290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4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8" y="850312"/>
            <a:ext cx="117284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B60FBBCE-D5DB-5D33-E817-0F5C23D53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55383683"/>
              </p:ext>
            </p:extLst>
          </p:nvPr>
        </p:nvGraphicFramePr>
        <p:xfrm>
          <a:off x="215900" y="1193179"/>
          <a:ext cx="11692965" cy="4121127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97655">
                  <a:extLst>
                    <a:ext uri="{9D8B030D-6E8A-4147-A177-3AD203B41FA5}">
                      <a16:colId xmlns="" xmlns:a16="http://schemas.microsoft.com/office/drawing/2014/main" val="1916330846"/>
                    </a:ext>
                  </a:extLst>
                </a:gridCol>
                <a:gridCol w="3897655">
                  <a:extLst>
                    <a:ext uri="{9D8B030D-6E8A-4147-A177-3AD203B41FA5}">
                      <a16:colId xmlns="" xmlns:a16="http://schemas.microsoft.com/office/drawing/2014/main" val="1311066282"/>
                    </a:ext>
                  </a:extLst>
                </a:gridCol>
                <a:gridCol w="3897655">
                  <a:extLst>
                    <a:ext uri="{9D8B030D-6E8A-4147-A177-3AD203B41FA5}">
                      <a16:colId xmlns="" xmlns:a16="http://schemas.microsoft.com/office/drawing/2014/main" val="2086614826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/>
                        </a:rPr>
                        <a:t>Author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/>
                        </a:rPr>
                        <a:t>Contribution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/>
                        </a:rPr>
                        <a:t>Limitation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47909907"/>
                  </a:ext>
                </a:extLst>
              </a:tr>
              <a:tr h="16376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1800" b="0" i="0" u="none" strike="noStrike" baseline="0" noProof="1" smtClean="0">
                          <a:solidFill>
                            <a:srgbClr val="000000"/>
                          </a:solidFill>
                          <a:latin typeface="Times New Roman"/>
                        </a:rPr>
                        <a:t>Okdem</a:t>
                      </a:r>
                      <a:r>
                        <a:rPr lang="en-US" sz="1800" b="0" i="0" u="none" strike="noStrike" baseline="0" noProof="0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 et al. [1]</a:t>
                      </a:r>
                      <a:endParaRPr lang="en-US" sz="1800" dirty="0"/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In this protocol, the path between source nodes and sink node are constructed by forwarding ants which select next hop based on amount pheromone trail left by other. </a:t>
                      </a:r>
                      <a:endParaRPr lang="en-US" sz="1800" dirty="0"/>
                    </a:p>
                    <a:p>
                      <a:pPr lvl="0">
                        <a:buNone/>
                      </a:pPr>
                      <a:endParaRPr lang="en-US" sz="1800" dirty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/>
                        </a:rPr>
                        <a:t>The algorithm only considers path length not the energy levels of nodes while calculating the amount of pheromone trail an ant deposits on its path.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98539040"/>
                  </a:ext>
                </a:extLst>
              </a:tr>
              <a:tr h="16376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Saleem et</a:t>
                      </a:r>
                      <a:r>
                        <a:rPr lang="en-IN" sz="18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al. [2]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/>
                        </a:rPr>
                        <a:t>It is an event-driven, reactive and on-demand multipath routing protocol inspired by the foraging principles of honey bees</a:t>
                      </a:r>
                      <a:endParaRPr lang="en-US" sz="1800" dirty="0">
                        <a:latin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smtClean="0">
                          <a:latin typeface="Times New Roman"/>
                        </a:rPr>
                        <a:t>The algorithm becomes computationally expensive for larger number of nodes </a:t>
                      </a:r>
                      <a:endParaRPr lang="en-US" sz="1800" dirty="0">
                        <a:latin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0629" y="0"/>
            <a:ext cx="1185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LITREATURE REVIEW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5</a:t>
            </a: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8" y="850312"/>
            <a:ext cx="117284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B60FBBCE-D5DB-5D33-E817-0F5C23D53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55383683"/>
              </p:ext>
            </p:extLst>
          </p:nvPr>
        </p:nvGraphicFramePr>
        <p:xfrm>
          <a:off x="215900" y="1193179"/>
          <a:ext cx="11692965" cy="4121127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97655">
                  <a:extLst>
                    <a:ext uri="{9D8B030D-6E8A-4147-A177-3AD203B41FA5}">
                      <a16:colId xmlns="" xmlns:a16="http://schemas.microsoft.com/office/drawing/2014/main" val="1916330846"/>
                    </a:ext>
                  </a:extLst>
                </a:gridCol>
                <a:gridCol w="3897655">
                  <a:extLst>
                    <a:ext uri="{9D8B030D-6E8A-4147-A177-3AD203B41FA5}">
                      <a16:colId xmlns="" xmlns:a16="http://schemas.microsoft.com/office/drawing/2014/main" val="1311066282"/>
                    </a:ext>
                  </a:extLst>
                </a:gridCol>
                <a:gridCol w="3897655">
                  <a:extLst>
                    <a:ext uri="{9D8B030D-6E8A-4147-A177-3AD203B41FA5}">
                      <a16:colId xmlns="" xmlns:a16="http://schemas.microsoft.com/office/drawing/2014/main" val="2086614826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/>
                        </a:rPr>
                        <a:t>Author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/>
                        </a:rPr>
                        <a:t>Contribution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/>
                        </a:rPr>
                        <a:t>Limitation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47909907"/>
                  </a:ext>
                </a:extLst>
              </a:tr>
              <a:tr h="16376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US" sz="1800" b="0" i="0" u="none" strike="noStrike" baseline="0" noProof="1" smtClean="0">
                          <a:solidFill>
                            <a:srgbClr val="000000"/>
                          </a:solidFill>
                          <a:latin typeface="Times New Roman"/>
                        </a:rPr>
                        <a:t>Liu</a:t>
                      </a:r>
                      <a:r>
                        <a:rPr lang="en-US" sz="1800" b="0" i="0" u="none" strike="noStrike" baseline="0" noProof="0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 et al. [3]</a:t>
                      </a:r>
                      <a:endParaRPr lang="en-US" sz="1800" dirty="0"/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noProof="0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This is based on particle swarm optimization(PSO). The objective function consist of bandwidth, delay and packet loss to find optimal path and enhance performance.</a:t>
                      </a:r>
                      <a:endParaRPr lang="en-US" sz="1800" dirty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noProof="0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Storing global information in each sensor nodes is not suitable for large scale WSN.</a:t>
                      </a:r>
                      <a:endParaRPr lang="en-US" sz="1800" dirty="0" smtClean="0"/>
                    </a:p>
                    <a:p>
                      <a:endParaRPr lang="en-US" sz="1800" dirty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98539040"/>
                  </a:ext>
                </a:extLst>
              </a:tr>
              <a:tr h="16376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smtClean="0">
                          <a:latin typeface="Times New Roman"/>
                          <a:ea typeface="+mn-lt"/>
                          <a:cs typeface="+mn-lt"/>
                        </a:rPr>
                        <a:t>Heinzelman et al. [4]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The LEACH protocol is a clustering based hierarchical routing protocol that aims to extend the network's lifetime by reducing energy consumption.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The protocol fails if the distance between CH and sink is more than a certain threshold since the energy dissipation of CH becomes proportional to the fourth power of the distance between CH and sink. 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0629" y="0"/>
            <a:ext cx="1185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LITREATURE REVIEW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6</a:t>
            </a: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81221" y="738345"/>
            <a:ext cx="11728453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2000" u="sng" dirty="0" smtClean="0">
                <a:latin typeface="Times New Roman"/>
                <a:cs typeface="Times New Roman"/>
              </a:rPr>
              <a:t>Energy Model</a:t>
            </a:r>
          </a:p>
          <a:p>
            <a:endParaRPr lang="en-US" dirty="0" smtClean="0">
              <a:latin typeface="Times New Roman"/>
              <a:cs typeface="Times New Roman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energy consumption of sensor nodes mainly includes three parts: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Sensing energy consumption due to sensors.</a:t>
            </a:r>
          </a:p>
          <a:p>
            <a:pPr marL="514350" indent="-514350"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processing energy consumption by microprocessor.</a:t>
            </a:r>
          </a:p>
          <a:p>
            <a:pPr marL="514350" indent="-514350">
              <a:buAutoNum type="roman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Communication energy consumption due to wireless module</a:t>
            </a:r>
          </a:p>
          <a:p>
            <a:pPr marL="514350" indent="-514350">
              <a:buAutoNum type="romanLcPeriod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major energy consumption is due to wireless communication module that uses acoustic signals to transfer data. The </a:t>
            </a:r>
          </a:p>
          <a:p>
            <a:pPr marL="514350" indent="-514350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research paper solely focuses on this energy.</a:t>
            </a:r>
          </a:p>
          <a:p>
            <a:pPr marL="514350" indent="-514350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energy consumption for transmitting l bits of data over D meters of distance is given as</a:t>
            </a:r>
          </a:p>
          <a:p>
            <a:pPr marL="514350" indent="-514350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where,</a:t>
            </a:r>
          </a:p>
          <a:p>
            <a:pPr marL="514350" indent="-514350"/>
            <a:r>
              <a:rPr lang="en-US" dirty="0" smtClean="0">
                <a:latin typeface="Times New Roman"/>
                <a:cs typeface="Times New Roman"/>
              </a:rPr>
              <a:t>E</a:t>
            </a:r>
            <a:r>
              <a:rPr lang="en-US" baseline="-25000" dirty="0" smtClean="0">
                <a:latin typeface="Times New Roman"/>
                <a:cs typeface="Times New Roman"/>
              </a:rPr>
              <a:t>elec     </a:t>
            </a:r>
            <a:r>
              <a:rPr lang="en-US" dirty="0" smtClean="0">
                <a:latin typeface="Times New Roman"/>
                <a:cs typeface="Times New Roman"/>
              </a:rPr>
              <a:t>: energy required by electronics circuit                  B(d) : Bandwidth of signal</a:t>
            </a:r>
          </a:p>
          <a:p>
            <a:pPr marL="514350" indent="-514350"/>
            <a:r>
              <a:rPr lang="en-IN" dirty="0" smtClean="0">
                <a:latin typeface="Times New Roman"/>
                <a:cs typeface="Times New Roman"/>
              </a:rPr>
              <a:t>E</a:t>
            </a:r>
            <a:r>
              <a:rPr lang="en-IN" baseline="-25000" dirty="0" smtClean="0">
                <a:latin typeface="Times New Roman"/>
                <a:cs typeface="Times New Roman"/>
              </a:rPr>
              <a:t>amp</a:t>
            </a:r>
            <a:r>
              <a:rPr lang="en-IN" dirty="0" smtClean="0">
                <a:latin typeface="Times New Roman"/>
                <a:cs typeface="Times New Roman"/>
              </a:rPr>
              <a:t> : energy required by amplifier                                   Pt    : Transmitting Power   </a:t>
            </a:r>
            <a:endParaRPr lang="en-US" dirty="0" smtClean="0">
              <a:latin typeface="Times New Roman"/>
              <a:cs typeface="Times New Roman"/>
            </a:endParaRPr>
          </a:p>
          <a:p>
            <a:pPr marL="514350" indent="-514350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14350" indent="-514350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SYSTEM MODEL AND DEFINITIONS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94100" y="4320041"/>
            <a:ext cx="3814763" cy="653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7</a:t>
            </a:r>
          </a:p>
          <a:p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8" y="850312"/>
            <a:ext cx="11728453" cy="6894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900" dirty="0" smtClean="0">
                <a:latin typeface="Times New Roman"/>
                <a:cs typeface="Times New Roman"/>
              </a:rPr>
              <a:t>The energy consumption for receiving l bits of data is given as</a:t>
            </a: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r>
              <a:rPr lang="en-IN" sz="1900" dirty="0" smtClean="0">
                <a:latin typeface="Times New Roman"/>
                <a:cs typeface="Times New Roman"/>
              </a:rPr>
              <a:t>E</a:t>
            </a:r>
            <a:r>
              <a:rPr lang="en-IN" sz="1900" baseline="-25000" dirty="0" smtClean="0">
                <a:latin typeface="Times New Roman"/>
                <a:cs typeface="Times New Roman"/>
              </a:rPr>
              <a:t>DA</a:t>
            </a:r>
            <a:r>
              <a:rPr lang="en-IN" sz="1900" dirty="0" smtClean="0">
                <a:latin typeface="Times New Roman"/>
                <a:cs typeface="Times New Roman"/>
              </a:rPr>
              <a:t> : Data aggregation energy                                                                     Pr    : Receiving Power</a:t>
            </a:r>
          </a:p>
          <a:p>
            <a:r>
              <a:rPr lang="en-IN" sz="1900" dirty="0" smtClean="0">
                <a:latin typeface="Times New Roman"/>
                <a:cs typeface="Times New Roman"/>
              </a:rPr>
              <a:t>h     : </a:t>
            </a:r>
            <a:r>
              <a:rPr lang="en-US" sz="1900" dirty="0" smtClean="0">
                <a:latin typeface="Times New Roman"/>
                <a:cs typeface="Times New Roman"/>
              </a:rPr>
              <a:t>bandwidth efficiency of modulation given in bits/s/ Hz</a:t>
            </a:r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r>
              <a:rPr lang="en-IN" sz="1900" dirty="0" smtClean="0">
                <a:latin typeface="Times New Roman"/>
                <a:cs typeface="Times New Roman"/>
              </a:rPr>
              <a:t>The signal to noise ratio (SNR) is represented as</a:t>
            </a:r>
          </a:p>
          <a:p>
            <a:pPr algn="l"/>
            <a:r>
              <a:rPr lang="en-IN" sz="1900" dirty="0" smtClean="0">
                <a:latin typeface="Times New Roman"/>
                <a:cs typeface="Times New Roman"/>
              </a:rPr>
              <a:t>                                                                     </a:t>
            </a:r>
          </a:p>
          <a:p>
            <a:pPr algn="l"/>
            <a:r>
              <a:rPr lang="en-IN" sz="1900" dirty="0" smtClean="0">
                <a:latin typeface="Times New Roman"/>
                <a:cs typeface="Times New Roman"/>
              </a:rPr>
              <a:t>                                                                 </a:t>
            </a:r>
            <a:r>
              <a:rPr lang="en-IN" sz="1900" i="1" dirty="0" smtClean="0">
                <a:latin typeface="Times New Roman"/>
                <a:cs typeface="Times New Roman"/>
              </a:rPr>
              <a:t> SNR=SL – NL – TL + DI</a:t>
            </a:r>
          </a:p>
          <a:p>
            <a:pPr algn="l"/>
            <a:endParaRPr lang="en-IN" sz="1900" i="1" dirty="0" smtClean="0">
              <a:latin typeface="Times New Roman"/>
              <a:cs typeface="Times New Roman"/>
            </a:endParaRPr>
          </a:p>
          <a:p>
            <a:pPr algn="l"/>
            <a:r>
              <a:rPr lang="en-IN" sz="1900" dirty="0" smtClean="0">
                <a:latin typeface="Times New Roman"/>
                <a:cs typeface="Times New Roman"/>
              </a:rPr>
              <a:t>The hydrophone modem is considered to be omnipresent, thus the directive index (DI) is 0. </a:t>
            </a: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US" sz="2000" dirty="0" smtClean="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0139" y="1352550"/>
            <a:ext cx="3979862" cy="815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77621" y="3193610"/>
            <a:ext cx="24288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8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8" y="850312"/>
            <a:ext cx="11728453" cy="6247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sz="2000" dirty="0" smtClean="0">
                <a:latin typeface="Times New Roman"/>
                <a:cs typeface="Times New Roman"/>
              </a:rPr>
              <a:t>The source level depends on transmission power intensity, I</a:t>
            </a:r>
            <a:r>
              <a:rPr lang="en-IN" sz="2000" baseline="-25000" dirty="0" smtClean="0">
                <a:latin typeface="Times New Roman"/>
                <a:cs typeface="Times New Roman"/>
              </a:rPr>
              <a:t>t</a:t>
            </a:r>
            <a:r>
              <a:rPr lang="en-IN" sz="2000" dirty="0" smtClean="0">
                <a:latin typeface="Times New Roman"/>
                <a:cs typeface="Times New Roman"/>
              </a:rPr>
              <a:t> as</a:t>
            </a: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r>
              <a:rPr lang="en-IN" sz="2000" dirty="0" smtClean="0">
                <a:latin typeface="Times New Roman"/>
                <a:cs typeface="Times New Roman"/>
              </a:rPr>
              <a:t>d  : depth                                                                        </a:t>
            </a:r>
          </a:p>
          <a:p>
            <a:pPr algn="l"/>
            <a:r>
              <a:rPr lang="en-IN" sz="2000" dirty="0" smtClean="0">
                <a:latin typeface="Times New Roman"/>
                <a:cs typeface="Times New Roman"/>
              </a:rPr>
              <a:t>k : 2</a:t>
            </a:r>
            <a:r>
              <a:rPr lang="el-GR" sz="2000" dirty="0" smtClean="0">
                <a:latin typeface="Times New Roman"/>
                <a:cs typeface="Times New Roman"/>
              </a:rPr>
              <a:t>π</a:t>
            </a:r>
            <a:r>
              <a:rPr lang="en-IN" sz="2000" dirty="0" smtClean="0">
                <a:latin typeface="Times New Roman"/>
                <a:cs typeface="Times New Roman"/>
              </a:rPr>
              <a:t> or 4</a:t>
            </a:r>
            <a:r>
              <a:rPr lang="el-GR" sz="2000" dirty="0" smtClean="0">
                <a:latin typeface="Times New Roman"/>
                <a:cs typeface="Times New Roman"/>
              </a:rPr>
              <a:t>π</a:t>
            </a:r>
            <a:r>
              <a:rPr lang="en-IN" sz="2000" dirty="0" smtClean="0">
                <a:latin typeface="Times New Roman"/>
                <a:cs typeface="Times New Roman"/>
              </a:rPr>
              <a:t> for shallow and deep water respectively </a:t>
            </a: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r>
              <a:rPr lang="en-IN" sz="2000" dirty="0" smtClean="0">
                <a:latin typeface="Times New Roman"/>
                <a:cs typeface="Times New Roman"/>
              </a:rPr>
              <a:t>The noise loss is resultant of shipping, turbulence, thermal and wave loss as expressed by the equation</a:t>
            </a: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r>
              <a:rPr lang="en-IN" sz="2000" dirty="0" smtClean="0">
                <a:latin typeface="Times New Roman"/>
                <a:cs typeface="Times New Roman"/>
              </a:rPr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54438" y="1417638"/>
            <a:ext cx="30575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79012" y="2227211"/>
            <a:ext cx="2199217" cy="754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82754" y="4842221"/>
            <a:ext cx="4504083" cy="548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9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8" y="850312"/>
            <a:ext cx="11728453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sz="1900" dirty="0" smtClean="0">
                <a:latin typeface="Times New Roman"/>
                <a:cs typeface="Times New Roman"/>
              </a:rPr>
              <a:t>These are expressed by following equations :</a:t>
            </a: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r>
              <a:rPr lang="en-IN" sz="1900" dirty="0" smtClean="0">
                <a:latin typeface="Times New Roman"/>
                <a:cs typeface="Times New Roman"/>
              </a:rPr>
              <a:t>where</a:t>
            </a:r>
          </a:p>
          <a:p>
            <a:pPr algn="l"/>
            <a:r>
              <a:rPr lang="en-IN" sz="1900" dirty="0" smtClean="0">
                <a:latin typeface="Times New Roman"/>
                <a:cs typeface="Times New Roman"/>
              </a:rPr>
              <a:t>f   : frequency           s : shipping factor</a:t>
            </a:r>
          </a:p>
          <a:p>
            <a:pPr algn="l"/>
            <a:r>
              <a:rPr lang="en-IN" sz="1900" dirty="0" smtClean="0">
                <a:latin typeface="Times New Roman"/>
                <a:cs typeface="Times New Roman"/>
              </a:rPr>
              <a:t>w : wind speed</a:t>
            </a:r>
          </a:p>
          <a:p>
            <a:pPr algn="l"/>
            <a:endParaRPr lang="en-IN" sz="1900" dirty="0" smtClean="0">
              <a:latin typeface="Times New Roman"/>
              <a:cs typeface="Times New Roman"/>
            </a:endParaRPr>
          </a:p>
          <a:p>
            <a:pPr algn="l"/>
            <a:r>
              <a:rPr lang="en-IN" sz="1900" dirty="0" smtClean="0">
                <a:latin typeface="Times New Roman"/>
                <a:cs typeface="Times New Roman"/>
              </a:rPr>
              <a:t>The transmission loss (TL) incurred between transmitter and module can be modelled as</a:t>
            </a:r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5056" y="1501063"/>
            <a:ext cx="4338283" cy="1307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2526" y="4676042"/>
            <a:ext cx="18764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84934" y="4542886"/>
            <a:ext cx="4619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01738" y="5466886"/>
            <a:ext cx="15621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10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23935" y="637661"/>
            <a:ext cx="11728453" cy="56015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2000" u="sng" dirty="0" smtClean="0">
                <a:latin typeface="Times New Roman"/>
                <a:cs typeface="Times New Roman"/>
              </a:rPr>
              <a:t>Objective Function</a:t>
            </a:r>
          </a:p>
          <a:p>
            <a:pPr algn="ctr"/>
            <a:endParaRPr lang="en-US" sz="2000" u="sng" dirty="0" smtClean="0">
              <a:latin typeface="Times New Roman"/>
              <a:cs typeface="Times New Roman"/>
            </a:endParaRPr>
          </a:p>
          <a:p>
            <a:r>
              <a:rPr lang="en-US" sz="2000" dirty="0" smtClean="0">
                <a:latin typeface="Times New Roman"/>
                <a:cs typeface="Times New Roman"/>
              </a:rPr>
              <a:t>The objective function (fitness function) is given by </a:t>
            </a:r>
          </a:p>
          <a:p>
            <a:endParaRPr lang="en-US" sz="2000" dirty="0" smtClean="0">
              <a:latin typeface="Times New Roman"/>
              <a:cs typeface="Times New Roman"/>
            </a:endParaRPr>
          </a:p>
          <a:p>
            <a:endParaRPr lang="en-US" sz="2000" dirty="0" smtClean="0">
              <a:latin typeface="Times New Roman"/>
              <a:cs typeface="Times New Roman"/>
            </a:endParaRPr>
          </a:p>
          <a:p>
            <a:endParaRPr lang="en-US" sz="2000" dirty="0" smtClean="0">
              <a:latin typeface="Times New Roman"/>
              <a:cs typeface="Times New Roman"/>
            </a:endParaRPr>
          </a:p>
          <a:p>
            <a:r>
              <a:rPr lang="en-US" sz="2000" dirty="0" smtClean="0">
                <a:latin typeface="Times New Roman"/>
                <a:cs typeface="Times New Roman"/>
              </a:rPr>
              <a:t>where </a:t>
            </a:r>
          </a:p>
          <a:p>
            <a:r>
              <a:rPr lang="en-US" sz="2000" dirty="0" smtClean="0">
                <a:latin typeface="Times New Roman"/>
                <a:cs typeface="Times New Roman"/>
              </a:rPr>
              <a:t> </a:t>
            </a:r>
            <a:r>
              <a:rPr lang="en-US" sz="2000" i="1" dirty="0" err="1" smtClean="0">
                <a:latin typeface="Times New Roman"/>
                <a:cs typeface="Times New Roman"/>
              </a:rPr>
              <a:t>E</a:t>
            </a:r>
            <a:r>
              <a:rPr lang="en-US" sz="2000" i="1" baseline="-25000" dirty="0" err="1" smtClean="0">
                <a:latin typeface="Times New Roman"/>
                <a:cs typeface="Times New Roman"/>
              </a:rPr>
              <a:t>min</a:t>
            </a:r>
            <a:r>
              <a:rPr lang="en-US" sz="2000" i="1" dirty="0" smtClean="0">
                <a:latin typeface="Times New Roman"/>
                <a:cs typeface="Times New Roman"/>
              </a:rPr>
              <a:t> </a:t>
            </a:r>
            <a:r>
              <a:rPr lang="en-US" sz="2000" dirty="0" smtClean="0">
                <a:latin typeface="Times New Roman"/>
                <a:cs typeface="Times New Roman"/>
              </a:rPr>
              <a:t> : least residual energy of node                                                </a:t>
            </a:r>
            <a:r>
              <a:rPr lang="en-US" sz="2000" i="1" dirty="0" smtClean="0">
                <a:latin typeface="Times New Roman"/>
                <a:cs typeface="Times New Roman"/>
              </a:rPr>
              <a:t>l </a:t>
            </a:r>
            <a:r>
              <a:rPr lang="en-US" sz="2000" dirty="0" smtClean="0">
                <a:latin typeface="Times New Roman"/>
                <a:cs typeface="Times New Roman"/>
              </a:rPr>
              <a:t>      : number of nodes</a:t>
            </a:r>
          </a:p>
          <a:p>
            <a:r>
              <a:rPr lang="en-US" sz="2000" i="1" noProof="1" smtClean="0">
                <a:latin typeface="Times New Roman"/>
                <a:cs typeface="Times New Roman"/>
              </a:rPr>
              <a:t>E</a:t>
            </a:r>
            <a:r>
              <a:rPr lang="en-US" sz="2000" i="1" baseline="-25000" noProof="1" smtClean="0">
                <a:latin typeface="Times New Roman"/>
                <a:cs typeface="Times New Roman"/>
              </a:rPr>
              <a:t>aver</a:t>
            </a:r>
            <a:r>
              <a:rPr lang="en-US" sz="2000" dirty="0" smtClean="0">
                <a:latin typeface="Times New Roman"/>
                <a:cs typeface="Times New Roman"/>
              </a:rPr>
              <a:t> : average residual energy of all the nodes in path X</a:t>
            </a:r>
            <a:endParaRPr lang="en-US" sz="2000" dirty="0" smtClean="0">
              <a:cs typeface="Times New Roman"/>
            </a:endParaRPr>
          </a:p>
          <a:p>
            <a:endParaRPr lang="en-US" sz="2000" dirty="0" smtClean="0">
              <a:latin typeface="Times New Roman"/>
              <a:cs typeface="Times New Roman"/>
            </a:endParaRPr>
          </a:p>
          <a:p>
            <a:r>
              <a:rPr lang="en-US" sz="2000" i="1" dirty="0" smtClean="0">
                <a:latin typeface="Times New Roman"/>
                <a:cs typeface="Times New Roman"/>
              </a:rPr>
              <a:t>E(X)</a:t>
            </a:r>
            <a:r>
              <a:rPr lang="en-US" sz="2000" dirty="0" smtClean="0">
                <a:latin typeface="Times New Roman"/>
                <a:cs typeface="Times New Roman"/>
              </a:rPr>
              <a:t> : the sum of energy consumption of all nodes</a:t>
            </a:r>
          </a:p>
          <a:p>
            <a:endParaRPr lang="en-US" sz="2000" dirty="0" smtClean="0">
              <a:latin typeface="Times New Roman"/>
              <a:cs typeface="Times New Roman"/>
            </a:endParaRPr>
          </a:p>
          <a:p>
            <a:endParaRPr lang="en-US" sz="2000" dirty="0" smtClean="0">
              <a:latin typeface="Times New Roman"/>
              <a:cs typeface="Times New Roman"/>
            </a:endParaRPr>
          </a:p>
          <a:p>
            <a:endParaRPr lang="en-US" sz="2000" dirty="0" smtClean="0">
              <a:latin typeface="Times New Roman"/>
              <a:cs typeface="Times New Roman"/>
            </a:endParaRPr>
          </a:p>
          <a:p>
            <a:r>
              <a:rPr lang="en-US" sz="2000" dirty="0" smtClean="0">
                <a:latin typeface="Times New Roman"/>
                <a:cs typeface="Times New Roman"/>
              </a:rPr>
              <a:t>In this paper </a:t>
            </a:r>
            <a:r>
              <a:rPr lang="en-US" sz="2000" i="1" dirty="0" err="1" smtClean="0">
                <a:latin typeface="Times New Roman"/>
                <a:cs typeface="Times New Roman"/>
              </a:rPr>
              <a:t>E</a:t>
            </a:r>
            <a:r>
              <a:rPr lang="en-US" sz="2000" i="1" baseline="-25000" dirty="0" err="1" smtClean="0">
                <a:latin typeface="Times New Roman"/>
                <a:cs typeface="Times New Roman"/>
              </a:rPr>
              <a:t>min</a:t>
            </a:r>
            <a:r>
              <a:rPr lang="en-US" sz="2000" i="1" dirty="0" smtClean="0">
                <a:latin typeface="Times New Roman"/>
                <a:cs typeface="Times New Roman"/>
              </a:rPr>
              <a:t>, E </a:t>
            </a:r>
            <a:r>
              <a:rPr lang="en-US" sz="2000" i="1" baseline="-25000" dirty="0" smtClean="0">
                <a:latin typeface="Times New Roman"/>
                <a:cs typeface="Times New Roman"/>
              </a:rPr>
              <a:t>aver</a:t>
            </a:r>
            <a:r>
              <a:rPr lang="en-US" sz="2000" dirty="0" smtClean="0">
                <a:latin typeface="Times New Roman"/>
                <a:cs typeface="Times New Roman"/>
              </a:rPr>
              <a:t> are required to be as large as possible while </a:t>
            </a:r>
            <a:r>
              <a:rPr lang="en-US" sz="2000" i="1" dirty="0" smtClean="0">
                <a:latin typeface="Times New Roman"/>
                <a:cs typeface="Times New Roman"/>
              </a:rPr>
              <a:t>E(X)</a:t>
            </a:r>
            <a:r>
              <a:rPr lang="en-US" sz="2000" dirty="0" smtClean="0">
                <a:latin typeface="Times New Roman"/>
                <a:cs typeface="Times New Roman"/>
              </a:rPr>
              <a:t> and</a:t>
            </a:r>
            <a:r>
              <a:rPr lang="en-US" sz="2000" i="1" dirty="0" smtClean="0">
                <a:latin typeface="Times New Roman"/>
                <a:cs typeface="Times New Roman"/>
              </a:rPr>
              <a:t> l</a:t>
            </a:r>
            <a:r>
              <a:rPr lang="en-US" sz="2000" dirty="0" smtClean="0">
                <a:latin typeface="Times New Roman"/>
                <a:cs typeface="Times New Roman"/>
              </a:rPr>
              <a:t> are required to be as less as possible. Therefore, the fitness function is a minimization problem. </a:t>
            </a:r>
            <a:endParaRPr lang="en-US" sz="2000" dirty="0" smtClean="0"/>
          </a:p>
          <a:p>
            <a:pPr algn="l"/>
            <a:endParaRPr lang="en-IN" sz="2000" dirty="0" smtClean="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  <p:pic>
        <p:nvPicPr>
          <p:cNvPr id="14" name="Graphic 8" descr="equation">
            <a:extLst>
              <a:ext uri="{FF2B5EF4-FFF2-40B4-BE49-F238E27FC236}">
                <a16:creationId xmlns="" xmlns:a16="http://schemas.microsoft.com/office/drawing/2014/main" id="{175979D1-BBDA-4D0F-BF7D-F72565569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9158" y="1953378"/>
            <a:ext cx="2235410" cy="539209"/>
          </a:xfrm>
          <a:prstGeom prst="rect">
            <a:avLst/>
          </a:prstGeom>
        </p:spPr>
      </p:pic>
      <p:pic>
        <p:nvPicPr>
          <p:cNvPr id="15" name="Graphic 9" descr="equation">
            <a:extLst>
              <a:ext uri="{FF2B5EF4-FFF2-40B4-BE49-F238E27FC236}">
                <a16:creationId xmlns="" xmlns:a16="http://schemas.microsoft.com/office/drawing/2014/main" id="{2F00A344-0B63-90DB-5950-2E8B0D5A3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2098" y="4060883"/>
            <a:ext cx="4468283" cy="74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11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PROPOSED  WORK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3500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u="sng" dirty="0" smtClean="0">
                <a:latin typeface="Times New Roman" pitchFamily="18" charset="0"/>
                <a:cs typeface="Times New Roman" pitchFamily="18" charset="0"/>
              </a:rPr>
              <a:t>WSA-ICR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Inspired by the hunting nature of humpback whales, our proposed methodology uses Whale Swarm Algorithm for iterative counter based routing to address optimization problem.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 descr="Pseudocode line 1 to 10&#10;">
            <a:extLst>
              <a:ext uri="{FF2B5EF4-FFF2-40B4-BE49-F238E27FC236}">
                <a16:creationId xmlns="" xmlns:a16="http://schemas.microsoft.com/office/drawing/2014/main" id="{A60905C1-2889-8A79-69AB-49414C2E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92" y="1929933"/>
            <a:ext cx="4318187" cy="3928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48CF81B-12B4-4F17-0A6B-1C2BB601B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42" y="1793390"/>
            <a:ext cx="3623423" cy="392486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6862" y="1813411"/>
            <a:ext cx="3965507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12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181405" y="563233"/>
            <a:ext cx="11728453" cy="72943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smtClean="0">
                <a:latin typeface="Times New Roman"/>
                <a:cs typeface="Times New Roman"/>
              </a:rPr>
              <a:t>The paper improves the existing algorithm in 5 key aspects :</a:t>
            </a:r>
          </a:p>
          <a:p>
            <a:pPr algn="l"/>
            <a:endParaRPr lang="en-IN" dirty="0" smtClean="0">
              <a:latin typeface="Times New Roman"/>
              <a:cs typeface="Times New Roman"/>
            </a:endParaRPr>
          </a:p>
          <a:p>
            <a:r>
              <a:rPr lang="en-US" b="1" dirty="0" smtClean="0">
                <a:latin typeface="Times New Roman"/>
                <a:cs typeface="Times New Roman"/>
              </a:rPr>
              <a:t>1. Individual encoding</a:t>
            </a:r>
          </a:p>
          <a:p>
            <a:endParaRPr lang="en-US" dirty="0" smtClean="0"/>
          </a:p>
          <a:p>
            <a:r>
              <a:rPr lang="en-US" dirty="0" smtClean="0">
                <a:latin typeface="Times New Roman"/>
                <a:cs typeface="Times New Roman"/>
              </a:rPr>
              <a:t>The solution of this energy efficient routing problem is an optimal path from source to sink node. This solution is a discrete sequence containing number of nodes as </a:t>
            </a:r>
          </a:p>
          <a:p>
            <a:r>
              <a:rPr lang="en-IN" dirty="0" smtClean="0">
                <a:latin typeface="Times New Roman"/>
                <a:cs typeface="Times New Roman"/>
              </a:rPr>
              <a:t>                                             X= {s,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,74, 61, 3, 26, 39, 4, d</a:t>
            </a:r>
            <a:r>
              <a:rPr lang="en-IN" dirty="0" smtClean="0">
                <a:latin typeface="Times New Roman"/>
                <a:cs typeface="Times New Roman"/>
              </a:rPr>
              <a:t>}</a:t>
            </a:r>
          </a:p>
          <a:p>
            <a:endParaRPr lang="en-IN" dirty="0" smtClean="0">
              <a:latin typeface="Times New Roman"/>
              <a:cs typeface="Times New Roman"/>
            </a:endParaRPr>
          </a:p>
          <a:p>
            <a:r>
              <a:rPr lang="en-US" b="1" noProof="1" smtClean="0">
                <a:latin typeface="Times New Roman"/>
                <a:cs typeface="Times New Roman"/>
              </a:rPr>
              <a:t>2. Distance calculation between individuals</a:t>
            </a:r>
            <a:r>
              <a:rPr lang="en-US" noProof="1" smtClean="0">
                <a:latin typeface="Times New Roman"/>
                <a:cs typeface="Times New Roman"/>
              </a:rPr>
              <a:t> </a:t>
            </a:r>
          </a:p>
          <a:p>
            <a:endParaRPr lang="en-US" noProof="1" smtClean="0">
              <a:latin typeface="Times New Roman"/>
              <a:cs typeface="Times New Roman"/>
            </a:endParaRPr>
          </a:p>
          <a:p>
            <a:r>
              <a:rPr lang="en-US" noProof="1" smtClean="0">
                <a:latin typeface="Times New Roman"/>
                <a:cs typeface="Times New Roman"/>
              </a:rPr>
              <a:t>In the whale swarm algorithm , each whale is guided by better and nearest whale. The Levenshtein algorithm is used to calculate distance between two whale individuals. </a:t>
            </a:r>
          </a:p>
          <a:p>
            <a:r>
              <a:rPr lang="en-US" noProof="1" smtClean="0">
                <a:latin typeface="Times New Roman"/>
                <a:cs typeface="Times New Roman"/>
              </a:rPr>
              <a:t>The algorithm is :</a:t>
            </a:r>
          </a:p>
          <a:p>
            <a:pPr marL="457200" indent="-457200">
              <a:buAutoNum type="arabicPeriod"/>
            </a:pPr>
            <a:r>
              <a:rPr lang="en-US" noProof="1" smtClean="0">
                <a:latin typeface="Times New Roman"/>
                <a:cs typeface="Times New Roman"/>
              </a:rPr>
              <a:t>if i = 0 and j = 0 then dist(i,j)  =  0                                                                       if i = j cost (i,j) = 1, else cost (i,j) = 0</a:t>
            </a:r>
          </a:p>
          <a:p>
            <a:pPr marL="457200" indent="-457200">
              <a:buAutoNum type="arabicPeriod"/>
            </a:pPr>
            <a:r>
              <a:rPr lang="en-US" noProof="1" smtClean="0">
                <a:latin typeface="Times New Roman"/>
                <a:cs typeface="Times New Roman"/>
              </a:rPr>
              <a:t>if i = 0 and j &gt; 0 then  dist(i,j) =  j</a:t>
            </a:r>
          </a:p>
          <a:p>
            <a:pPr marL="457200" indent="-457200">
              <a:buAutoNum type="arabicPeriod"/>
            </a:pPr>
            <a:r>
              <a:rPr lang="en-US" noProof="1" smtClean="0">
                <a:latin typeface="Times New Roman"/>
                <a:cs typeface="Times New Roman"/>
              </a:rPr>
              <a:t>if i &gt; 0 and j = 0 then dist(i,j)  =  i</a:t>
            </a:r>
          </a:p>
          <a:p>
            <a:pPr marL="457200" indent="-457200">
              <a:buAutoNum type="arabicPeriod"/>
            </a:pPr>
            <a:r>
              <a:rPr lang="en-US" noProof="1" smtClean="0">
                <a:latin typeface="Times New Roman"/>
                <a:cs typeface="Times New Roman"/>
              </a:rPr>
              <a:t>if i &gt; 1 and j &gt; 1 then dist(i,j)  = min{dist(i-1,j)+1,dist(i,j-1)+1,dist(i-1,j-1)+cost(i,j)}</a:t>
            </a:r>
          </a:p>
          <a:p>
            <a:pPr marL="457200" indent="-457200">
              <a:buAutoNum type="arabicPeriod"/>
            </a:pPr>
            <a:endParaRPr lang="en-US" noProof="1" smtClean="0">
              <a:latin typeface="Times New Roman"/>
              <a:cs typeface="Times New Roman"/>
            </a:endParaRPr>
          </a:p>
          <a:p>
            <a:r>
              <a:rPr lang="en-US" noProof="1" smtClean="0">
                <a:latin typeface="Times New Roman"/>
                <a:ea typeface="+mn-lt"/>
                <a:cs typeface="+mn-lt"/>
              </a:rPr>
              <a:t>dist(i, j) denotes the Levenshtein distance between the first substring whose length is i and the second substring whose length is j. </a:t>
            </a:r>
            <a:endParaRPr lang="en-US" noProof="1" smtClean="0">
              <a:latin typeface="Times New Roman"/>
              <a:cs typeface="Times New Roman"/>
            </a:endParaRPr>
          </a:p>
          <a:p>
            <a:endParaRPr lang="en-US" noProof="1" smtClean="0">
              <a:latin typeface="Times New Roman"/>
              <a:cs typeface="Times New Roman"/>
            </a:endParaRPr>
          </a:p>
          <a:p>
            <a:endParaRPr lang="en-US" dirty="0" smtClean="0">
              <a:latin typeface="Times New Roman"/>
              <a:cs typeface="Times New Roman"/>
            </a:endParaRPr>
          </a:p>
          <a:p>
            <a:endParaRPr lang="en-US" dirty="0" smtClean="0">
              <a:latin typeface="Times New Roman"/>
              <a:cs typeface="Times New Roman"/>
            </a:endParaRPr>
          </a:p>
          <a:p>
            <a:pPr algn="l"/>
            <a:endParaRPr lang="en-IN" dirty="0" smtClean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13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8" y="850312"/>
            <a:ext cx="11728453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IN" noProof="1" smtClean="0">
              <a:latin typeface="Times New Roman"/>
              <a:cs typeface="Times New Roman"/>
            </a:endParaRPr>
          </a:p>
          <a:p>
            <a:r>
              <a:rPr lang="en-US" b="1" dirty="0" smtClean="0">
                <a:latin typeface="Times New Roman"/>
                <a:cs typeface="Times New Roman"/>
              </a:rPr>
              <a:t>3. Individual Movement</a:t>
            </a:r>
          </a:p>
          <a:p>
            <a:endParaRPr lang="en-IN" dirty="0" smtClean="0">
              <a:latin typeface="Times New Roman"/>
              <a:cs typeface="Times New Roman"/>
            </a:endParaRPr>
          </a:p>
          <a:p>
            <a:r>
              <a:rPr lang="en-IN" dirty="0" smtClean="0">
                <a:latin typeface="Times New Roman"/>
                <a:cs typeface="Times New Roman"/>
              </a:rPr>
              <a:t>In whale swarm algorithm each whale moves under the guidance of better and nearest whale. The model improves individual movement, to ensure optimal path is selected. A new parameter </a:t>
            </a:r>
            <a:r>
              <a:rPr lang="el-GR" dirty="0" smtClean="0">
                <a:latin typeface="Times New Roman"/>
                <a:cs typeface="Times New Roman"/>
              </a:rPr>
              <a:t>λ</a:t>
            </a:r>
            <a:r>
              <a:rPr lang="en-IN" dirty="0" smtClean="0">
                <a:latin typeface="Times New Roman"/>
                <a:cs typeface="Times New Roman"/>
              </a:rPr>
              <a:t> is introduced whose value is set to 0.5.</a:t>
            </a:r>
          </a:p>
          <a:p>
            <a:endParaRPr lang="en-IN" b="1" dirty="0" smtClean="0">
              <a:latin typeface="Times New Roman"/>
              <a:cs typeface="Times New Roman"/>
            </a:endParaRPr>
          </a:p>
          <a:p>
            <a:r>
              <a:rPr lang="en-US" b="1" dirty="0" smtClean="0">
                <a:latin typeface="Times New Roman"/>
                <a:cs typeface="Times New Roman"/>
              </a:rPr>
              <a:t>4. Local Search Strategy</a:t>
            </a:r>
          </a:p>
          <a:p>
            <a:endParaRPr lang="en-US" dirty="0" smtClean="0">
              <a:latin typeface="Times New Roman"/>
              <a:cs typeface="Times New Roman"/>
            </a:endParaRPr>
          </a:p>
          <a:p>
            <a:r>
              <a:rPr lang="en-US" dirty="0" smtClean="0">
                <a:latin typeface="Times New Roman"/>
                <a:cs typeface="Times New Roman"/>
              </a:rPr>
              <a:t>When there is no better or nearest whale individual in current population, then it does not perform any searches but directly checks the iteration counter. It is implemented as follows:</a:t>
            </a:r>
          </a:p>
          <a:p>
            <a:endParaRPr lang="en-US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dirty="0" smtClean="0">
                <a:latin typeface="Times New Roman"/>
                <a:cs typeface="Times New Roman"/>
              </a:rPr>
              <a:t>A node is selected from the path represented by best individual.</a:t>
            </a:r>
          </a:p>
          <a:p>
            <a:pPr marL="342900" indent="-342900">
              <a:buFont typeface="Arial"/>
              <a:buChar char="•"/>
            </a:pPr>
            <a:r>
              <a:rPr lang="en-US" dirty="0" smtClean="0">
                <a:latin typeface="Times New Roman"/>
                <a:cs typeface="Times New Roman"/>
              </a:rPr>
              <a:t>If the individual finds a better solution then original solution is replaced.</a:t>
            </a:r>
          </a:p>
          <a:p>
            <a:pPr marL="342900" indent="-342900">
              <a:buFont typeface="Arial"/>
              <a:buChar char="•"/>
            </a:pPr>
            <a:r>
              <a:rPr lang="en-US" dirty="0" smtClean="0">
                <a:latin typeface="Times New Roman"/>
                <a:cs typeface="Times New Roman"/>
              </a:rPr>
              <a:t>Otherwise, the solution is kept and IC is checked.</a:t>
            </a:r>
          </a:p>
          <a:p>
            <a:pPr marL="342900" indent="-342900">
              <a:buFont typeface="Arial"/>
              <a:buChar char="•"/>
            </a:pPr>
            <a:endParaRPr lang="en-IN" dirty="0" smtClean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IN" dirty="0" smtClean="0">
              <a:latin typeface="Times New Roman"/>
              <a:cs typeface="Times New Roman"/>
            </a:endParaRPr>
          </a:p>
          <a:p>
            <a:pPr marL="342900" indent="-342900"/>
            <a:r>
              <a:rPr lang="en-IN" dirty="0" smtClean="0">
                <a:latin typeface="Times New Roman"/>
                <a:cs typeface="Times New Roman"/>
              </a:rPr>
              <a:t>A sketch map of local search is shown in the figure.</a:t>
            </a:r>
            <a:endParaRPr lang="en-US" dirty="0" smtClean="0">
              <a:latin typeface="Times New Roman"/>
              <a:cs typeface="Times New Roman"/>
            </a:endParaRPr>
          </a:p>
          <a:p>
            <a:endParaRPr lang="en-US" noProof="1" smtClean="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6462" y="3578078"/>
            <a:ext cx="36195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</a:t>
            </a:r>
            <a:r>
              <a:rPr lang="en-US" sz="2000" dirty="0" smtClean="0">
                <a:latin typeface="Times New Roman"/>
                <a:cs typeface="Times New Roman"/>
              </a:rPr>
              <a:t>: 14 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F4ADFF3-9920-5D7A-0FE9-CC184E11361D}"/>
              </a:ext>
            </a:extLst>
          </p:cNvPr>
          <p:cNvSpPr txBox="1"/>
          <p:nvPr/>
        </p:nvSpPr>
        <p:spPr>
          <a:xfrm>
            <a:off x="259594" y="119897"/>
            <a:ext cx="117099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0"/>
            <a:ext cx="119618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RESULTS AND SIMULATIONS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662473"/>
            <a:ext cx="12192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proposed algorithm is implemented in Python 3 language.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parameters settings are shown in the table                             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                            Table : Simulation Parameters                                                                                Table : Energy Parameters                                     </a:t>
            </a:r>
          </a:p>
          <a:p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42820" y="2249795"/>
          <a:ext cx="5416008" cy="34472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8004"/>
                <a:gridCol w="2708004"/>
              </a:tblGrid>
              <a:tr h="334737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Parameter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2972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Area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200 m x 200 m x 200 m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47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Number of nodes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47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Base Station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(100,100,200)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47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Packet size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800 bits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47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Initial Energy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1 J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47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Communication</a:t>
                      </a:r>
                      <a:r>
                        <a:rPr lang="en-IN" sz="16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Range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50 m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47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Number of Evaluations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4737">
                <a:tc>
                  <a:txBody>
                    <a:bodyPr/>
                    <a:lstStyle/>
                    <a:p>
                      <a:pPr algn="ctr"/>
                      <a:r>
                        <a:rPr lang="el-GR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λ</a:t>
                      </a:r>
                      <a:endParaRPr lang="en-IN" sz="16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347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|</a:t>
                      </a:r>
                      <a:r>
                        <a:rPr lang="el-GR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Ω</a:t>
                      </a:r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|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02035" y="2236207"/>
          <a:ext cx="5907976" cy="34584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3988"/>
                <a:gridCol w="2953988"/>
              </a:tblGrid>
              <a:tr h="397743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Parameter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6824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lang="en-IN" sz="16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Elec</a:t>
                      </a:r>
                      <a:endParaRPr lang="en-US" sz="1600" baseline="-25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50 nJ / bit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009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lang="en-IN" sz="16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Amp</a:t>
                      </a:r>
                      <a:endParaRPr lang="en-US" sz="1600" baseline="-25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0.0013</a:t>
                      </a:r>
                      <a:r>
                        <a:rPr lang="en-IN" sz="16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pJ / bit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479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lang="en-IN" sz="16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DA</a:t>
                      </a:r>
                      <a:endParaRPr lang="en-US" sz="1600" baseline="-25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5 nJ/ bit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4799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Frequency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10 KHz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3599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Transmitting Power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70 mW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9009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Receiver Power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16 mW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67151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Shipping factor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5950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wind speed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6 m/s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</a:t>
            </a:r>
            <a:r>
              <a:rPr lang="en-US" sz="2000" dirty="0" smtClean="0">
                <a:latin typeface="Times New Roman"/>
                <a:cs typeface="Times New Roman"/>
              </a:rPr>
              <a:t>: 15 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273" y="643812"/>
            <a:ext cx="701662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wireless sensor network (WSN) with 100 sensor nodes deployed in a sensing region of 200 x 200 m</a:t>
            </a:r>
            <a:r>
              <a:rPr lang="en-IN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.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base station is positioned at the surface of water body.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regular sensor nodes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source node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sink node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Best path     : [0, 74, 61, 3, 26, 39, 4, 99] 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Best fitness  : 0.00003173 </a:t>
            </a:r>
            <a:endParaRPr lang="en-IN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394709" y="2402329"/>
            <a:ext cx="170121" cy="170121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399555" y="2660835"/>
            <a:ext cx="170121" cy="17012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406283" y="2962454"/>
            <a:ext cx="170121" cy="1701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06901" y="668866"/>
            <a:ext cx="4990881" cy="5147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16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2050" name="AutoShape 2" descr="data:image/png;base64,iVBORw0KGgoAAAANSUhEUgAAA1sAAAIjCAYAAAD1OgEdAAAAOXRFWHRTb2Z0d2FyZQBNYXRwbG90bGliIHZlcnNpb24zLjcuMSwgaHR0cHM6Ly9tYXRwbG90bGliLm9yZy/bCgiHAAAACXBIWXMAAA9hAAAPYQGoP6dpAABvsUlEQVR4nO3dd3RU1d7G8WeSTGbSG4QESUKvgiIIYkF6UyygYkdFfVVQAUXFCle9FK+KImLjYgFEseulGLoFEEGkiPSmNAmENJJMkvP+ETI4ZAIJzsxJJt/PWizZ5+w585u4gTzZ5+xtMQzDEAAAAADAowLMLgAAAAAA/BFhCwAAAAC8gLAFAAAAAF5A2AIAAAAALyBsAQAAAIAXELYAAAAAwAsIWwAAAADgBYQtAAAAAPACwhYAAAAAeAFhCwCqAIvFolGjRjnb7777riwWi3bu3GlaTb5St25d3XbbbWaXgeMWL14si8WixYsXm10KAFR6hC0AMNnrr78ui8Wi9u3bm13KaZWEPLvdrj///LPU+U6dOunss882obKqY+fOnbJYLM5fAQEBio2NVe/evbVs2TKzywMAeBBhCwBMNn36dNWtW1c//fSTtm7dWq7X3HLLLTp27JhSUlK8XJ17eXl5Gjt2rCnv7S9uuOEGffDBB5o6daruvfdeLV++XJ07d9a6devMLg0A4CGELQAw0Y4dO/Tjjz/qpZdeUs2aNTV9+vRyvS4wMFB2u10Wi8XLFbp37rnn6u2339bevXtNeX9/cN555+nmm2/WwIED9fzzz+vDDz9UXl6eJk+ebHZpAAAPIWwBgImmT5+umJgYXXbZZbrmmmvKHbZOfmbr8ssvV/369d327dChg9q2betybNq0aWrTpo1CQkIUGxur66+/Xnv27Cl33Y8//rgKCwvLNbtVUFCgZ599Vg0aNJDNZlPdunX1+OOPKy8vz6WfYRh67rnnVKdOHYWGhqpz587asGGD22ump6dr6NChSkpKks1mU8OGDTVu3DgVFRW59Js5c6batGmjiIgIRUZGqmXLlnrllVfKrNXhcCg2Nla33357qXMZGRmy2+16+OGHnccmTpyoFi1aKDQ0VDExMWrbtq1mzJhx2q+JO5dccokkadu2bS7Ht2/frmuvvVaxsbEKDQ3VBRdcoP/9738ufcp6hs/d81Ult3r+9ttv6ty5s0JDQ3XWWWdp/PjxpWr6448/dNVVVyksLEzx8fEaNmxYqf9vkrRlyxb1799fCQkJstvtqlOnjq6//nodPXr0jL4WAOAvCFsAYKLp06erX79+Cg4O1g033KAtW7Zo5cqVFb7OgAEDtGPHjlKv3bVrl5YvX67rr7/eeez555/XrbfeqkaNGumll17S0KFDtWDBAnXs2FHp6enler969erp1ltvLdfs1p133qmnn35a5513nl5++WVdeumlGjNmjEtNkvT000/rqaee0jnnnKMXXnhB9evXV48ePZSdne3SLycnR5deeqmmTZumW2+9Va+++qouuugijRw5UsOHD3f2S01N1Q033KCYmBiNGzdOY8eOVadOnfTDDz+UWavVatXVV1+tL774Qvn5+S7nvvjiC+Xl5Tnrfvvtt/XAAw+oefPmmjBhgkaPHq1zzz1XK1asKNfX8GQlQSkmJsZ57MCBA7rwwgs1b9483XfffXr++eeVm5urK664Qp9//vkZvY8kHTlyRL169dI555yjF198UU2bNtWjjz6qOXPmOPscO3ZMXbt21bx58zRkyBA98cQT+u677/TII4+4XCs/P189e/bU8uXLdf/992vSpEm6++67tX379nKPJwDwWwYAwBQ///yzIclITU01DMMwioqKjDp16hgPPvhgqb6SjGeeecbZnjp1qiHJ2LFjh2EYhnH06FHDZrMZDz30kMvrxo8fb1gsFmPXrl2GYRjGzp07jcDAQOP555936bdu3TojKCio1PGTlbzvypUrjW3bthlBQUHGAw884Dx/6aWXGi1atHC216xZY0gy7rzzTpfrPPzww4YkY+HChYZhGMbBgweN4OBg47LLLjOKioqc/R5//HFDkjFw4EDnsWeffdYICwszNm/e7HLNxx57zAgMDDR2795tGIZhPPjgg0ZkZKRRUFBwys90snnz5hmSjK+//trleJ8+fYz69es721deeaXLZy2vHTt2GJKM0aNHG3/99Zexf/9+47vvvjPOP/98Q5Ixa9YsZ9+hQ4cakozvvvvOeSwzM9OoV6+eUbduXaOwsNAwjNLjocSiRYsMScaiRYucxy699FJDkvH+++87j+Xl5RkJCQlG//79nccmTJhgSDI+/vhj57Hs7GyjYcOGLtf85ZdfStUNACjGzBYAmGT69OmqVauWOnfuLKl4efcBAwZo5syZKiwsrNC1IiMj1bt3b3388ccyDMN5/KOPPtIFF1yg5ORkSdJnn32moqIiXXfddTp06JDzV0JCgho1aqRFixaV+z3r16+vW265RW+99Zb27dvnts/s2bMlyWXGSZIeeughSXLeDjd//nzl5+fr/vvvd3kObejQoaWuOWvWLF1yySWKiYlx+QzdunVTYWGhli5dKkmKjo5Wdna2UlNTy/2ZJKlLly6qUaOGPvroI+exI0eOKDU1VQMGDHAei46O1h9//HFGM5GS9Mwzz6hmzZpKSEjQJZdcoo0bN+rFF1/UNddc4+wze/ZstWvXThdffLHzWHh4uO6++27t3LlTv/322xm9d3h4uG6++WZnOzg4WO3atdP27dtd3jsxMdGlntDQUN19990u14qKipIkzZs3Tzk5OWdUDwD4K8IWAJigsLBQM2fOVOfOnbVjxw5t3bpVW7duVfv27XXgwAEtWLCgwtccMGCA9uzZ41w+fNu2bVq1apVLQNiyZYsMw1CjRo1Us2ZNl18bN27UwYMHK/SeTz75pAoKCsp8dmvXrl0KCAhQw4YNXY4nJCQoOjpau3btcvaTpEaNGrn0q1mzpsttdSWfYe7cuaXq79atmyQ5P8N9992nxo0bq3fv3qpTp47uuOMOzZ0797SfKSgoSP3799eXX37pfD7ps88+k8PhcPlaPvroowoPD1e7du3UqFEjDR48+JS3KJ7s7rvvVmpqqr7++msNGzZMx44dKxWyd+3apSZNmpR6bbNmzZznz0SdOnVKLa4SExOjI0eOuLx3w4YNS/U7uZ569epp+PDheuedd1SjRg317NlTkyZN4nktAJAUZHYBAFAdLVy4UPv27dPMmTM1c+bMUuenT5+uHj16VOiaffv2VWhoqD7++GNdeOGF+vjjjxUQEKBrr73W2aeoqEgWi0Vz5sxRYGBgqWuEh4dX6D3r16+vm2++WW+99ZYee+yxMvt5ctXEoqIide/evdSzQyUaN24sSYqPj9eaNWs0b948zZkzR3PmzNHUqVN166236r333jvle1x//fV68803NWfOHF111VX6+OOP1bRpU51zzjnOPs2aNdOmTZv0zTffaO7cufr000/1+uuv6+mnn9bo0aNP+zkaNWrkDIiXX365AgMD9dhjj6lz586lFjQ5nbK+vmXNkLr7fy/JZVa0Il588UXddttt+vLLL/Xtt9/qgQce0JgxY7R8+XLVqVPnjK4JAP6AsAUAJpg+fbri4+M1adKkUuc+++wzff7553rjjTcUEhJS7muGhYXp8ssv16xZs/TSSy/po48+0iWXXKLatWs7+zRo0ECGYahevXrOUPJPPfnkk5o2bZrGjRtX6lxKSoqKioq0ZcsW52yMVLzwQ3p6unOfsJL/btmyxWVVxb/++stltqXkM2RlZTmDyqkEBwerb9++6tu3r4qKinTffffpzTff1FNPPVVqtu3vOnbsqMTERH300Ue6+OKLtXDhQj3xxBOl+oWFhWnAgAEaMGCA8vPz1a9fPz3//PMaOXKk7Hb7aev7uyeeeEJvv/22nnzySecMXEpKijZt2lSq7++//+48L51YVOPkBSnOdOar5Nrr16+XYRguYc5dPZLUsmVLtWzZUk8++aR+/PFHXXTRRXrjjTf03HPPnXENAFDVcRshAPjYsWPH9Nlnn+nyyy/XNddcU+rXkCFDlJmZqa+++qrC1x4wYID27t2rd955R7/++qvLbW+S1K9fPwUGBmr06NGlZjEMw1BaWlqF37NBgwa6+eab9eabb2r//v0u5/r06SNJmjBhgsvxl156SZJ02WWXSZK6desmq9WqiRMnutR18usk6brrrtOyZcs0b968UufS09NVUFAgSaU+S0BAgFq1aiVJbpcvP7nvNddco6+//loffPCBCgoKSn0tT75+cHCwmjdvLsMw5HA4Tnl9d6Kjo/V///d/mjdvntasWSOp+Ov3008/OW8NlaTs7Gy99dZbqlu3rpo3by6p+P+BJOfzalLxrNZbb71V4TpK9OnTR3v37tUnn3ziPJaTk1PqmhkZGc6veYmWLVsqICDgtF9nAPB3zGwBgI999dVXyszM1BVXXOH2/AUXXODc4Pjkb/BPp0+fPoqIiNDDDz+swMBA9e/f3+V8gwYN9Nxzz2nkyJHauXOnrrrqKkVERGjHjh36/PPPdffdd7vsI1VeTzzxhD744ANt2rRJLVq0cB4/55xzNHDgQL311ltKT0/XpZdeqp9++knvvfeerrrqKufiIDVr1tTDDz+sMWPG6PLLL1efPn30yy+/aM6cOapRo4bLe40YMUJfffWVLr/8ct12221q06aNsrOztW7dOn3yySfauXOnatSooTvvvFOHDx9Wly5dVKdOHe3atUsTJ07Uueee6zLLVpYBAwZo4sSJeuaZZ9SyZctSr+nRo4cSEhJ00UUXqVatWtq4caNee+01XXbZZYqIiKjw11CSHnzwQU2YMEFjx47VzJkz9dhjj+nDDz9U79699cADDyg2NlbvvfeeduzYoU8//VQBAcU/M23RooUuuOACjRw5UocPH1ZsbKxmzpxZKgRVxF133aXXXntNt956q1atWqXExER98MEHCg0Ndem3cOFCDRkyRNdee60aN26sgoICffDBB27HHwBUO6atgwgA1VTfvn0Nu91uZGdnl9nntttuM6xWq3Ho0CHDME6/9Pvf3XTTTYYko1u3bmVe/9NPPzUuvvhiIywszAgLCzOaNm1qDB482Ni0adMpa//70u8nGzhwoCGp1HLoDofDGD16tFGvXj3DarUaSUlJxsiRI43c3FyXfoWFhcbo0aONxMREIyQkxOjUqZOxfv16IyUlxWXpd8MoXv585MiRRsOGDY3g4GCjRo0axoUXXmj85z//MfLz8w3DMIxPPvnE6NGjhxEfH28EBwcbycnJxv/93/8Z+/btO+VnLFFUVGQkJSUZkoznnnuu1Pk333zT6NixoxEXF2fYbDajQYMGxogRI4yjR4+e8rolS7+/8MILbs/fdtttRmBgoLF161bDMAxj27ZtxjXXXGNER0cbdrvdaNeunfHNN9+Uet22bduMbt26GTabzahVq5bx+OOPG6mpqW6Xfne3ZP3AgQONlJQUl2O7du0yrrjiCiM0NNSoUaOG8eCDDxpz5851ueb27duNO+64w2jQoIFht9uN2NhYo3Pnzsb8+fNP+XUAgOrAYhhn+DQsAAAAAKBMPLMFAAAAAF5A2AIAAAAALyBsAQAAAIAXELYAAAAAwAsIWwAAAADgBYQtAAAAAPACv9/UuKioSHv37lVERIQsFovZ5QAAAAAwiWEYyszMVO3atZ0bw3uT34etvXv3KikpyewyAAAAAFQSe/bsUZ06dbz+Pn4ftiIiIiRJO3bsUGxsrMnVwJ85HA59++236tGjh6xWq9nlwI8x1uArjDX4CmMNvnL48GHVq1fPmRG8ze/DVsmtgxEREYqMjDS5Gvgzh8Oh0NBQRUZG8g8FvIqxBl9hrMFXGGvwFYfDIUk+e7yIBTIAAAAAwAsIWwAAAADgBYQtAAAAAPACv39mCwAAANWDYRgqKChQYWGh2aXAJIGBgQoKCqo0Wz4RtgAAAFDl5efna9++fcrJyTG7FJgsNDRUiYmJCg4ONrsUwhYAAACqtqKiIu3YsUOBgYGqXbu2goODK83MBnzHMAzl5+frr7/+0o4dO9SoUSOfbFx8KoQtAAAAVGn5+fkqKipSUlKSQkNDzS4HJgoJCZHVatWuXbuUn58vu91uaj0skAEAAAC/YPYsBiqHyjQOKk8lAAAAAOBHCFsAAAAA4AWELQAAAKASW7x4sSwWi9LT0yVJ7777rqKjo02t6Z8aNWqUzj33XLPL8DrCFgAAAGCyZcuWKTAwUJdddtlp+w4YMECbN2/2aj0lAa9Fixal9i2Ljo7Wu+++69X39xeELQAAAMBkU6ZM0f3336+lS5dq7969p+wbEhKi+Ph4n9S1fft2vf/++z55L39E2AIAAIDfyskvKPNXrqPQo33PVFZWlj766CPde++9uuyyy047a/T32wg3b94si8Wi33//3aXPyy+/rAYNGjjb69evV+/evRUeHq5atWrplltu0aFDh05b2/33369nnnlGeXl5ZfbZvXu3rrzySoWHhysyMlLXXXedDhw44NJn7NixqlWrliIiIjRo0CDl5uaWus4777yjZs2ayW63q2nTpnr99ded5/Lz8zVkyBAlJibKbrcrJSVFY8aMOW39ZjN1n61Ro0Zp9OjRLseaNGniHCy5ubl66KGHNHPmTOXl5alnz556/fXXVatWLTPKBQAAQBXT/Ol5ZZ7r3KSmpt7eztlu8+x8HTspVJVoXy9WH/1fB2f74nGLdDg736XPzrGnvwXQnY8//lhNmzZVkyZNdPPNN2vo0KEaOXJkuTZmbty4sdq2bavp06fr2WefdR6fPn26brzxRklSenq6unTpojvvvFMvv/yyjh07pkcffVTXXXedFi5ceMrrDx06VNOmTdPEiRP18MMPlzpfVFTkDFpLlixRQUGBBg8erAEDBmjx4sXOzzdq1ChNmjRJF198sT744AO9+uqrql+/vku9Tz/9tF577TW1bt1av/zyi+666y6FhYVp4MCBevXVV/XVV1/p448/VnJysvbs2aM9e/aU58trKtM3NW7RooXmz5/vbAcFnShp2LBh+t///qdZs2YpKipKQ4YMUb9+/fTDDz+YUSoAAADgcVOmTNHNN98sSerVq5eOHj2qJUuWqFOnTuV6/U033aTXXnvNGbY2b96sVatWadq0aZLkDDD//ve/na/573//q6SkJG3evFmNGzcu89qhoaF65pln9Pjjj+uuu+5SVFSUy/kFCxZo3bp12rFjh5KSkiRJ77//vlq0aKGVK1fq/PPP14QJEzRo0CANGjRIkvTcc89p/vz5LrNbzzzzjF588UX169dPklSvXj399ttvevPNNzVw4EDt3r1bjRo10sUXXyyLxaKUlJRyfW3MZnrYCgoKUkJCQqnjR48e1ZQpUzRjxgx16dJFkjR16lQ1a9ZMy5cv1wUXXFCh91mw8aAio11/+lAj3Ka2dWOd7W837FeRYbh9fUxosNrXj3O2F/5+QPkFRW77RtqturBhDWd78aaDpaaeS4TZgnRJo5rO9ndb/lJ2nvtpaJs1UJ2bnLg/98dth5RxzOG2rzUwQF2bnZgBXLE9TUdy8t32DbBY1KPFif8Hq3Yd1l+ZZU8V92yR4PxJyy+7j+hARq6CAgLUoUGcwmymDykAAACn3/7Vs8xzASfNHK16qlu5+37/aOd/VthxmzZt0k8//aTPP/9cUvH3xgMGDNCUKVPKHbauv/56Pfzww87vkadPn67zzjtPTZs2lST9+uuvWrRokcLDw0u9dtu2bacMW5I0aNAgvfjiixo3bpxLYJOkjRs3KikpyRm0JKl58+aKjo7Wxo0bdf7552vjxo265557XF7XoUMHLVq0SJKUnZ2tbdu2adCgQbrrrrucfQoKCpzh7rbbblP37t3VpEkT9erVS5dffrl69OhRrq+PmUz/znjLli2qXbu27Ha7OnTooDFjxig5OVmrVq2Sw+FQt24nBn3Tpk2VnJysZcuWlRm28vLyXO4pzcjIkCQ9/Ol6BdhCXfpe2qiG3rn1PGf7wZm/6JjDfYA6v26MZgw639l+eNavOpztPui0PCtSn91zor4nP1+nP9JL35cqSQ1qhmnuAxc526O/2qCtf2W77Vs7yq4lD3d0tsfO3qi1f2a47RsTatVPI0/8JfBS6iat2HHEbV+7NUDrnj7xdX51wRYt2Vz2Pbyb/9XdGbbeWrJNczYU35Pbr3Vtjet3dpmv83cOh8Plv4C3MNbgK4w1+Mo/HWsOh0OGYaioqEhFRa7fy9mDTr1Ewd/7/9O+J793ebzzzjsqKChQ7dq1nccMw5DNZtOrr76qqKgo53VLPt/f25IUHx+vzp07a/r06WrXrp1mzJihe+65x3k+MzNTl19+ucaOHVvq/RMTE93W/ff3CAgI0LPPPqs77rhD9913n0stxvGJirKucXLtf/+MJcdLvl9/88031b59e5drBAYGqqioSOeee662bdumOXPmaMGCBbruuuvUtWtXzZo1y+37GoYhh8OhwMBAl3O+/vvM1LDVvn17vfvuu2rSpIn27dun0aNH65JLLtH69eu1f/9+BQcHl9pDoFatWtq/f3+Z1xwzZkyp58AkKSXcUJDdddYqIOugZs+e7WwnhQbIUeT+3lj7sTSXvgnWAEVFuO8b5kh36VsjIEDWMvpGG5kufaOMANUro29EYI5L3zBH2X1DAvNc+gYfK7tvkKXApW9gZtl9JWn27Dkq+eFOYXqAaoVYdOCYRWu2/qnZs3eX+brqIjU11ewSUE0w1uArjDX4ypmOtZI7pbKyspSf7/5OnsqooKBA77//vp577jl17uw6U3bzzTdr6tSpuuOOO5STkyOpODQFBAQoNzdXhmE4Q4ok9evXT88884z69u2r7du3q0+fPs7zLVq00Ndff63Y2FiXR3YkqbCw0OU6JU5+z549e6pp06Z68sknZRiGcnNzlZGR4Xx+6rffflOdOnUkSb///rvS09OVkpKijIwMNWrUSN9//72uuuoq5/V//PFH53uHhIQoMTFRv//+u/r27Vuqlr/X17t3b+eva665Rrt27VJMTIxL//z8fB07dkxLly5VQYHrHWMln8tXLIZRxn1zJij5n/LSSy8pJCREt99+e6mVT9q1a6fOnTtr3Lhxbq/hbmYrKSlJ+/btU1xcnNvX4J/5fmuabn9vlZrUCtc3Qy40uxzTOBwOpaamqnv37rJarWaXAz/GWIOvMNbgK/90rOXm5mrPnj2qW7eu7Ha7Fyr0ji+++EI33HCD9u/fX+pZqMcee0yLFi3SihUrtHjxYnXt2lVpaWnOPa6GDx+uw4cPO/tnZmYqMTFRjRs3Vo0aNfTtt986z+3du1fnnXeeOnbsqBEjRig2NlZbt27VRx99pLfffrvU7I+kUu8pSQsXLlTv3r0lFc9C3XbbbTIMQ23btlVERIReeuklFRQUaMiQIQoPD3cuvvHRRx/pjjvu0GuvvaaLLrpIM2bM0IQJE1S/fn2tXr1aUvEM39ChQzVmzBj17NlTeXl5+vnnn5Wenq5hw4bp5ZdfVkJCglq3bq2AgAC98MILmj17tvbs2aOAANdZxtzcXO3cuVNJSUmlxkNaWpoSExN19OhRRUZGnuH/ufIz/TbCv4uOjlbjxo21detWde/eXfn5+UpPT3eZ3Tpw4IDbZ7xK2Gw22Wy2UsetViv/UHhJdFjx1zsrr5CvsRhr8B3GGnyFsQZfOdOxVlhYKIvFooCAgFLfeFdmU6dOVbdu3UrNzEjSNddcoxdeeEHr1693fqaSz/f3domoqCj17dtXH3/8sf773/+6nKtTp45++OEHPfroo+rVq5fy8vKUkpKiXr16KSgoyO2qhye/pyR169ZNXbp00bfffuty/Msvv9T999+vTp06KSAgQL169dLEiROd52+44Qbt2LFDjz32mHJzc9W/f3/de++9mjdvnrPP3XffrfDwcL3wwgt65JFHFBYWppYtW2ro0KEKCAhQZGSk/vOf/2jLli0KDAzU+eefr9mzZ5eaqSup2WKxuB1Pvv67rFLNbGVlZSk5OVmjRo3SwIEDVbNmTX344Yfq37+/pOIHCJs2bXrKZ7ZOlpGRoaioKB06dIiZLS/ZejBT3V5aqqgQq359pvI/qOgtDodDs2fPVp8+ffimBF7FWIOvMNbgK/90rOXm5mrHjh2qV69elZrZgnecajykpaWpRo0a1WNm6+GHH1bfvn2VkpKivXv36plnnlFgYKBuuOEGRUVFadCgQRo+fLhiY2MVGRmp+++/Xx06dKjwSoTwrnBb8V+KWXkFMgyjXHtCAAAAAP7O1LD1xx9/6IYbblBaWppq1qypiy++WMuXL1fNmsVLob/88ssKCAhQ//79XTY1RuVSM8Km5SO7Ktxeqe5KBQAAAExl6nfHM2fOPOV5u92uSZMmadKkST6qCGciMMCihCim7AEAAIC/qzpPEAIAAABAFULYgke8umCLHvnkV+085H5DZgAAAG+rROu+wUSVaRwQtuAR36zdq49//kN/ph8zuxQAAFDNlKxg6OsNa1E5lYyDyrCKKisawCPCbcVDKTO34DQ9AQAAPCswMFDR0dE6ePCgJCk0NJTVkashwzCUk5OjgwcPKjo62u1mzb5G2IJHRNhPLP8OAADgawkJCZLkDFyovqKjo53jwWyELXhEybLvP+88rFqRNl3SqKbz3PdbDikrz+HSv2aEXeclR/NTJwAA4BEWi0WJiYmKj4+Xw+E4/Qvgl6xWa6WY0SpB2IJHRIUUz2zNXLlHK3ce1oKHOjnP/eubDdp8IKvUaz7+vw5qVy/WVyUCAIBqIDAwsFJ9s43qjbAFj7ixXbL2HM7RsfxCnRUT4nKuRe0oRdpPPKC4+UCmMnILtOdwDmELAAAAfouwBY84+6wofTCovdtzLw8416V953srNX/jQeUXFvmgMgAAAMAchC343ODODXVj+2Q1TYg0uxQAAADAawhb8LnWyTFmlwAAAAB4HZsaAwAAAIAXMLMFn1v7R7o27c9Uk4QItaoTbXY5AAAAgFcwswWf+3LNXo34ZK1mr9tvdikAAACA1xC24HPBQcXDLr+A1QgBAADgvwhb8LngwOJhl1dQaHIlAAAAgPcQtuBzzGwBAACgOiBswedsJWGLTY0BAADgxwhb8DlmtgAAAFAdELbgcyXPbBG2AAAA4M/YZws+16FBnF69obVqR9nNLgUAAADwGsIWfC4lLkwpcWFmlwEAAAB4FbcRAgAAAIAXMLMFn0vLytNPOw7Lbg1U56bxZpcDAAAAeAVhCz63+UCW7p2+Wg3jwwlbAAAA8FvcRgifY+l3AAAAVAeELficjbAFAACAaoCwBZ9zzmwVErYAAADgvwhb8LmSTY3zHIUmVwIAAAB4D2ELPsfMFgAAAKoDwhZ8ruSZLUehoaIiw+RqAAAAAO9g6Xf4XLg9SOP6t3TOcAEAAAD+iLAFn7MFBWrA+clmlwEAAAB4FVMLMM2K7Wk6lJVndhkAAACAVxC2YIrFmw5q5c7DuuPdlWaXAgAAAHgFtxHCFPM3HtC05bsVYWcIAgAAwD8xswVTPNC1kSQpK69AhsGKhAAAAPA/hC2YIsJmlSQZhpSTz+bGAAAA8D+ELZjCbg1QYIBFUvHsFgAAAOBvCFswhcViUbit+HmtzFzCFgAAAPwPYQumKVkcg5ktAAAA+COWgoNperVIUEauQ5GsSAgAAAA/xHe5MM2Tlzc3uwQAAADAa7iNEAAAAAC8gLAF0xiGoay8AuXk88wWAAAA/A9hC6Z5/PP1OvuZeXp76Q6zSwEAAAA8jrAF05xYjdBhciUAAACA5xG2YJoIG0u/AwAAwH8RtmCa8OMzWxlsagwAAAA/RNiCacJLZrYIWwAAAPBDhC2Y5sQzW4QtAAAA+B/CFkwTbrNKYmYLAAAA/inI7AJQfSVE2dX77AQlxYaaXQoAAADgcYQtmKZhfLgm39zG7DIAAAAAr+A2QgAAAADwAsIWTGUYhrLzClRUZJhdCgAAAOBRhC2YxjAMNX5yjlo8M09/ZeWZXQ4AAADgUYQtmMZisSjEGihJymRFQgAAAPgZwhZMFWE/vvw7e20BAADAz1SasDV27FhZLBYNHTrUeaxTp06yWCwuv+655x7zioTHhduOb2zMzBYAAAD8TKVY+n3lypV688031apVq1Ln7rrrLv3rX/9ytkND2ZPJn0TYj4etPIfJlQAAAACeZfrMVlZWlm666Sa9/fbbiomJKXU+NDRUCQkJzl+RkZEmVAlvCT8etjKY2QIAAICfMX1ma/DgwbrsssvUrVs3Pffcc6XOT58+XdOmTVNCQoL69u2rp5566pSzW3l5ecrLO7GyXUZGhiTJ4XDI4WD2pLIJO75AxtGcvCr//6ek/qr+OVD5MdbgK4w1+ApjDb7i6zFmatiaOXOmVq9erZUrV7o9f+ONNyolJUW1a9fW2rVr9eijj2rTpk367LPPyrzmmDFjNHr06FLHFy1axC2IlZA106JWsRYd2PabZh/ZYHY5HpGammp2CagmGGvwFcYafIWxBm/Lycnx6ftZDMMwZTfZPXv2qG3btkpNTXU+q9WpUyede+65mjBhgtvXLFy4UF27dtXWrVvVoEEDt33czWwlJSVp3759iouL8/jnAEo4HA6lpqaqe/fuslqtZpcDP8ZYg68w1uArjDX4SlpamhITE3X06FGfPJ5k2szWqlWrdPDgQZ133nnOY4WFhVq6dKlee+015eXlKTAw0OU17du3l6RThi2bzSabzVbquNVq5Q8vfIKxBl9hrMFXGGvwFcYavM3X48u0sNW1a1etW7fO5djtt9+upk2b6tFHHy0VtCRpzZo1kqTExERflAgfMQxDjkJDwUGmr9cCAAAAeIxpYSsiIkJnn322y7GwsDDFxcXp7LPP1rZt2zRjxgz16dNHcXFxWrt2rYYNG6aOHTu6XSIeVdMXv/yph2b9qo6Namjq7e3MLgcAAADwGNNXIyxLcHCw5s+frwkTJig7O1tJSUnq37+/nnzySbNLgwfZrQEqLDKUydLvAAAA8DOVKmwtXrzY+fukpCQtWbLEvGLgE+G24vtms/IIWwAAAPAvPCQDU5VsaszMFgAAAPwNYQumCrcVhy1mtgAAAOBvCFswVYT9RNgyacs3AAAAwCsIWzBVSdgqLDKU6ygyuRoAAADAcyrVAhmofkKsgbqkUQ2FBQfJUVSkEJXeXw0AAACoighbMJXFYtEHg9pLkrYcyNSPWw+V2bdD/RqKCi1evXDbX1naciDTeS7CblX7erEKCmSyFgAAAJUDYQuVxle/7tXEhVvLPP/1kIvVMjRKkjRvw36Nn7vJ5fyYfi11Q7tkr9YIAAAAlBdhC5VG7egQtU2JKfN8SPCJWwwTo+zOvn8cOab9GbnaeSjb6zUCAAAA5UXYQqVxQ7vkcs9MXd26jq5uXUeS9Mr8LXp5/mZlsnw8AAAAKhEecEGVV7IxchYbIwMAAKASYWYLVV7r5Gjd36WhmidGml0KAAAA4ETYQpV3XnKMzksu+1kvAAAAwAzcRggAAAAAXkDYQpWXX1CkbX9l6be9GWaXAgAAADgRtlDl7UrLVtcXl+jGd5abXQoAAADgRNhClff31QgNwzC5GgAAAKAYYQtVXoTdKkkqKDKUV1BkcjUAAABAMcIWqrxQa6AsluLfZ+Q6zC0GAAAAOI6whSovIMCi8GA2NgYAAEDlQtiCXyh5bmvjvkyTKwEAAACKEbbgFyLtViVE2vX2d9tZJAMAAACVQpDZBQCecH/XhtqXnqs7L6knS8kDXAAAAICJCFvwC5e3qm12CQAAAIALbiMEAAAAAC8gbMFv3PTOcrUcNU/LtqWZXQoAAABA2IL/yMkvVGZugTLZawsAAACVAGELfiPcVvwIYiZ7bQEAAKASIGzBb0Qc32srK4+wBQAAAPMRtuA3Sma2CFsAAACoDAhb8BvhNqskbiMEAABA5UDYgt8Id95GyAIZAAAAMB9hC34jOTZU5yRFKzEqxOxSAAAAAAWZXQDgKde0qaNr2tQxuwwAAABAEmELfui7LX8p+/giGeelxCg+wm5yRQAAAKiOCFvwO6O//k1bD2ZJkpomRGju0I4mVwQAAIDqiGe24HfOrh2pVnWiJEk7DmWbXA0AAACqK8IW/M6E61vr/TvaSZLyCoqUX1BkckUAAACojghb8EththN3yGazyTEAAABMQNiCX7IGBshuLR7eWYQtAAAAmIAFMuC3OjWOV6FhKCDAYnYpAAAAqIYIW/Bbb9zSxuwSAAAAUI1xGyEAAAAAeAFhC37PMAyzSwAAAEA1RNiC3xr+0Ro1fmKOpq/YbXYpAAAAqIYIW/BfFim/sIjVCAEAAGAKwhb8VqTdKknKyiVsAQAAwPcIW/Bb4cc3NmZmCwAAAGZg6Xf4rXB78fDetD9Tv+w+otbJMc5zc9fvc+kbYLHoggZxztkwAAAA4J8ibMFvRYUUB6dl29P09nfb9fpNJ/bdumfa6lL9e5+doMk3szcXAAAAPIOwBb/VvXktLfr9oA5n56tBzXCXc21TTsxyZeQ6tPlAlnam5fi6RAAAAPgxwhb8Vo1wm966ta3bc5/ce6Hz96t3H1G/139UVp7DV6UBAACgGiBsodqrGW5Tx8Y1lRhpN7sUAAAA+BHCFqq9pNhQvX9HO7PLAAAAgJ9h6XcAAAAA8ALCFnBcUZEhwzDMLgMAAAB+grAFSLrg3wvU4InZrEgIAAAAjyFsAccZhpSVW2B2GQAAAPAThC1AUoS9eK2YTJZ/BwAAgIcQtgBJ4SVhi5ktAAAAeEilCVtjx46VxWLR0KFDncdyc3M1ePBgxcXFKTw8XP3799eBAwfMKxJ+K9xWHLa4jRAAAACeUinC1sqVK/Xmm2+qVatWLseHDRumr7/+WrNmzdKSJUu0d+9e9evXz6Qq4c9KbiPMyiNsAQAAwDNMD1tZWVm66aab9PbbbysmJsZ5/OjRo5oyZYpeeukldenSRW3atNHUqVP1448/avny5SZWDH8UbgtSWHAgYQsAAAAeE2R2AYMHD9Zll12mbt266bnnnnMeX7VqlRwOh7p16+Y81rRpUyUnJ2vZsmW64IIL3F4vLy9PeXl5znZGRoYkyeFwyOFg8QO4F2EL1K0XJKt93egzHiclr2OcwdsYa/AVxhp8hbEGX/H1GDM1bM2cOVOrV6/WypUrS53bv3+/goODFR0d7XK8Vq1a2r9/f5nXHDNmjEaPHl3q+KJFixQaGvqPa4Z/qpkj7c+xaEfuFi3+ziJHkdQ85sw2OE5NTfVwdYB7jDX4CmMNvsJYg7fl5Ph2T1XTwtaePXv04IMPKjU1VXa73WPXHTlypIYPH+5sZ2RkKCkpSZ07d1ZcXJzH3gf+6c/0Yxrx4neyBQVo/TPdTv+Cv3E4HEpNTVX37t1ltVq9VCHAWIPvMNbgK4w1+EpaWppP38+0sLVq1SodPHhQ5513nvNYYWGhli5dqtdee03z5s1Tfn6+0tPTXWa3Dhw4oISEhDKva7PZZLPZSh23Wq384cVpxYQX/zevoEiGJVDBQRV/rJGxBl9hrMFXGGvwFcYavM3X48u0sNW1a1etW7fO5djtt9+upk2b6tFHH1VSUpKsVqsWLFig/v37S5I2bdqk3bt3q0OHDmaUjGqgZAl4qXhlwtigYBOrAQAAQFVmWtiKiIjQ2Wef7XIsLCxMcXFxzuODBg3S8OHDFRsbq8jISN1///3q0KFDmYtjAP9UYIBFocGByskvVFZugWLDCFsAAAA4M6avRngqL7/8sgICAtS/f3/l5eWpZ8+eev31180uC34u3BaknPxCZeSyIhIAAADOXKUKW4sXL3Zp2+12TZo0SZMmTTKnIFRL4fYgHczMY88tAAAA/COmb2oMVDYRx5/bysolbAEAAODMVaqZLaAyuOPieso45lCThAizSwEAAEAVRtgCTnLluWeZXQIAAAD8ALcRAgAAAIAXMLMFnGRv+jHtPpyjGuE2NYwPN7scAAAAVFGELeAkH/60WxMXblWnJjV1/flJLufOSYpWYlSISZUBAACgKiFsASeJCrFKkhZv+kuLN/3lcm7iDa3V9xzCFgAAAE6PsAWcpE/LRC3fnqb0nNKbGseGBZtQEQAAAKoiwhZwktrRIXpn4Pluz2XlFej3/RkKsFjUuBZLwwMAAKBsrEYIVMD3Ww6p14Tv9Nina80uBQAAAJUcYQuogAh78WRwVl6ByZUAAACgsiNsARXgDFu5hC0AAACcGmELqIBwW3HYyiRsAQAA4DQIW0AFhJfMbOUXqKjIMLkaAAAAVGaELaACImzFe3AZhpTjKDS5GgAAAFRmhC2gAuzWAAUGWCTx3BYAAABOjX22gAqwWCy6r1MDWQMDZLfyswoAAACUjbAFVNBDPZqYXQIAAACqAH40DwAAAABewMwWUEEHM3P1884jOnrMoZhQq/N4QUGhfk2z6JJch2Ktxce3HszU1oNZJ13BorZ1Y1Qj3ObDqgEAAOBrhC2ggh7/bJ3mbzxYxtlA9UvPVWxEqCRp9rr9eil1c6leLc+K0tf3X+zFKgEAAGA2whZQQXdcVE/ZeYVyFBa5HDcMQ4ePHJE9ONB5LDHKrrYpMc52XkGR1v15VDvTsn1WLwAAAMxB2AIq6MKGNXRhwxqljjscDs2ePVspsaHOY9e2TdK1bZOc7YOZuWr3/AJl5RXIMAxZLBaf1AwAAADf80jYSk9PV3R0tCcuBfi1uDCbfnysiyLs/JwDAADA31V4NcJx48bpo48+cravu+46xcXF6ayzztKvv/7q0eIAfxMYYFHt6BBF2K3MagEAAPi5CoetN954Q0lJxbdFpaamKjU1VXPmzFHv3r01YsQIjxcIAAAAAFVRhe9l2r9/vzNsffPNN7ruuuvUo0cP1a1bV+3bt/d4gYC/mbRoq3an5eieTg1Ur0aY2eUAAADASyo8sxUTE6M9e/ZIkubOnatu3bpJKl6JrbCw0LPVAX7o61/36qOf9+iPIzlmlwIAAAAvqvDMVr9+/XTjjTeqUaNGSktLU+/evSVJv/zyixo2bOjxAgF/U7I4RlZugcmVAAAAwJsqHLZefvll1a1bV3v27NH48eMVHh4uSdq3b5/uu+8+jxcI+JtwW/Efu8w8whYAAIA/q3DYslqtevjhh0sdHzZsmEcKAvxduN0qiZktAAAAf1fhZ7Yk6YMPPtDFF1+s2rVra9euXZKkCRMm6Msvv/RocYA/ct5GyMwWAACAX6tw2Jo8ebKGDx+u3r17Kz093bkoRnR0tCZMmODp+gC/E1FyG2Guw+RKAAAA4E0VDlsTJ07U22+/rSeeeEKBgYHO423bttW6des8Whzgj0qe2SqZ2VqzJ11z1+/T3PX7tP2vLDNLAwAAgAdV+JmtHTt2qHXr1qWO22w2ZWdne6QowJ/d0iFF/dvUUVRI8bNbU77foa9/3StJCg0O1MonuinMVuE/mgAAAKhkKjyzVa9ePa1Zs6bU8blz56pZs2aeqAnwa9GhwaodHeIMVPVrhKltSowCAyzKyS/Uoaw8kysEAACAJ1T4x+fDhw/X4MGDlZubK8Mw9NNPP+nDDz/UmDFj9M4773ijRsCvDeveWMO6N1b7f8/XgYw8ZbJKIQAAgF+ocNi68847FRISoieffFI5OTm68cYbVbt2bb3yyiu6/vrrvVEjUC2E24J0QIQtAAAAf3FGD4bcdNNNuummm5STk6OsrCzFx8d7ui6g2nHuv8WS8AAAAH7hHz2FHxoaqtDQUE/VAlRrbZJjFBtqdS6cAQAAgKqtXGGrdevWslgs5brg6tWr/1FBQHX1dN/mZpcAAAAADypX2Lrqqqucv8/NzdXrr7+u5s2bq0OHDpKk5cuXa8OGDbrvvvu8UiQAAAAAVDXlClvPPPOM8/d33nmnHnjgAT377LOl+uzZs8ez1QHVkGEY5Z5JBgAAQOVV4X22Zs2apVtvvbXU8ZtvvlmffvqpR4oCqqM3lmxTs6fm6ukvN5hdCgAAADygwmErJCREP/zwQ6njP/zwg+x2u0eKAqqjAIt0zFHIaoQAAAB+osKrEQ4dOlT33nuvVq9erXbt2kmSVqxYof/+97966qmnPF4gUF1EHF/6nX22AAAA/EOFw9Zjjz2m+vXr65VXXtG0adMkSc2aNdPUqVN13XXXebxAoLoItxX/cczKc5hcCQAAADzhjPbZuu666whWgIeF24v/OO47mqulm/9Sx8Y1ned+2HpImbnuQ5gtKFCdm57YWHzZtjQdPZbvtm/D+Ag1jA/3YNUAAAAoyxlvarxq1Spt3LhRktSiRQu1bt3aY0UB1VHJZsa70nL0zFcbtOjhTs5zz37zm37fn+n2dbUibVrxeDdn+4V5v2v17nS3fe3WAP30RDdF2tk4GQAAwNsqHLYOHjyo66+/XosXL1Z0dLQkKT09XZ07d9bMmTNVs2bNU18AgFutzorSNW3qaOehbCVGh7ica1470nmb4cliwoJd2k0TIxXgZun4n3cd0Y3tUlRQaHiuaAAAAJSpwmHr/vvvV2ZmpjZs2KBmzZpJkn777TcNHDhQDzzwgD788EOPFwlUB0GBAfrPtee4PffSdeeW+zr/vrqlhyoCAADAP1HhsDV37lzNnz/fGbQkqXnz5po0aZJ69Ojh0eIAAAAAoKqq8D5bRUVFslpLP+9htVpVVFTkkaIAeF5OfoH2H81lHy8AAAAfqXDY6tKlix588EHt3bvXeezPP//UsGHD1LVrV48WB8Bzhsz4RReMWaDZa/eZXQoAAEC1UOGw9dprrykjI0N169ZVgwYN1KBBA9WrV08ZGRmaOHGiN2oE4AElC2xkMrMFAADgExV+ZispKUmrV6/W/Pnz9fvvv0sq3tS4W7dup3klADOV7ONV1n5dAAAA8Kwz2mfLYrGoe/fu6t69u6frAeAlEcdntrJymdkCAADwhXKHrffff79c/W699dYzLgaA90Qcn9ligQwAAADfKHfYevDBB8s8Z7FYlJ2drYKCAsIWUEnxzBYAAIBvlXuBjCNHjrj99dtvv+m6666TYRgVvq1w8uTJatWqlSIjIxUZGakOHTpozpw5zvOdOnWSxWJx+XXPPfdU6D0AFAu3F2/ZkMlthAAAAD5xRs9sSVJmZqbGjRunV155RS1atNC8efPUuXPnCl2jTp06Gjt2rBo1aiTDMPTee+/pyiuv1C+//KIWLVpIku666y7961//cr4mNDT0TEsGqrUGNcN0Xds6apoQaXYpAAAA1UKFw5bD4dDEiRP173//W3FxcZo6daquueaaM3rzvn37urSff/55TZ48WcuXL3eGrdDQUCUkJJzR9QGc0Do5Rq2TYyRJ8387oIIyNiGPCglWhwZxzvai3w+qfs0wpcSF+aROAAAAf1HusGUYht5//309/fTTKigo0L///W8NGjRIgYGBHimksLBQs2bNUnZ2tjp06OA8Pn36dE2bNk0JCQnq27evnnrqqVPObuXl5SkvL8/ZzsjIkFQcEh0OlryG95SMr6owzoZ9vKbM2wlbJ0Xp47vbSyr+cz/84zUqKDK07JFLZbN65s87/pmqNNZQtTHW4CuMNfiKr8eYxTAMozwdW7Zsqe3bt+v+++/X0KFDyww8kZEVu0Vp3bp16tChg3JzcxUeHq4ZM2aoT58+kqS33npLKSkpql27ttauXatHH31U7dq102effVbm9UaNGqXRo0eXOj5jxgxuQQSOm/xbgPKKLG7PJYYaGlD/xKzXg8uKfyYz+rwCRdt8Uh4AAIBX5OTk6MYbb9TRo0crnFvORLnDVkDAibU0LJbS36QZhiGLxaLCwsIKFZCfn6/du3fr6NGj+uSTT/TOO+9oyZIlat68eam+CxcuVNeuXbV161Y1aNDA7fXczWwlJSVp3759iouLc/sawBMcDodSU1PVvXt3Wa1Ws8vxmHZjFulIjkOzh1yoRrXCzS4H8t+xhsqHsQZfYazBV9LS0pSYmOizsFXu2wgXLVrklQKCg4PVsGFDSVKbNm20cuVKvfLKK3rzzTdL9W3fvvjWplOFLZvNJput9I/frVYrf3jhE/421iLsVh3JcehYofzqc/kDfxtrqLwYa/AVxhq8zdfjq9xh69JLL/VmHU5FRUUuM1N/t2bNGklSYmKiT2oBcGJ/LjZDBgAAqJgzXvrdE0aOHKnevXsrOTlZmZmZmjFjhhYvXqx58+Zp27Ztzue34uLitHbtWg0bNkwdO3ZUq1atzCwbqFbC7cfDFvtzAQAAVIipYevgwYO69dZbtW/fPkVFRalVq1aaN2+eunfvrj179mj+/PmaMGGCsrOzlZSUpP79++vJJ580s2Sg2olwzmyxQhQAAEBFmBq2pkyZUua5pKQkLVmyxIfVAHDninNrq1WdaLWoHWV2KQAAAFWKqWELQOV35blnmV0CAABAlRRw+i7ubd26VfPmzdOxY8ckFS/9DgAAAAAoVuGwlZaWpm7duqlx48bq06eP9u3bJ0kaNGiQHnroIY8XCMBcR485tGl/pnalZZtdCgAAQJVS4bA1bNgwBQUFaffu3QoNDXUeHzBggObOnevR4gCY74tf/lTPCUs1bu7vZpcCAABQpVT4ma1vv/1W8+bNU506dVyON2rUSLt27fJYYQAqh5J9tjJZ+h0AAKBCKhy2srOzXWa0Shw+fFg2m80jRQGoPEr22foz/Zjmri++bbhOTKjOPqt4dUJHYZEWbDwgSWpQM1yNakWYUygAAEAlU+HbCC+55BK9//77zrbFYlFRUZHGjx+vzp07e7Q4AOaLCrFKkrb/la17pq3WPdNW64NlJ2axjzkKnccve/V7HcnON6tUAACASqXCM1vjx49X165d9fPPPys/P1+PPPKINmzYoMOHD+uHH37wRo0ATHRecoz6tT5Luw/nOI+l1Dgxux1osahtSozW/nFU+YVF2nv0mGLCgs0oFQAAoFKpcNg6++yztXnzZr322muKiIhQVlaW+vXrp8GDBysxMdEbNQIwUXBQgF4acG6Z58NsQfrk3gvV5cXF2v5XtrJ4tgsAAEDSGW5qHBUVpSeeeMLTtQCowiKOL6SRlUfYAgAAkM7gma2GDRtq1KhR2rJlizfqAVBFlSykwaqFAAAAxSoctgYPHqz//e9/atKkic4//3y98sor2r9/vzdqA1CFRNiKF9LIZGYLAABA0hluarxy5Ur9/vvv6tOnjyZNmqSkpCT16NHDZZVCANXLkC4NNeOu9urZvJbZpQAAAFQKFQ5bJRo3bqzRo0dr8+bN+u677/TXX3/p9ttv92RtAKqQs8+K0oUNaig+0m52KQAAAJXCGS2QUeKnn37SjBkz9NFHHykjI0PXXnutp+oCAAAAgCqtwmFr8+bNmj59uj788EPt2LFDXbp00bhx49SvXz+Fh4d7o0YAVcDWg5lavv2wakfb1aUptxICAABUOGw1bdpU559/vgYPHqzrr79etWrxTRUAacWOw3ryi/Xq0bwWYQsAAEBnELY2bdqkRo0aeaMWAFVYuI2l3wEAAP6uwgtkELQAuBNhZ1NjAACAvyvXzFZsbKw2b96sGjVqKCYmRhaLpcy+hw8f9lhxAKqOCHvxPlsHM3M1d/0+NUmIVL0aYZKkI9n5WrEjrczXNowPV8P4CElSRq5DP249VGbfejXC1SShuG92XoG+2/JXmX1DgoPUoX6cgoPOeOFVAACAM1ausPXyyy8rIqL4m5sJEyZ4sx4AVVTk8bB1ICNP90xbrScva6Y7L6kvSdp+KFv3TFtd5muHd2+sB7oW/x3z55Fjp+x7b6cGerRXU0nSoay8MvtGhVjVKD5ceY5C9WiRcEafCQAA4J8oV9gaOHCg298DQIlG8eG6sX2yNu/PlCSX/bbCbUFqmxJT5msTo070DbEGnrLvWdEhzt/bgsrua7cG6t9Xt1RyXGi5PwMAAIAnlStsZWRklPuCkZGRZ1wMgKorIMCif1/d0u25JgkR+uTeC8t1nbo1wsrdNyHKXu6+AAAAvlausBUdHX3K57QkyTAMWSwWFRYWeqQwAAAAAKjKyhW2Fi1a5O06AMCjfth6SMM+WqOG8eGacdcFZpcDAACqoXKFrUsvvbRcF1u/fv0/KgYAPCXAYtHBzDxFhVjNLgUAAFRT/3g95MzMTL311ltq166dzjnnHE/UBAD/GPt+AQAAs51x2Fq6dKkGDhyoxMRE/ec//1GXLl20fPlyT9YGAGcs3FYctjJzCVsAAMAc5bqNsMT+/fv17rvvasqUKcrIyNB1112nvLw8ffHFF2revLm3agSACgv/28xWUZGhgIBTL/IDAADgaeWe2erbt6+aNGmitWvXasKECdq7d68mTpzozdoA4IyVzGxJUnY+s1sAAMD3yj2zNWfOHD3wwAO699571ahRI2/WBAD/mC0oQNZAixyFhrLyChRhZ6EMAADgW+We2fr++++VmZmpNm3aqH379nrttdd06NAhb9YGAGfMYrHo3KRotUmJUZFhdjUAAKA6KnfYuuCCC/T2229r3759+r//+z/NnDlTtWvXVlFRkVJTU5WZmenNOgGgwmbdc6E+vfdCnRUdYnYpAACgGqrwaoRhYWG644479P3332vdunV66KGHNHbsWMXHx+uKK67wRo0AcMYOZuRq7vp9zl8b9h41uyQAAFBN/KN9tpo0aaLx48frjz/+0IcffuipmgDAY9b+cVT3TFvt/HX5xO+153CO2WUBAIBq4B9vaixJgYGBuuqqq/TVV1954nIA4DHRoVa1TYlR25QYhVgDZRjSbsIWAADwAY+ELQCorNrWjdUn916oT+69UM1rR0qSMnMdJlcFAACqA8IWgGqjZO+tzFz23QIAAN5H2AJQbUSGWBVhD1KRwVrwAADA+8q9qTEAVHWvXn+uLBaL2WUAAIBqgpktANUGQQsAAPgSYQsAAAAAvICwBaDaWPj7Ad0yZYVe+naT2aUAAIBqgGe2AFQbhzLz9d2WQwoK4HZCAADgfcxsAag2wu3FP1/KymPpdwAA4H2ELQDVRoSdfbYAAIDvELYAVBslmxozswUAAHyBZ7YAVBslM1t/HDmmozkORYVaJUnb/srSlgOZZb7u/Lqxigu3+aRGAADgPwhbAKqNyBCr8/e7DmerVWi0JOnbDQc0bu7vZb5u5t0XELYAAECFEbYAVBvxEXb9X8f6WrXriEKDT/z1lxBlU9uUmDJfV3L7IQAAQEXwHQSAamVkn2aljl3duo6ubl3HhGoAAIA/I2wBwCkUFhnKzi9eUCPSbj1NbwAAgBNYjRAATmHy4q1qNepbjZm90exSAABAFUPYAoBTKHlei725AABARRG2AOAUwo/fOkjYAgAAFUXYAoBTYCNkAABwpghbAHAKJRshZzGzBQAAKoiwBQCnwMwWAAA4U4QtADiFcHvJAhkOkysBAABVjalha/LkyWrVqpUiIyMVGRmpDh06aM6cOc7zubm5Gjx4sOLi4hQeHq7+/fvrwIEDJlYMoLqJCwvWZa0SdVmr2maXAgAAqhhTw1adOnU0duxYrVq1Sj///LO6dOmiK6+8Uhs2bJAkDRs2TF9//bVmzZqlJUuWaO/everXr5+ZJQOoZqJDgzXpxvM0pl9Ls0sBAABVTJCZb963b1+X9vPPP6/Jkydr+fLlqlOnjqZMmaIZM2aoS5cukqSpU6eqWbNmWr58uS644AIzSgZQTa39I11704+Veb5z03jZggIlSev/PKo/juSU2ffSxvEKCS7u+/v+DO08lO2ml0Xt68UqJiz4H9UNAADMY2rY+rvCwkLNmjVL2dnZ6tChg1atWiWHw6Fu3bo5+zRt2lTJyclatmxZmWErLy9PeXl5znZGRoYkyeFwyOHgmQt4T8n4Ypz5p6nfb9fna/aVeX75Y50UdzwYzVixUzN++qPMvosfukRnRYdIkmat3K0pP+xy2699vRhNu+P8UscZa/AVxhp8hbEGX/H1GDM9bK1bt04dOnRQbm6uwsPD9fnnn6t58+Zas2aNgoODFR0d7dK/Vq1a2r9/f5nXGzNmjEaPHl3q+KJFixQaGurp8oFSUlNTzS4BXpCXZlG9iLLvvF60YL5Cj/+Nmn3g1H2/W7xIkccnrI7uL933jyzJYVi06c/Dmj17dpnXYazBVxhr8BXGGrwtJ6fsO0+8wfSw1aRJE61Zs0ZHjx7VJ598ooEDB2rJkiVnfL2RI0dq+PDhznZGRoaSkpLUuXNnxcXFeaJkwC2Hw6HU1FR1795dVqvV7HLgYX182De/oEhHcvIVbgtSmK30X9OMNfgKYw2+wliDr6Slpfn0/UwPW8HBwWrYsKEkqU2bNlq5cqVeeeUVDRgwQPn5+UpPT3eZ3Tpw4IASEhLKvJ7NZpPNZit13Gq18ocXPsFYwz9ltUphIaX/Hivdj7EG32CswVcYa/A2X4+vSrfPVlFRkfLy8tSmTRtZrVYtWLDAeW7Tpk3avXu3OnToYGKFAAAAAHB6ps5sjRw5Ur1791ZycrIyMzM1Y8YMLV68WPPmzVNUVJQGDRqk4cOHKzY2VpGRkbr//vvVoUMHViIE4Pf+PXujjmTna2SfZoplRUIAAKokU8PWwYMHdeutt2rfvn2KiopSq1atNG/ePHXv3l2S9PLLLysgIED9+/dXXl6eevbsqddff93MkgHAJ2b9vEdHchy6u2N9whYAAFWUqWFrypQppzxvt9s1adIkTZo0yUcVAUDlEG4P0pEchzLzCswuBQAAnKFK98wWAEAKtxU/wJuVS9gCAKCqImwBQCUUYS++8SCLmS0AAKoswhYAVEIRx/fXYmYLAICqi7AFAJVQ+PGZrYxch8mVAACAM0XYAoBKKNzGbYQAAFR1pq5GCABwb1j3xrq/SyNFh1q1atdh/ZWZ5zxXUFCoX9MsCtxwQEFBgep1dqLz3C+7j+hARq7ba7asE62zokO8XjsAAChG2AKASqhGuM35+9cWbtWiTX+d1CNQ/938qyRp59jLnEff+W6H/rdun9tr1oq0afnIrrJYLB6vFwAAlEbYAoBKrlGtCGX+baEMwzB0+MgRxcbElApO9WuGqW1KjMux7PxCbdyXocSoEOUXFskWFOiTugEAqO4IWwBQyT3ep5lL2+FwaPbs2erTp52sVqvLuYd6NPFlaQAA4BRYIAMAAAAAvICwBQAAAABeQNgCgGrg7vd/1kVjF2rF9jSzSwEAoNogbAFANXAoK09/ph/TkRw2SQYAwFcIWwBQDYTbixfSYJNkAAB8h7AFANVAhK148dmsXGa2AADwFcIWAFQD4SVhi5ktAAB8hrAFANVAhL04bGUStgAA8BnCFgBUA+H2ktsICVsAAPgKYQsAqoFakXY1qBmm2LBgs0sBAKDaCDK7AACA993QLlk3tEuWJH2/5ZCy8twvlGGzBqpzk3hn+8dth5RxzH1fa2CAujar5Wyv2J6mIzn5bvtaLBb1bJHgbK/adVh/ZeaVWW/PFgmyWCySpF92H9GBjNwy+3ZrVktBgcU/O1z3x1H9mZ5TZt9OTeJltwZKkjbsPao9h8vu27FxTYUGF/8zuWl/pnYcyiqz74UNayjy+IqPWw9mauvBLCXFhqpF7agyXwMA8H+ELQCoZv71zQZtPuA+OJwVHaIfHuvibI+bu0m/7kl32zcm1Kpfnu7hbL88f7OWbz/stq8tKECbnuvtbE9atE0Lfz9YZo07xvRx/v6d73fof2v3ldl3w+iezrD13rKd+mTVH2X2XflEN2fY+mjlHr2/bFeZfb97pLNCY4v/mfzslz/05pLtZfadN7SjIhOKw9Y3a/dpwvwtslikpSM6Kyk2tMzXAQD8G2ELAKqZFrWjnLMwJ6sRbnNpN0+MkDXA4rZvyaIbJZrUilBBoeG2rzXQ9a71RvHhZc6YnaxBjTC1TYkp83yA5UR99U7T1xp4om9ybOgp+wYHnai5Tsyp+4YcD3CSVDsqRCHWQB1zFGr34RzCFgBUY4QtAKhmXh5wbrn7junXqtx9R195drn7juzTrNx9h/doouHl7Du4c0MN7tywXH3vvKS+7rykfrn63nJBim65IKVcfa87P0kf/bxHq3YdUSYLkgBAtcYCGQAAeFjJvmaZbCINANUaYQsAAA9zLrXPvmYAUK0RtgAA8LBI9jUDAIiwBQCAxzWMj9AF9WOVEGU3uxQAgIlYIAMAAA8bdHE9Dbq4ntllAABMxswWAAAAAHgBYQsAAAAAvICwBQCAhy3edFBtnk3VTe8sN7sUAICJCFsAAHhYYIBFadn5SsvKN7sUAICJCFsAAHhYyabG7LMFANUbqxECAOBhEcf32UrPcWju+n2SpJ4tEmSxWCRJa/aka//RY2W+vmuzWrIG8vNQAKjqCFsAAHhYZIhVUvHM1j3TVkuStv+7j45nLb3z3XZ9s3Zfma9fP7onYQsA/ABhCwAAD4uPsOv/OtbXql1H3J6vXzNcbVNiynx9oMWiozkOpR/LV0xYsCLtVm+VCgDwIsIWAABeMLJPszLPDe/eWMO7Nz7l6+/+4Gd9t+WQXrz2HPVvU8fT5QEAfIB7FAAAqIRKZrNYZAMAqi7CFgAAlVDJioaZuQ6TKwEAnCnCFgAAlVD48RUNM5nZAoAqi7AFAEAl5NyrK5ewBQBVFWELAIBKqGSvLp7ZAoCqi7AFAEAlxMwWAFR9LP0OAEAl1CQhQrdckKJmiZFmlwIAOEOELQAAKqHWyTFqnVz2xscAgMqP2wgBAAAAwAsIWwAAVEJFRYYOZ+drz+Ecs0sBAJwhbiMEAKASOpCZqw5jFioowKLXbmztcs5mDVTnJvHO9o/bDinjmPvNj4MCAtSteS1n+6cdh3U4O89t33o1wtUkIcID1QMAJMIWAACVUoTdKkkqKDJ0z7TVLucSo+xaNrKrsz1+7iat2ZPu9jpRIVb9+kwPZ3vC/M36cVua275BARYtG9lVNSNs/7B6AIBE2AIAoFIKtwXpwa6N9MPWQ6XOxYUHu7SbJUYoKMDi9jphNtd/6hvXilB+QVGpfj/vOqKBF9ZVYZHxD6oGAPwdYQsAgEpqWPfGGta98Wn7jenXqtzXHHVFi39SEgCgAlggAwAAAAC8gLAFAACUlVegP9OP6WgZC20AACqOsAUAADTys3W6aOxCfbrqD7NLAQC/QdgCAAAKP76QRlZegcmVAID/IGwBAABF2glbAOBphC0AAOCc2crMJWwBgKcQtgAAgMLtJWGLBTIAwFMIWwAAgGe2AMALTA1bY8aM0fnnn6+IiAjFx8frqquu0qZNm1z6dOrUSRaLxeXXPffcY1LFAAD4p4iSZ7a4jRAAPMbUsLVkyRINHjxYy5cvV2pqqhwOh3r06KHs7GyXfnfddZf27dvn/DV+/HiTKgYAwD/VrRGmG9olqWeLBLNLAQC/EWTmm8+dO9el/e677yo+Pl6rVq1Sx44dncdDQ0OVkMBf/gAAeEvThEiN6ddKkrTo94PKKyhUQUGhfk2zKHDDAQUFBUqSIuxWXdSwhvN1Szb/pWP57mfDQoOD1LFxTWf7h62HVL9mmBKjQrz4SQCg8jA1bJ3s6NGjkqTY2FiX49OnT9e0adOUkJCgvn376qmnnlJoaKjba+Tl5SkvL8/ZzsjIkCQ5HA45HDz0C+8pGV+MM3gbYw3e9sgnv+qvrPzjrUD9d/OvznPNEiL01eAOzvZTX6zT7sPH3F6nXlyovh16sSTJUVik0V9tUE5+gRY91NFtf1Rf/L0GX/H1GLMYhmH49B3LUFRUpCuuuELp6en6/vvvncffeustpaSkqHbt2lq7dq0effRRtWvXTp999pnb64waNUqjR48udXzGjBllBjQAAHDC278HKLvA4vZcTbuhmxoWOdvvbg5Qer77vjHBhgY2Lu6b7ZAe/7n4Z7wvXVCgQPcvAQCvysnJ0Y033qijR48qMjLS6+9XacLWvffeqzlz5uj7779XnTp1yuy3cOFCde3aVVu3blWDBg1KnXc3s5WUlKR9+/YpLi7OK7UDUvFPSlJTU9W9e3dZrVazy4EfY6zBVzw51vILitRi9HxJ0s+Pd1ZUCGMXJ/D3GnwlLS1NiYmJPgtbleI2wiFDhuibb77R0qVLTxm0JKl9+/aSVGbYstlsstlspY5brVb+8MInGGvwFcYafMUTY81qlWxBAcorKNKxAqkGYxdu8PcavM3X48vU1QgNw9CQIUP0+eefa+HChapXr95pX7NmzRpJUmJioperAwAAnuRcXp69vABUE6bObA0ePFgzZszQl19+qYiICO3fv1+SFBUVpZCQEG3btk0zZsxQnz59FBcXp7Vr12rYsGHq2LGjWrVqZWbpAACggiLsVh3KyidsAag2TA1bkydPllS8cfHfTZ06VbfddpuCg4M1f/58TZgwQdnZ2UpKSlL//v315JNPmlAtAAD4J8JtbJwMoHoxNWydbm2OpKQkLVmyxEfVAAAAb7qoYQ0lx4UqJizY7FIAwCcqxQIZAADA/z3Wu6nZJQCAT5m6QAYAAAAA+CvCFgAA8JmiIkP5BUWn7wgAfoCwBQAAfGLC/M2q//hs/Xv2RrNLAQCfIGwBAACfsAUFSmKfLQDVBwtkAAAAnwg/vqnxtr+yNHf9PklSzQi72qTEOPvMXb9fkvvViuPCbTq/bqyzPf+3Ayoocn9LYlRIsDo0iHO2F/1+UHkFhW77RtituqhhDWf7+y2HdPZZkYoOZdVEAP8MYQsAAPhEVIhVkvTL7nTdM221JKl781p6+9a2zj5DZqxWQZH7sHVJoxr6YFB7Z3vYx2uUWcaeXW1SYvTpvRc6249+ulYHM/Pc9m2WGKk5D14iScorKNSTX6xTclyY3r+jXQU+HQCURtgCAAA+cWnjmurTMkEHM06Enobx4S59zkuJUVEZYatRfIRLu3VyjHLKuCWxSYJr31Z1opWek++2b0pcmPP36//M0M60nDLm1gCgYghbAADAJ6JCrHr9pjan7PPx/3Uo9/UqMvP0zsC2p+8kKeL4rY5lzZgBQEWwQAYAAMBx4bbisJVF2ALgAYQtAACA40oW8cgvLCpzQQ0AKC/CFgAAwHFhwSeesGB2C8A/RdgCAAA4LjDAorBg9gMD4BkskAEAAPA35yZHK8/hfv8uAKgIwhYAAMDfTL/zArNLAOAnuI0QAAAAALyAsAUAAAAAXkDYAgAA+JtRX21Q+3/P14c/7Ta7FABVHGELAADgb7LzCnQgI0+Hs/PNLgVAFccCGQAAAH9TsrHxuj+Oau76fZKkhKgQnZsULUkqKjL07W/7y3x9zQi72qTEONtz1++XZLjtGxdu0/l1Y53t+b8dUEGR+5UQo0KC1aFBnLO96PeDZW68HGG36qKGNZztpZv/Uk6++6XsQ4KDdGnjms72D1sPKTPX4bavLShQnZvGO9vLtqXp6DH3oTQwIEDdm9dytlfuPKy0rDy3fQsL2UAa/omwBQAA8DdRIVZJ0twN+zV3Q3GouuKc2nr1htaSpELD0D3TVpf5+m7NaumdgW2d7fs/XC1HofuwdXHDGpp2Z3tne/jHa5RRxmbK5yVH67P7LnK2H/tsrQ5kuA8vTRMiNHdoR2f7ma82aMehbLd968aFavGIzs728//bqN/2ZbjtGx9h009PdHO2//PtJq3adcRt3whbkNaN7ulsv7pgi77bcsht36AAi15s7/YUUKURtgAAAP7mqnPP0q970pX5t9BTr0aY8/cWSW3/NnN1sobx4S7t85JjVFjkPmw1quXat3VyjLLL2Ey5cUKES7tVnWgdKeNWx+S4UJf22WdFKS4s2G3fhCi7S7t57UiFHt/Y+WTRoa7XaJoQIYvbnlLISddoFB+hY/nuZ7AsFkn6S7mOQqXnFikyJEi2IPc1AFWJxTAM93/6/URGRoaioqJ06NAhxcXFnf4FwBlyOByaPXu2+vTpI6vVanY58GOMNfgKYw2+UjLWXtkSqe2HcvTR3ReofX2+b4PnpaWlqUaNGjp69KgiIyO9/n4skAEAAIBKIdxWfNNVZhm3UgJVDWELAAAAlUJJ2Moq41ZKoKohbAEAAKBSCCuZ2SJswU8QtgAAAFAplCy7n8VthPAThC0AAABUCiduI3S/zxdQ1RC2AAAAUClE2JjZgn8hbAEAAKBSaFE7Qv1an6VWdaLNLgXwCDY1BgAAQKXQo3ktXXZOHbPLADyGmS0AAAAA8ALCFgAAACqNXEehjuawQAb8A7cRAgAAoFJYufOIbpyyUrUibRp9RQuXcxF2qy5qWMPZXrr5L+Xku19IIyQ4SJc2ruls/7D1kDJz3Qc4W1CgOjeNd7aXb09Tek6+276BAQHq3rzW3+o9rLSsPLd9w2xB6lA/TkGBzG1UZ4QtAAAAVApRIcXfmh7IyNM901a7nGuaEKG5Qzs626O+2qDth7LdXiclLlRLRnR2tp//30b9ti/Dbd+aETatfKKbs/2feZv0864jbvtG2IK0bnRPZ/vVBVv03ZZDZX6e0Ve00MAL65Z5Hv6PsAUAAIBKoWHNcN3YPlmb92eWOpccF+rSbnFWlGLDgt1ep1aU3aXdvHakQoMD3faNDnW9RpOEiDLrCznpGo1rRehYfmGpfgcz8/RIryY6v25smddC9UDYAgAAQKUQEGDRv69uWa6+E29oXe7r/ufac8rd9/lyvr8kPXV583L3RfXETaQAAAAA4AXMbAEAAAAetCstWws2HlRMmFVXt2bfsOqMmS0AAADAgzYfyNK/vvlN7/64y+xSYDLCFgAAAOBB4bbim8eyylhuHtUHYQsAAADwoAj78bCV534fMFQfhC0AAADAg07MbBG2qjvCFgAAAOBBJTNb2fmFKiwyTK4GZiJsAQAAAB4Ubj+x4De3ElZvhC0AAADAg2xBgQoOLP42m7BVvbHPFgAAAOBhU25rqxBroOLCgs0uBSYibAEAAAAedkmjmpKkRZsOKs9R6LZPuM2qixvVcLaXbv5LOfnuZ8JCgoN0aeOazvaPWw8po4yl5YODAtSlaS1ne/n2NKXn5LvtGxgQoO7NT/T9eedhHcrKK+NTSb3OTizzHEojbAEAAABe8vhn67TvaK7bc00TIjR3aEdne9TXG7T9r2y3fZNjQ7X0kc7O9vOzN2rD3gy3fWuE2/TzkycC1IvfbtLKnUfc9g23BWn96J7O9qsLt2rp5r/c9g2wSNvHXOb2HNwjbAEAAABe0qpOlM6KDnF7Ljku1KV9du0oxYa6v+2wVqTdpd08MVIh1kC3faNDrS7tJgkRMspYFDEk2PUajePDlVPGc2YBFoskaeehbO3PyFVKXKgSo9x/NhQjbAEAAABe8uYtbcvd99UbWpe77wvXnlPuvs9d1bLcfZ+8vPlp+4yf97tmr9uvf13ZQrd2qFvua1dHrEYIAAAAoNxKNm3OZNPm0yJsAQAAACi3cFvxbYosa396hC0AAAAA5RZxfNPmLGa2TouwBQAAAKDcnGGLma3TImwBAAAAKLcTz2y53+cLJxC2AAAAAJRbuJ0FMsqLpd8BAAAAlFuzxEiN6NlEKSftE4bSCFsAAAAAyq1BzXAN7tzQ7DKqBFNvIxwzZozOP/98RUREKD4+XldddZU2bdrk0ic3N1eDBw9WXFycwsPD1b9/fx04cMCkigEAAACgfEwNW0uWLNHgwYO1fPlypaamyuFwqEePHsrOznb2GTZsmL7++mvNmjVLS5Ys0d69e9WvXz8TqwYAAACqr4LCIm3Ye1QrtqeZXUqlZ+pthHPnznVpv/vuu4qPj9eqVavUsWNHHT16VFOmTNGMGTPUpUsXSdLUqVPVrFkzLV++XBdccIEZZQMAAADVVo6jUJe9+r0k6bUbWysowOI8F26z6uJGNZzt77b8pewyloi3WwPVqUm8s/3j1kPKKGOFw+CgAHVpWsvZXr49Tek5+W77BgYEqHvzE31/3nlYh7LyJEmW/Gy3r/GWSvXM1tGjRyVJsbGxkqRVq1bJ4XCoW7duzj5NmzZVcnKyli1b5jZs5eXlKS8vz9nOyMiQJDkcDjkcLE8J7ykZX4wzeBtjDb7CWIOvMNaqlmCLoQCLVGRIQ2b84nKucXy4/nf/hc72M19u0PZD7gNOnZgQLRp+ibP9/OzftGFvptu+cWHBWv5YJ2f7P/N+18+70t32DQsO1Jqnujrbry7YrKVbimfhmscGnvKzeVqlCVtFRUUaOnSoLrroIp199tmSpP379ys4OFjR0dEufWvVqqX9+/e7vc6YMWM0evToUscXLVqk0FBWTIH3paamml0CqgnGGnyFsQZfYaxVHZcnWbTuSOknkqKKMjR79mxnO0YBqhdhKdVPkqICsl36hjvK7hsalOvS155bdl9rgMOlb0DWib5hBUdP8ak8r9KErcGDB2v9+vX6/vvv/9F1Ro4cqeHDhzvbGRkZSkpKUufOnRUXF/dPywTK5HA4lJqaqu7du8tqtZpdDvwYYw2+wliDrzDWqp4+Hu7nq75paWn65IkKvPgfqhRha8iQIfrmm2+0dOlS1alTx3k8ISFB+fn5Sk9Pd5ndOnDggBISEtxey2azyWazlTputVr5wwufYKzBVxhr8BXGGnyFsQZv8/X4MnU1QsMwNGTIEH3++edauHCh6tWr53K+TZs2slqtWrBggfPYpk2btHv3bnXo0MHX5QIAAABAuZk6szV48GDNmDFDX375pSIiIpzPYUVFRSkkJERRUVEaNGiQhg8frtjYWEVGRur+++9Xhw4dWIkQAAAAQKVmatiaPHmyJKlTp04ux6dOnarbbrtNkvTyyy8rICBA/fv3V15ennr27KnXX3/dx5UCAAAAQMWYGrYMwzhtH7vdrkmTJmnSpEk+qAgAAAAAPMPUZ7YAAAAAwF8RtgAAAADACwhbAAAAAOAFhC0AAAAA8ALCFgAAAAB4AWELAAAAALyAsAUAAAAAXkDYAgAAAAAvIGwBAAAAgBcQtgAAAADACwhbAAAAAOAFhC0AAAAA8ALCFgAAAAB4QZDZBXibYRiSpMzMTFmtVpOrgT9zOBzKyclRRkYGYw1exViDrzDW4CuMNfhKZmampBMZwdv8PmylpaVJkurVq2dyJQAAAAAqg7S0NEVFRXn9ffw+bMXGxkqSdu/e7ZMvKKqvjIwMJSUlac+ePYqMjDS7HPgxxhp8hbEGX2GswVeOHj2q5ORkZ0bwNr8PWwEBxY+lRUVF8YcXPhEZGclYg08w1uArjDX4CmMNvlKSEbz+Pj55FwAAAACoZghbAAAAAOAFfh+2bDabnnnmGdlsNrNLgZ9jrMFXGGvwFcYafIWxBl/x9VizGL5a9xAAAAAAqhG/n9kCAAAAADMQtgAAAADACwhbAAAAAOAFhC0AAAAA8IIqGbYKCwv11FNPqV69egoJCVGDBg307LPP6u9rfRiGoaefflqJiYkKCQlRt27dtGXLFpfrHD58WDfddJMiIyMVHR2tQYMGKSsry9cfB5XI0qVL1bdvX9WuXVsWi0VffPGFy3lPjau1a9fqkksukd1uV1JSksaPH+/tj4ZK5lRjzeFw6NFHH1XLli0VFham2rVr69Zbb9XevXtdrsFYQ3mc7u+1v7vnnntksVg0YcIEl+OMNZRHecbaxo0bdcUVVygqKkphYWE6//zztXv3buf53NxcDR48WHFxcQoPD1f//v114MABl2vs3r1bl112mUJDQxUfH68RI0aooKDA2x8PlcjpxlpWVpaGDBmiOnXqKCQkRM2bN9cbb7zh0sdXY61Khq1x48Zp8uTJeu2117Rx40aNGzdO48eP18SJE519xo8fr1dffVVvvPGGVqxYobCwMPXs2VO5ubnOPjfddJM2bNig1NRUffPNN1q6dKnuvvtuMz4SKons7Gydc845mjRpktvznhhXGRkZ6tGjh1JSUrRq1Sq98MILGjVqlN566y2vfz5UHqcaazk5OVq9erWeeuoprV69Wp999pk2bdqkK664wqUfYw3lcbq/10p8/vnnWr58uWrXrl3qHGMN5XG6sbZt2zZdfPHFatq0qRYvXqy1a9fqqaeekt1ud/YZNmyYvv76a82aNUtLlizR3r171a9fP+f5wsJCXXbZZcrPz9ePP/6o9957T++++66efvppr38+VB6nG2vDhw/X3LlzNW3aNG3cuFFDhw7VkCFD9NVXXzn7+GysGVXQZZddZtxxxx0ux/r162fcdNNNhmEYRlFRkZGQkGC88MILzvPp6emGzWYzPvzwQ8MwDOO3334zJBkrV6509pkzZ45hsViMP//80wefApWdJOPzzz93tj01rl5//XUjJibGyMvLc/Z59NFHjSZNmnj5E6GyOnmsufPTTz8Zkoxdu3YZhsFYw5kpa6z98ccfxllnnWWsX7/eSElJMV5++WXnOcYazoS7sTZgwADj5ptvLvM16enphtVqNWbNmuU8tnHjRkOSsWzZMsMwDGP27NlGQECAsX//fmefyZMnG5GRkS7jD9WHu7HWokUL41//+pfLsfPOO8944oknDMPw7VirkjNbF154oRYsWKDNmzdLkn799Vd9//336t27tyRpx44d2r9/v7p16+Z8TVRUlNq3b69ly5ZJkpYtW6bo6Gi1bdvW2adbt24KCAjQihUrfPhpUFV4alwtW7ZMHTt2VHBwsLNPz549tWnTJh05csRHnwZVzdGjR2WxWBQdHS2JsQbPKSoq0i233KIRI0aoRYsWpc4z1uAJRUVF+t///qfGjRurZ8+eio+PV/v27V1u/1q1apUcDofLv7NNmzZVcnKyy7+zLVu2VK1atZx9evbsqYyMDG3YsMFnnweV24UXXqivvvpKf/75pwzD0KJFi7R582b16NFDkm/HWpUMW4899piuv/56NW3aVFarVa1bt9bQoUN10003SZL2798vSS5fnJJ2ybn9+/crPj7e5XxQUJBiY2OdfYC/89S42r9/v9tr/P09gL/Lzc3Vo48+qhtuuEGRkZGSGGvwnHHjxikoKEgPPPCA2/OMNXjCwYMHlZWVpbFjx6pXr1769ttvdfXVV6tfv35asmSJpOKxEhwc7PyhUomT/51lrOF0Jk6cqObNm6tOnToKDg5Wr169NGnSJHXs2FGSb8da0D/4HKb5+OOPNX36dM2YMUMtWrTQmjVrNHToUNWuXVsDBw40uzwA8BiHw6HrrrtOhmFo8uTJZpcDP7Nq1Sq98sorWr16tSwWi9nlwI8VFRVJkq688koNGzZMknTuuefqxx9/1BtvvKFLL73UzPLgZyZOnKjly5frq6++UkpKipYuXarBgwerdu3aLrNZvlAlZ7ZGjBjhnN1q2bKlbrnlFg0bNkxjxoyRJCUkJEhSqRVFDhw44DyXkJCggwcPupwvKCjQ4cOHnX2Av/PUuEpISHB7jb+/ByCdCFq7du1Samqqc1ZLYqzBM7777jsdPHhQycnJCgoKUlBQkHbt2qWHHnpIdevWlcRYg2fUqFFDQUFBat68ucvxZs2aOVcjTEhIUH5+vtLT0136nPzvLGMNp3Ls2DE9/vjjeumll9S3b1+1atVKQ4YM0YABA/Sf//xHkm/HWpUMWzk5OQoIcC09MDDQ+VOTevXqKSEhQQsWLHCez8jI0IoVK9ShQwdJUocOHZSenq5Vq1Y5+yxcuFBFRUVq3769Dz4FqhpPjasOHTpo6dKlcjgczj6pqalq0qSJYmJifPRpUNmVBK0tW7Zo/vz5iouLcznPWIMn3HLLLVq7dq3WrFnj/FW7dm2NGDFC8+bNk8RYg2cEBwfr/PPP16ZNm1yOb968WSkpKZKkNm3ayGq1uvw7u2nTJu3evdvl39l169a5/ACg5IdRJwc5VE8Oh0MOh+OUWcGnY61i631UDgMHDjTOOuss45tvvjF27NhhfPbZZ0aNGjWMRx55xNln7NixRnR0tPHll18aa9euNa688kqjXr16xrFjx5x9evXqZbRu3dpYsWKF8f333xuNGjUybrjhBjM+EiqJzMxM45dffjF++eUXQ5Lx0ksvGb/88otzBThPjKv09HSjVq1axi233GKsX7/emDlzphEaGmq8+eabPv+8MM+pxlp+fr5xxRVXGHXq1DHWrFlj7Nu3z/nr7ysgMdZQHqf7e+1kJ69GaBiMNZTP6cbaZ599ZlitVuOtt94ytmzZYkycONEIDAw0vvvuO+c17rnnHiM5OdlYuHCh8fPPPxsdOnQwOnTo4DxfUFBgnH322UaPHj2MNWvWGHPnzjVq1qxpjBw50uefF+Y53Vi79NJLjRYtWhiLFi0ytm/fbkydOtWw2+3G66+/7ryGr8ZalQxbGRkZxoMPPmgkJycbdrvdqF+/vvHEE0+4fBNSVFRkPPXUU0atWrUMm81mdO3a1di0aZPLddLS0owbbrjBCA8PNyIjI43bb7/dyMzM9PXHQSWyaNEiQ1KpXwMHDjQMw3Pj6tdffzUuvvhiw2azGWeddZYxduxYX31EVBKnGms7duxwe06SsWjRIuc1GGsoj9P9vXYyd2GLsYbyKM9YmzJlitGwYUPDbrcb55xzjvHFF1+4XOPYsWPGfffdZ8TExBihoaHG1Vdfbezbt8+lz86dO43evXsbISEhRo0aNYyHHnrIcDgcvviIqCRON9b27dtn3HbbbUbt2rUNu91uNGnSxHjxxReNoqIi5zV8NdYshmEY5Z8HAwAAAACUR5V8ZgsAAAAAKjvCFgAAAAB4AWELAAAAALyAsAUAAAAAXkDYAgAAAAAvIGwBAAAAgBcQtgAAAADACwhbAAAAAOAFhC0AAE6jU6dOGjp0qNllAACqGMIWAKBSuO2222SxWGSxWGS1WlWvXj098sgjys3NNbs0AADOSJDZBQAAUKJXr16aOnWqHA6HVq1apYEDB8pisWjcuHFmlwYAQIUxswUAqDRsNpsSEhKUlJSkq666St26dVNqaqokKS8vTw888IDi4+Nlt9t18cUXa+XKlc7Xvvvuu4qOjna53hdffCGLxeJsjxo1Sueee64++OAD1a1bV1FRUbr++uuVmZnp7JOdna1bb71V4eHhSkxM1Isvvliqztdff12NGjWS3W5XrVq1dM0113j4KwEA8AeELQBApbR+/Xr9+OOPCg4OliQ98sgj+vTTT/Xee+9p9erVatiwoXr27KnDhw9X6Lrbtm3TF198oW+++UbffPONlixZorFjxzrPjxgxQkuWLNGXX36pb7/9VosXL9bq1aud53/++Wc98MAD+te//qVNmzZp7ty56tixo2c+NADAr3AbIQCg0vjmm28UHh6ugoIC5eXlKSAgQK+99pqys7M1efJkvfvuu+rdu7ck6e2331ZqaqqmTJmiESNGlPs9ioqK9O677yoiIkKSdMstt2jBggV6/vnnlZWVpSlTpmjatGnq2rWrJOm9995TnTp1nK/fvXu3wsLCdPnllysiIkIpKSlq3bq1B78KAAB/QdgCAFQanTt31uTJk5Wdna2XX35ZQUFB6t+/v9auXSuHw6GLLrrI2ddqtapdu3bauHFjhd6jbt26zqAlSYmJiTp48KCk4lmv/Px8tW/f3nk+NjZWTZo0cba7d++ulJQU1a9fX7169VKvXr109dVXKzQ09Ew/NgDAT3EbIQCg0ggLC1PDhg11zjnn6L///a9WrFihKVOmlOu1AQEBMgzD5ZjD4SjVz2q1urQtFouKiorKXWNERIRWr16tDz/8UImJiXr66ad1zjnnKD09vdzXAABUD4QtAEClFBAQoMcff1xPPvmkGjRooODgYP3www/O8w6HQytXrlTz5s0lSTVr1lRmZqays7OdfdasWVOh92zQoIGsVqtWrFjhPHbkyBFt3rzZpV9QUJC6deum8ePHa+3atdq5c6cWLlx4Bp8SAODPuI0QAFBpXXvttRoxYoQmT56se++9VyNGjFBsbKySk5M1fvx45eTkaNCgQZKk9u3bKzQ0VI8//rgeeOABrVixQu+++26F3i88PFyDBg3SiBEjFBcXp/j4eD3xxBMKCDjxs8lvvvlG27dvV8eOHRUTE6PZs2erqKjI5VZDAAAkwhYAoBILCgrSkCFDNH78eO3YsUNFRUW65ZZblJmZqbZt22revHmKiYmRVPxs1bRp0zRixAi9/fbb6tq1q0aNGqW77767Qu/5wgsvKCsrS3379lVERIQeeughHT161Hk+Ojpan332mUaNGqXc3Fw1atRIH374oVq0aOHRzw4AqPosxsk3uAMAAAAA/jGe2QIAAAAALyBsAQAAAIAXELYAAAAAwAsIWwAAAADgBYQtAAAAAPACwhYAAAAAeAFhCwAAAAC8gLAFAAAAAF5A2AIAAAAALyBsAQAAAIAXELYAAAAAwAv+H7MV0AdzRx8Q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2" name="AutoShape 4" descr="data:image/png;base64,iVBORw0KGgoAAAANSUhEUgAAA1sAAAIjCAYAAAD1OgEdAAAAOXRFWHRTb2Z0d2FyZQBNYXRwbG90bGliIHZlcnNpb24zLjcuMSwgaHR0cHM6Ly9tYXRwbG90bGliLm9yZy/bCgiHAAAACXBIWXMAAA9hAAAPYQGoP6dpAABvsUlEQVR4nO3dd3RU1d7G8WeSTGbSG4QESUKvgiIIYkF6UyygYkdFfVVQAUXFCle9FK+KImLjYgFEseulGLoFEEGkiPSmNAmENJJMkvP+ETI4ZAIJzsxJJt/PWizZ5+w585u4gTzZ5+xtMQzDEAAAAADAowLMLgAAAAAA/BFhCwAAAAC8gLAFAAAAAF5A2AIAAAAALyBsAQAAAIAXELYAAAAAwAsIWwAAAADgBYQtAAAAAPACwhYAAAAAeAFhCwCqAIvFolGjRjnb7777riwWi3bu3GlaTb5St25d3XbbbWaXgeMWL14si8WixYsXm10KAFR6hC0AMNnrr78ui8Wi9u3bm13KaZWEPLvdrj///LPU+U6dOunss882obKqY+fOnbJYLM5fAQEBio2NVe/evbVs2TKzywMAeBBhCwBMNn36dNWtW1c//fSTtm7dWq7X3HLLLTp27JhSUlK8XJ17eXl5Gjt2rCnv7S9uuOEGffDBB5o6daruvfdeLV++XJ07d9a6devMLg0A4CGELQAw0Y4dO/Tjjz/qpZdeUs2aNTV9+vRyvS4wMFB2u10Wi8XLFbp37rnn6u2339bevXtNeX9/cN555+nmm2/WwIED9fzzz+vDDz9UXl6eJk+ebHZpAAAPIWwBgImmT5+umJgYXXbZZbrmmmvKHbZOfmbr8ssvV/369d327dChg9q2betybNq0aWrTpo1CQkIUGxur66+/Xnv27Cl33Y8//rgKCwvLNbtVUFCgZ599Vg0aNJDNZlPdunX1+OOPKy8vz6WfYRh67rnnVKdOHYWGhqpz587asGGD22ump6dr6NChSkpKks1mU8OGDTVu3DgVFRW59Js5c6batGmjiIgIRUZGqmXLlnrllVfKrNXhcCg2Nla33357qXMZGRmy2+16+OGHnccmTpyoFi1aKDQ0VDExMWrbtq1mzJhx2q+JO5dccokkadu2bS7Ht2/frmuvvVaxsbEKDQ3VBRdcoP/9738ufcp6hs/d81Ult3r+9ttv6ty5s0JDQ3XWWWdp/PjxpWr6448/dNVVVyksLEzx8fEaNmxYqf9vkrRlyxb1799fCQkJstvtqlOnjq6//nodPXr0jL4WAOAvCFsAYKLp06erX79+Cg4O1g033KAtW7Zo5cqVFb7OgAEDtGPHjlKv3bVrl5YvX67rr7/eeez555/XrbfeqkaNGumll17S0KFDtWDBAnXs2FHp6enler969erp1ltvLdfs1p133qmnn35a5513nl5++WVdeumlGjNmjEtNkvT000/rqaee0jnnnKMXXnhB9evXV48ePZSdne3SLycnR5deeqmmTZumW2+9Va+++qouuugijRw5UsOHD3f2S01N1Q033KCYmBiNGzdOY8eOVadOnfTDDz+UWavVatXVV1+tL774Qvn5+S7nvvjiC+Xl5Tnrfvvtt/XAAw+oefPmmjBhgkaPHq1zzz1XK1asKNfX8GQlQSkmJsZ57MCBA7rwwgs1b9483XfffXr++eeVm5urK664Qp9//vkZvY8kHTlyRL169dI555yjF198UU2bNtWjjz6qOXPmOPscO3ZMXbt21bx58zRkyBA98cQT+u677/TII4+4XCs/P189e/bU8uXLdf/992vSpEm6++67tX379nKPJwDwWwYAwBQ///yzIclITU01DMMwioqKjDp16hgPPvhgqb6SjGeeecbZnjp1qiHJ2LFjh2EYhnH06FHDZrMZDz30kMvrxo8fb1gsFmPXrl2GYRjGzp07jcDAQOP555936bdu3TojKCio1PGTlbzvypUrjW3bthlBQUHGAw884Dx/6aWXGi1atHC216xZY0gy7rzzTpfrPPzww4YkY+HChYZhGMbBgweN4OBg47LLLjOKioqc/R5//HFDkjFw4EDnsWeffdYICwszNm/e7HLNxx57zAgMDDR2795tGIZhPPjgg0ZkZKRRUFBwys90snnz5hmSjK+//trleJ8+fYz69es721deeaXLZy2vHTt2GJKM0aNHG3/99Zexf/9+47vvvjPOP/98Q5Ixa9YsZ9+hQ4cakozvvvvOeSwzM9OoV6+eUbduXaOwsNAwjNLjocSiRYsMScaiRYucxy699FJDkvH+++87j+Xl5RkJCQlG//79nccmTJhgSDI+/vhj57Hs7GyjYcOGLtf85ZdfStUNACjGzBYAmGT69OmqVauWOnfuLKl4efcBAwZo5syZKiwsrNC1IiMj1bt3b3388ccyDMN5/KOPPtIFF1yg5ORkSdJnn32moqIiXXfddTp06JDzV0JCgho1aqRFixaV+z3r16+vW265RW+99Zb27dvnts/s2bMlyWXGSZIeeughSXLeDjd//nzl5+fr/vvvd3kObejQoaWuOWvWLF1yySWKiYlx+QzdunVTYWGhli5dKkmKjo5Wdna2UlNTy/2ZJKlLly6qUaOGPvroI+exI0eOKDU1VQMGDHAei46O1h9//HFGM5GS9Mwzz6hmzZpKSEjQJZdcoo0bN+rFF1/UNddc4+wze/ZstWvXThdffLHzWHh4uO6++27t3LlTv/322xm9d3h4uG6++WZnOzg4WO3atdP27dtd3jsxMdGlntDQUN19990u14qKipIkzZs3Tzk5OWdUDwD4K8IWAJigsLBQM2fOVOfOnbVjxw5t3bpVW7duVfv27XXgwAEtWLCgwtccMGCA9uzZ41w+fNu2bVq1apVLQNiyZYsMw1CjRo1Us2ZNl18bN27UwYMHK/SeTz75pAoKCsp8dmvXrl0KCAhQw4YNXY4nJCQoOjpau3btcvaTpEaNGrn0q1mzpsttdSWfYe7cuaXq79atmyQ5P8N9992nxo0bq3fv3qpTp47uuOMOzZ0797SfKSgoSP3799eXX37pfD7ps88+k8PhcPlaPvroowoPD1e7du3UqFEjDR48+JS3KJ7s7rvvVmpqqr7++msNGzZMx44dKxWyd+3apSZNmpR6bbNmzZznz0SdOnVKLa4SExOjI0eOuLx3w4YNS/U7uZ569epp+PDheuedd1SjRg317NlTkyZN4nktAJAUZHYBAFAdLVy4UPv27dPMmTM1c+bMUuenT5+uHj16VOiaffv2VWhoqD7++GNdeOGF+vjjjxUQEKBrr73W2aeoqEgWi0Vz5sxRYGBgqWuEh4dX6D3r16+vm2++WW+99ZYee+yxMvt5ctXEoqIide/evdSzQyUaN24sSYqPj9eaNWs0b948zZkzR3PmzNHUqVN166236r333jvle1x//fV68803NWfOHF111VX6+OOP1bRpU51zzjnOPs2aNdOmTZv0zTffaO7cufr000/1+uuv6+mnn9bo0aNP+zkaNWrkDIiXX365AgMD9dhjj6lz586lFjQ5nbK+vmXNkLr7fy/JZVa0Il588UXddttt+vLLL/Xtt9/qgQce0JgxY7R8+XLVqVPnjK4JAP6AsAUAJpg+fbri4+M1adKkUuc+++wzff7553rjjTcUEhJS7muGhYXp8ssv16xZs/TSSy/po48+0iWXXKLatWs7+zRo0ECGYahevXrOUPJPPfnkk5o2bZrGjRtX6lxKSoqKioq0ZcsW52yMVLzwQ3p6unOfsJL/btmyxWVVxb/++stltqXkM2RlZTmDyqkEBwerb9++6tu3r4qKinTffffpzTff1FNPPVVqtu3vOnbsqMTERH300Ue6+OKLtXDhQj3xxBOl+oWFhWnAgAEaMGCA8vPz1a9fPz3//PMaOXKk7Hb7aev7uyeeeEJvv/22nnzySecMXEpKijZt2lSq7++//+48L51YVOPkBSnOdOar5Nrr16+XYRguYc5dPZLUsmVLtWzZUk8++aR+/PFHXXTRRXrjjTf03HPPnXENAFDVcRshAPjYsWPH9Nlnn+nyyy/XNddcU+rXkCFDlJmZqa+++qrC1x4wYID27t2rd955R7/++qvLbW+S1K9fPwUGBmr06NGlZjEMw1BaWlqF37NBgwa6+eab9eabb2r//v0u5/r06SNJmjBhgsvxl156SZJ02WWXSZK6desmq9WqiRMnutR18usk6brrrtOyZcs0b968UufS09NVUFAgSaU+S0BAgFq1aiVJbpcvP7nvNddco6+//loffPCBCgoKSn0tT75+cHCwmjdvLsMw5HA4Tnl9d6Kjo/V///d/mjdvntasWSOp+Ov3008/OW8NlaTs7Gy99dZbqlu3rpo3by6p+P+BJOfzalLxrNZbb71V4TpK9OnTR3v37tUnn3ziPJaTk1PqmhkZGc6veYmWLVsqICDgtF9nAPB3zGwBgI999dVXyszM1BVXXOH2/AUXXODc4Pjkb/BPp0+fPoqIiNDDDz+swMBA9e/f3+V8gwYN9Nxzz2nkyJHauXOnrrrqKkVERGjHjh36/PPPdffdd7vsI1VeTzzxhD744ANt2rRJLVq0cB4/55xzNHDgQL311ltKT0/XpZdeqp9++knvvfeerrrqKufiIDVr1tTDDz+sMWPG6PLLL1efPn30yy+/aM6cOapRo4bLe40YMUJfffWVLr/8ct12221q06aNsrOztW7dOn3yySfauXOnatSooTvvvFOHDx9Wly5dVKdOHe3atUsTJ07Uueee6zLLVpYBAwZo4sSJeuaZZ9SyZctSr+nRo4cSEhJ00UUXqVatWtq4caNee+01XXbZZYqIiKjw11CSHnzwQU2YMEFjx47VzJkz9dhjj+nDDz9U79699cADDyg2NlbvvfeeduzYoU8//VQBAcU/M23RooUuuOACjRw5UocPH1ZsbKxmzpxZKgRVxF133aXXXntNt956q1atWqXExER98MEHCg0Ndem3cOFCDRkyRNdee60aN26sgoICffDBB27HHwBUO6atgwgA1VTfvn0Nu91uZGdnl9nntttuM6xWq3Ho0CHDME6/9Pvf3XTTTYYko1u3bmVe/9NPPzUuvvhiIywszAgLCzOaNm1qDB482Ni0adMpa//70u8nGzhwoCGp1HLoDofDGD16tFGvXj3DarUaSUlJxsiRI43c3FyXfoWFhcbo0aONxMREIyQkxOjUqZOxfv16IyUlxWXpd8MoXv585MiRRsOGDY3g4GCjRo0axoUXXmj85z//MfLz8w3DMIxPPvnE6NGjhxEfH28EBwcbycnJxv/93/8Z+/btO+VnLFFUVGQkJSUZkoznnnuu1Pk333zT6NixoxEXF2fYbDajQYMGxogRI4yjR4+e8rolS7+/8MILbs/fdtttRmBgoLF161bDMAxj27ZtxjXXXGNER0cbdrvdaNeunfHNN9+Uet22bduMbt26GTabzahVq5bx+OOPG6mpqW6Xfne3ZP3AgQONlJQUl2O7du0yrrjiCiM0NNSoUaOG8eCDDxpz5851ueb27duNO+64w2jQoIFht9uN2NhYo3Pnzsb8+fNP+XUAgOrAYhhn+DQsAAAAAKBMPLMFAAAAAF5A2AIAAAAALyBsAQAAAIAXELYAAAAAwAsIWwAAAADgBYQtAAAAAPACv9/UuKioSHv37lVERIQsFovZ5QAAAAAwiWEYyszMVO3atZ0bw3uT34etvXv3KikpyewyAAAAAFQSe/bsUZ06dbz+Pn4ftiIiIiRJO3bsUGxsrMnVwJ85HA59++236tGjh6xWq9nlwI8x1uArjDX4CmMNvnL48GHVq1fPmRG8ze/DVsmtgxEREYqMjDS5Gvgzh8Oh0NBQRUZG8g8FvIqxBl9hrMFXGGvwFYfDIUk+e7yIBTIAAAAAwAsIWwAAAADgBYQtAAAAAPACv39mCwAAANWDYRgqKChQYWGh2aXAJIGBgQoKCqo0Wz4RtgAAAFDl5efna9++fcrJyTG7FJgsNDRUiYmJCg4ONrsUwhYAAACqtqKiIu3YsUOBgYGqXbu2goODK83MBnzHMAzl5+frr7/+0o4dO9SoUSOfbFx8KoQtAAAAVGn5+fkqKipSUlKSQkNDzS4HJgoJCZHVatWuXbuUn58vu91uaj0skAEAAAC/YPYsBiqHyjQOKk8lAAAAAOBHCFsAAAAA4AWELQAAAKASW7x4sSwWi9LT0yVJ7777rqKjo02t6Z8aNWqUzj33XLPL8DrCFgAAAGCyZcuWKTAwUJdddtlp+w4YMECbN2/2aj0lAa9Fixal9i2Ljo7Wu+++69X39xeELQAAAMBkU6ZM0f3336+lS5dq7969p+wbEhKi+Ph4n9S1fft2vf/++z55L39E2AIAAIDfyskvKPNXrqPQo33PVFZWlj766CPde++9uuyyy047a/T32wg3b94si8Wi33//3aXPyy+/rAYNGjjb69evV+/evRUeHq5atWrplltu0aFDh05b2/33369nnnlGeXl5ZfbZvXu3rrzySoWHhysyMlLXXXedDhw44NJn7NixqlWrliIiIjRo0CDl5uaWus4777yjZs2ayW63q2nTpnr99ded5/Lz8zVkyBAlJibKbrcrJSVFY8aMOW39ZjN1n61Ro0Zp9OjRLseaNGniHCy5ubl66KGHNHPmTOXl5alnz556/fXXVatWLTPKBQAAQBXT/Ol5ZZ7r3KSmpt7eztlu8+x8HTspVJVoXy9WH/1fB2f74nGLdDg736XPzrGnvwXQnY8//lhNmzZVkyZNdPPNN2vo0KEaOXJkuTZmbty4sdq2bavp06fr2WefdR6fPn26brzxRklSenq6unTpojvvvFMvv/yyjh07pkcffVTXXXedFi5ceMrrDx06VNOmTdPEiRP18MMPlzpfVFTkDFpLlixRQUGBBg8erAEDBmjx4sXOzzdq1ChNmjRJF198sT744AO9+uqrql+/vku9Tz/9tF577TW1bt1av/zyi+666y6FhYVp4MCBevXVV/XVV1/p448/VnJysvbs2aM9e/aU58trKtM3NW7RooXmz5/vbAcFnShp2LBh+t///qdZs2YpKipKQ4YMUb9+/fTDDz+YUSoAAADgcVOmTNHNN98sSerVq5eOHj2qJUuWqFOnTuV6/U033aTXXnvNGbY2b96sVatWadq0aZLkDDD//ve/na/573//q6SkJG3evFmNGzcu89qhoaF65pln9Pjjj+uuu+5SVFSUy/kFCxZo3bp12rFjh5KSkiRJ77//vlq0aKGVK1fq/PPP14QJEzRo0CANGjRIkvTcc89p/vz5LrNbzzzzjF588UX169dPklSvXj399ttvevPNNzVw4EDt3r1bjRo10sUXXyyLxaKUlJRyfW3MZnrYCgoKUkJCQqnjR48e1ZQpUzRjxgx16dJFkjR16lQ1a9ZMy5cv1wUXXFCh91mw8aAio11/+lAj3Ka2dWOd7W837FeRYbh9fUxosNrXj3O2F/5+QPkFRW77RtqturBhDWd78aaDpaaeS4TZgnRJo5rO9ndb/lJ2nvtpaJs1UJ2bnLg/98dth5RxzOG2rzUwQF2bnZgBXLE9TUdy8t32DbBY1KPFif8Hq3Yd1l+ZZU8V92yR4PxJyy+7j+hARq6CAgLUoUGcwmymDykAAACn3/7Vs8xzASfNHK16qlu5+37/aOd/VthxmzZt0k8//aTPP/9cUvH3xgMGDNCUKVPKHbauv/56Pfzww87vkadPn67zzjtPTZs2lST9+uuvWrRokcLDw0u9dtu2bacMW5I0aNAgvfjiixo3bpxLYJOkjRs3KikpyRm0JKl58+aKjo7Wxo0bdf7552vjxo265557XF7XoUMHLVq0SJKUnZ2tbdu2adCgQbrrrrucfQoKCpzh7rbbblP37t3VpEkT9erVS5dffrl69OhRrq+PmUz/znjLli2qXbu27Ha7OnTooDFjxig5OVmrVq2Sw+FQt24nBn3Tpk2VnJysZcuWlRm28vLyXO4pzcjIkCQ9/Ol6BdhCXfpe2qiG3rn1PGf7wZm/6JjDfYA6v26MZgw639l+eNavOpztPui0PCtSn91zor4nP1+nP9JL35cqSQ1qhmnuAxc526O/2qCtf2W77Vs7yq4lD3d0tsfO3qi1f2a47RsTatVPI0/8JfBS6iat2HHEbV+7NUDrnj7xdX51wRYt2Vz2Pbyb/9XdGbbeWrJNczYU35Pbr3Vtjet3dpmv83cOh8Plv4C3MNbgK4w1+Mo/HWsOh0OGYaioqEhFRa7fy9mDTr1Ewd/7/9O+J793ebzzzjsqKChQ7dq1nccMw5DNZtOrr76qqKgo53VLPt/f25IUHx+vzp07a/r06WrXrp1mzJihe+65x3k+MzNTl19+ucaOHVvq/RMTE93W/ff3CAgI0LPPPqs77rhD9913n0stxvGJirKucXLtf/+MJcdLvl9/88031b59e5drBAYGqqioSOeee662bdumOXPmaMGCBbruuuvUtWtXzZo1y+37GoYhh8OhwMBAl3O+/vvM1LDVvn17vfvuu2rSpIn27dun0aNH65JLLtH69eu1f/9+BQcHl9pDoFatWtq/f3+Z1xwzZkyp58AkKSXcUJDdddYqIOugZs+e7WwnhQbIUeT+3lj7sTSXvgnWAEVFuO8b5kh36VsjIEDWMvpGG5kufaOMANUro29EYI5L3zBH2X1DAvNc+gYfK7tvkKXApW9gZtl9JWn27Dkq+eFOYXqAaoVYdOCYRWu2/qnZs3eX+brqIjU11ewSUE0w1uArjDX4ypmOtZI7pbKyspSf7/5OnsqooKBA77//vp577jl17uw6U3bzzTdr6tSpuuOOO5STkyOpODQFBAQoNzdXhmE4Q4ok9evXT88884z69u2r7du3q0+fPs7zLVq00Ndff63Y2FiXR3YkqbCw0OU6JU5+z549e6pp06Z68sknZRiGcnNzlZGR4Xx+6rffflOdOnUkSb///rvS09OVkpKijIwMNWrUSN9//72uuuoq5/V//PFH53uHhIQoMTFRv//+u/r27Vuqlr/X17t3b+eva665Rrt27VJMTIxL//z8fB07dkxLly5VQYHrHWMln8tXLIZRxn1zJij5n/LSSy8pJCREt99+e6mVT9q1a6fOnTtr3Lhxbq/hbmYrKSlJ+/btU1xcnNvX4J/5fmuabn9vlZrUCtc3Qy40uxzTOBwOpaamqnv37rJarWaXAz/GWIOvMNbgK/90rOXm5mrPnj2qW7eu7Ha7Fyr0ji+++EI33HCD9u/fX+pZqMcee0yLFi3SihUrtHjxYnXt2lVpaWnOPa6GDx+uw4cPO/tnZmYqMTFRjRs3Vo0aNfTtt986z+3du1fnnXeeOnbsqBEjRig2NlZbt27VRx99pLfffrvU7I+kUu8pSQsXLlTv3r0lFc9C3XbbbTIMQ23btlVERIReeuklFRQUaMiQIQoPD3cuvvHRRx/pjjvu0GuvvaaLLrpIM2bM0IQJE1S/fn2tXr1aUvEM39ChQzVmzBj17NlTeXl5+vnnn5Wenq5hw4bp5ZdfVkJCglq3bq2AgAC98MILmj17tvbs2aOAANdZxtzcXO3cuVNJSUmlxkNaWpoSExN19OhRRUZGnuH/ufIz/TbCv4uOjlbjxo21detWde/eXfn5+UpPT3eZ3Tpw4IDbZ7xK2Gw22Wy2UsetViv/UHhJdFjx1zsrr5CvsRhr8B3GGnyFsQZfOdOxVlhYKIvFooCAgFLfeFdmU6dOVbdu3UrNzEjSNddcoxdeeEHr1693fqaSz/f3domoqCj17dtXH3/8sf773/+6nKtTp45++OEHPfroo+rVq5fy8vKUkpKiXr16KSgoyO2qhye/pyR169ZNXbp00bfffuty/Msvv9T999+vTp06KSAgQL169dLEiROd52+44Qbt2LFDjz32mHJzc9W/f3/de++9mjdvnrPP3XffrfDwcL3wwgt65JFHFBYWppYtW2ro0KEKCAhQZGSk/vOf/2jLli0KDAzU+eefr9mzZ5eaqSup2WKxuB1Pvv67rFLNbGVlZSk5OVmjRo3SwIEDVbNmTX344Yfq37+/pOIHCJs2bXrKZ7ZOlpGRoaioKB06dIiZLS/ZejBT3V5aqqgQq359pvI/qOgtDodDs2fPVp8+ffimBF7FWIOvMNbgK/90rOXm5mrHjh2qV69elZrZgnecajykpaWpRo0a1WNm6+GHH1bfvn2VkpKivXv36plnnlFgYKBuuOEGRUVFadCgQRo+fLhiY2MVGRmp+++/Xx06dKjwSoTwrnBb8V+KWXkFMgyjXHtCAAAAAP7O1LD1xx9/6IYbblBaWppq1qypiy++WMuXL1fNmsVLob/88ssKCAhQ//79XTY1RuVSM8Km5SO7Ktxeqe5KBQAAAExl6nfHM2fOPOV5u92uSZMmadKkST6qCGciMMCihCim7AEAAIC/qzpPEAIAAABAFULYgke8umCLHvnkV+085H5DZgAAAG+rROu+wUSVaRwQtuAR36zdq49//kN/ph8zuxQAAFDNlKxg6OsNa1E5lYyDyrCKKisawCPCbcVDKTO34DQ9AQAAPCswMFDR0dE6ePCgJCk0NJTVkashwzCUk5OjgwcPKjo62u1mzb5G2IJHRNhPLP8OAADgawkJCZLkDFyovqKjo53jwWyELXhEybLvP+88rFqRNl3SqKbz3PdbDikrz+HSv2aEXeclR/NTJwAA4BEWi0WJiYmKj4+Xw+E4/Qvgl6xWa6WY0SpB2IJHRIUUz2zNXLlHK3ce1oKHOjnP/eubDdp8IKvUaz7+vw5qVy/WVyUCAIBqIDAwsFJ9s43qjbAFj7ixXbL2HM7RsfxCnRUT4nKuRe0oRdpPPKC4+UCmMnILtOdwDmELAAAAfouwBY84+6wofTCovdtzLw8416V953srNX/jQeUXFvmgMgAAAMAchC343ODODXVj+2Q1TYg0uxQAAADAawhb8LnWyTFmlwAAAAB4HZsaAwAAAIAXMLMFn1v7R7o27c9Uk4QItaoTbXY5AAAAgFcwswWf+3LNXo34ZK1mr9tvdikAAACA1xC24HPBQcXDLr+A1QgBAADgvwhb8LngwOJhl1dQaHIlAAAAgPcQtuBzzGwBAACgOiBswedsJWGLTY0BAADgxwhb8DlmtgAAAFAdELbgcyXPbBG2AAAA4M/YZws+16FBnF69obVqR9nNLgUAAADwGsIWfC4lLkwpcWFmlwEAAAB4FbcRAgAAAIAXMLMFn0vLytNPOw7Lbg1U56bxZpcDAAAAeAVhCz63+UCW7p2+Wg3jwwlbAAAA8FvcRgifY+l3AAAAVAeELficjbAFAACAaoCwBZ9zzmwVErYAAADgvwhb8LmSTY3zHIUmVwIAAAB4D2ELPsfMFgAAAKoDwhZ8ruSZLUehoaIiw+RqAAAAAO9g6Xf4XLg9SOP6t3TOcAEAAAD+iLAFn7MFBWrA+clmlwEAAAB4FVMLMM2K7Wk6lJVndhkAAACAVxC2YIrFmw5q5c7DuuPdlWaXAgAAAHgFtxHCFPM3HtC05bsVYWcIAgAAwD8xswVTPNC1kSQpK69AhsGKhAAAAPA/hC2YIsJmlSQZhpSTz+bGAAAA8D+ELZjCbg1QYIBFUvHsFgAAAOBvCFswhcViUbit+HmtzFzCFgAAAPwPYQumKVkcg5ktAAAA+COWgoNperVIUEauQ5GsSAgAAAA/xHe5MM2Tlzc3uwQAAADAa7iNEAAAAAC8gLAF0xiGoay8AuXk88wWAAAA/A9hC6Z5/PP1OvuZeXp76Q6zSwEAAAA8jrAF05xYjdBhciUAAACA5xG2YJoIG0u/AwAAwH8RtmCa8OMzWxlsagwAAAA/RNiCacJLZrYIWwAAAPBDhC2Y5sQzW4QtAAAA+B/CFkwTbrNKYmYLAAAA/inI7AJQfSVE2dX77AQlxYaaXQoAAADgcYQtmKZhfLgm39zG7DIAAAAAr+A2QgAAAADwAsIWTGUYhrLzClRUZJhdCgAAAOBRhC2YxjAMNX5yjlo8M09/ZeWZXQ4AAADgUYQtmMZisSjEGihJymRFQgAAAPgZwhZMFWE/vvw7e20BAADAz1SasDV27FhZLBYNHTrUeaxTp06yWCwuv+655x7zioTHhduOb2zMzBYAAAD8TKVY+n3lypV688031apVq1Ln7rrrLv3rX/9ytkND2ZPJn0TYj4etPIfJlQAAAACeZfrMVlZWlm666Sa9/fbbiomJKXU+NDRUCQkJzl+RkZEmVAlvCT8etjKY2QIAAICfMX1ma/DgwbrsssvUrVs3Pffcc6XOT58+XdOmTVNCQoL69u2rp5566pSzW3l5ecrLO7GyXUZGhiTJ4XDI4WD2pLIJO75AxtGcvCr//6ek/qr+OVD5MdbgK4w1+ApjDb7i6zFmatiaOXOmVq9erZUrV7o9f+ONNyolJUW1a9fW2rVr9eijj2rTpk367LPPyrzmmDFjNHr06FLHFy1axC2IlZA106JWsRYd2PabZh/ZYHY5HpGammp2CagmGGvwFcYafIWxBm/Lycnx6ftZDMMwZTfZPXv2qG3btkpNTXU+q9WpUyede+65mjBhgtvXLFy4UF27dtXWrVvVoEEDt33czWwlJSVp3759iouL8/jnAEo4HA6lpqaqe/fuslqtZpcDP8ZYg68w1uArjDX4SlpamhITE3X06FGfPJ5k2szWqlWrdPDgQZ133nnOY4WFhVq6dKlee+015eXlKTAw0OU17du3l6RThi2bzSabzVbquNVq5Q8vfIKxBl9hrMFXGGvwFcYavM3X48u0sNW1a1etW7fO5djtt9+upk2b6tFHHy0VtCRpzZo1kqTExERflAgfMQxDjkJDwUGmr9cCAAAAeIxpYSsiIkJnn322y7GwsDDFxcXp7LPP1rZt2zRjxgz16dNHcXFxWrt2rYYNG6aOHTu6XSIeVdMXv/yph2b9qo6Namjq7e3MLgcAAADwGNNXIyxLcHCw5s+frwkTJig7O1tJSUnq37+/nnzySbNLgwfZrQEqLDKUydLvAAAA8DOVKmwtXrzY+fukpCQtWbLEvGLgE+G24vtms/IIWwAAAPAvPCQDU5VsaszMFgAAAPwNYQumCrcVhy1mtgAAAOBvCFswVYT9RNgyacs3AAAAwCsIWzBVSdgqLDKU6ygyuRoAAADAcyrVAhmofkKsgbqkUQ2FBQfJUVSkEJXeXw0AAACoighbMJXFYtEHg9pLkrYcyNSPWw+V2bdD/RqKCi1evXDbX1naciDTeS7CblX7erEKCmSyFgAAAJUDYQuVxle/7tXEhVvLPP/1kIvVMjRKkjRvw36Nn7vJ5fyYfi11Q7tkr9YIAAAAlBdhC5VG7egQtU2JKfN8SPCJWwwTo+zOvn8cOab9GbnaeSjb6zUCAAAA5UXYQqVxQ7vkcs9MXd26jq5uXUeS9Mr8LXp5/mZlsnw8AAAAKhEecEGVV7IxchYbIwMAAKASYWYLVV7r5Gjd36WhmidGml0KAAAA4ETYQpV3XnKMzksu+1kvAAAAwAzcRggAAAAAXkDYQpWXX1CkbX9l6be9GWaXAgAAADgRtlDl7UrLVtcXl+jGd5abXQoAAADgRNhClff31QgNwzC5GgAAAKAYYQtVXoTdKkkqKDKUV1BkcjUAAABAMcIWqrxQa6AsluLfZ+Q6zC0GAAAAOI6whSovIMCi8GA2NgYAAEDlQtiCXyh5bmvjvkyTKwEAAACKEbbgFyLtViVE2vX2d9tZJAMAAACVQpDZBQCecH/XhtqXnqs7L6knS8kDXAAAAICJCFvwC5e3qm12CQAAAIALbiMEAAAAAC8gbMFv3PTOcrUcNU/LtqWZXQoAAABA2IL/yMkvVGZugTLZawsAAACVAGELfiPcVvwIYiZ7bQEAAKASIGzBb0Qc32srK4+wBQAAAPMRtuA3Sma2CFsAAACoDAhb8BvhNqskbiMEAABA5UDYgt8Id95GyAIZAAAAMB9hC34jOTZU5yRFKzEqxOxSAAAAAAWZXQDgKde0qaNr2tQxuwwAAABAEmELfui7LX8p+/giGeelxCg+wm5yRQAAAKiOCFvwO6O//k1bD2ZJkpomRGju0I4mVwQAAIDqiGe24HfOrh2pVnWiJEk7DmWbXA0AAACqK8IW/M6E61vr/TvaSZLyCoqUX1BkckUAAACojghb8EththN3yGazyTEAAABMQNiCX7IGBshuLR7eWYQtAAAAmIAFMuC3OjWOV6FhKCDAYnYpAAAAqIYIW/Bbb9zSxuwSAAAAUI1xGyEAAAAAeAFhC37PMAyzSwAAAEA1RNiC3xr+0Ro1fmKOpq/YbXYpAAAAqIYIW/BfFim/sIjVCAEAAGAKwhb8VqTdKknKyiVsAQAAwPcIW/Bb4cc3NmZmCwAAAGZg6Xf4rXB78fDetD9Tv+w+otbJMc5zc9fvc+kbYLHoggZxztkwAAAA4J8ibMFvRYUUB6dl29P09nfb9fpNJ/bdumfa6lL9e5+doMk3szcXAAAAPIOwBb/VvXktLfr9oA5n56tBzXCXc21TTsxyZeQ6tPlAlnam5fi6RAAAAPgxwhb8Vo1wm966ta3bc5/ce6Hz96t3H1G/139UVp7DV6UBAACgGiBsodqrGW5Tx8Y1lRhpN7sUAAAA+BHCFqq9pNhQvX9HO7PLAAAAgJ9h6XcAAAAA8ALCFnBcUZEhwzDMLgMAAAB+grAFSLrg3wvU4InZrEgIAAAAjyFsAccZhpSVW2B2GQAAAPAThC1AUoS9eK2YTJZ/BwAAgIcQtgBJ4SVhi5ktAAAAeEilCVtjx46VxWLR0KFDncdyc3M1ePBgxcXFKTw8XP3799eBAwfMKxJ+K9xWHLa4jRAAAACeUinC1sqVK/Xmm2+qVatWLseHDRumr7/+WrNmzdKSJUu0d+9e9evXz6Qq4c9KbiPMyiNsAQAAwDNMD1tZWVm66aab9PbbbysmJsZ5/OjRo5oyZYpeeukldenSRW3atNHUqVP1448/avny5SZWDH8UbgtSWHAgYQsAAAAeE2R2AYMHD9Zll12mbt266bnnnnMeX7VqlRwOh7p16+Y81rRpUyUnJ2vZsmW64IIL3F4vLy9PeXl5znZGRoYkyeFwyOFg8QO4F2EL1K0XJKt93egzHiclr2OcwdsYa/AVxhp8hbEGX/H1GDM1bM2cOVOrV6/WypUrS53bv3+/goODFR0d7XK8Vq1a2r9/f5nXHDNmjEaPHl3q+KJFixQaGvqPa4Z/qpkj7c+xaEfuFi3+ziJHkdQ85sw2OE5NTfVwdYB7jDX4CmMNvsJYg7fl5Ph2T1XTwtaePXv04IMPKjU1VXa73WPXHTlypIYPH+5sZ2RkKCkpSZ07d1ZcXJzH3gf+6c/0Yxrx4neyBQVo/TPdTv+Cv3E4HEpNTVX37t1ltVq9VCHAWIPvMNbgK4w1+EpaWppP38+0sLVq1SodPHhQ5513nvNYYWGhli5dqtdee03z5s1Tfn6+0tPTXWa3Dhw4oISEhDKva7PZZLPZSh23Wq384cVpxYQX/zevoEiGJVDBQRV/rJGxBl9hrMFXGGvwFcYavM3X48u0sNW1a1etW7fO5djtt9+upk2b6tFHH1VSUpKsVqsWLFig/v37S5I2bdqk3bt3q0OHDmaUjGqgZAl4qXhlwtigYBOrAQAAQFVmWtiKiIjQ2Wef7XIsLCxMcXFxzuODBg3S8OHDFRsbq8jISN1///3q0KFDmYtjAP9UYIBFocGByskvVFZugWLDCFsAAAA4M6avRngqL7/8sgICAtS/f3/l5eWpZ8+eev31180uC34u3BaknPxCZeSyIhIAAADOXKUKW4sXL3Zp2+12TZo0SZMmTTKnIFRL4fYgHczMY88tAAAA/COmb2oMVDYRx5/bysolbAEAAODMVaqZLaAyuOPieso45lCThAizSwEAAEAVRtgCTnLluWeZXQIAAAD8ALcRAgAAAIAXMLMFnGRv+jHtPpyjGuE2NYwPN7scAAAAVFGELeAkH/60WxMXblWnJjV1/flJLufOSYpWYlSISZUBAACgKiFsASeJCrFKkhZv+kuLN/3lcm7iDa3V9xzCFgAAAE6PsAWcpE/LRC3fnqb0nNKbGseGBZtQEQAAAKoiwhZwktrRIXpn4Pluz2XlFej3/RkKsFjUuBZLwwMAAKBsrEYIVMD3Ww6p14Tv9Nina80uBQAAAJUcYQuogAh78WRwVl6ByZUAAACgsiNsARXgDFu5hC0AAACcGmELqIBwW3HYyiRsAQAA4DQIW0AFhJfMbOUXqKjIMLkaAAAAVGaELaACImzFe3AZhpTjKDS5GgAAAFRmhC2gAuzWAAUGWCTx3BYAAABOjX22gAqwWCy6r1MDWQMDZLfyswoAAACUjbAFVNBDPZqYXQIAAACqAH40DwAAAABewMwWUEEHM3P1884jOnrMoZhQq/N4QUGhfk2z6JJch2Ktxce3HszU1oNZJ13BorZ1Y1Qj3ObDqgEAAOBrhC2ggh7/bJ3mbzxYxtlA9UvPVWxEqCRp9rr9eil1c6leLc+K0tf3X+zFKgEAAGA2whZQQXdcVE/ZeYVyFBa5HDcMQ4ePHJE9ONB5LDHKrrYpMc52XkGR1v15VDvTsn1WLwAAAMxB2AIq6MKGNXRhwxqljjscDs2ePVspsaHOY9e2TdK1bZOc7YOZuWr3/AJl5RXIMAxZLBaf1AwAAADf80jYSk9PV3R0tCcuBfi1uDCbfnysiyLs/JwDAADA31V4NcJx48bpo48+cravu+46xcXF6ayzztKvv/7q0eIAfxMYYFHt6BBF2K3MagEAAPi5CoetN954Q0lJxbdFpaamKjU1VXPmzFHv3r01YsQIjxcIAAAAAFVRhe9l2r9/vzNsffPNN7ruuuvUo0cP1a1bV+3bt/d4gYC/mbRoq3an5eieTg1Ur0aY2eUAAADASyo8sxUTE6M9e/ZIkubOnatu3bpJKl6JrbCw0LPVAX7o61/36qOf9+iPIzlmlwIAAAAvqvDMVr9+/XTjjTeqUaNGSktLU+/evSVJv/zyixo2bOjxAgF/U7I4RlZugcmVAAAAwJsqHLZefvll1a1bV3v27NH48eMVHh4uSdq3b5/uu+8+jxcI+JtwW/Efu8w8whYAAIA/q3DYslqtevjhh0sdHzZsmEcKAvxduN0qiZktAAAAf1fhZ7Yk6YMPPtDFF1+s2rVra9euXZKkCRMm6Msvv/RocYA/ct5GyMwWAACAX6tw2Jo8ebKGDx+u3r17Kz093bkoRnR0tCZMmODp+gC/E1FyG2Guw+RKAAAA4E0VDlsTJ07U22+/rSeeeEKBgYHO423bttW6des8Whzgj0qe2SqZ2VqzJ11z1+/T3PX7tP2vLDNLAwAAgAdV+JmtHTt2qHXr1qWO22w2ZWdne6QowJ/d0iFF/dvUUVRI8bNbU77foa9/3StJCg0O1MonuinMVuE/mgAAAKhkKjyzVa9ePa1Zs6bU8blz56pZs2aeqAnwa9GhwaodHeIMVPVrhKltSowCAyzKyS/Uoaw8kysEAACAJ1T4x+fDhw/X4MGDlZubK8Mw9NNPP+nDDz/UmDFj9M4773ijRsCvDeveWMO6N1b7f8/XgYw8ZbJKIQAAgF+ocNi68847FRISoieffFI5OTm68cYbVbt2bb3yyiu6/vrrvVEjUC2E24J0QIQtAAAAf3FGD4bcdNNNuummm5STk6OsrCzFx8d7ui6g2nHuv8WS8AAAAH7hHz2FHxoaqtDQUE/VAlRrbZJjFBtqdS6cAQAAgKqtXGGrdevWslgs5brg6tWr/1FBQHX1dN/mZpcAAAAADypX2Lrqqqucv8/NzdXrr7+u5s2bq0OHDpKk5cuXa8OGDbrvvvu8UiQAAAAAVDXlClvPPPOM8/d33nmnHnjgAT377LOl+uzZs8ez1QHVkGEY5Z5JBgAAQOVV4X22Zs2apVtvvbXU8ZtvvlmffvqpR4oCqqM3lmxTs6fm6ukvN5hdCgAAADygwmErJCREP/zwQ6njP/zwg+x2u0eKAqqjAIt0zFHIaoQAAAB+osKrEQ4dOlT33nuvVq9erXbt2kmSVqxYof/+97966qmnPF4gUF1EHF/6nX22AAAA/EOFw9Zjjz2m+vXr65VXXtG0adMkSc2aNdPUqVN13XXXebxAoLoItxX/cczKc5hcCQAAADzhjPbZuu666whWgIeF24v/OO47mqulm/9Sx8Y1ned+2HpImbnuQ5gtKFCdm57YWHzZtjQdPZbvtm/D+Ag1jA/3YNUAAAAoyxlvarxq1Spt3LhRktSiRQu1bt3aY0UB1VHJZsa70nL0zFcbtOjhTs5zz37zm37fn+n2dbUibVrxeDdn+4V5v2v17nS3fe3WAP30RDdF2tk4GQAAwNsqHLYOHjyo66+/XosXL1Z0dLQkKT09XZ07d9bMmTNVs2bNU18AgFutzorSNW3qaOehbCVGh7ica1470nmb4cliwoJd2k0TIxXgZun4n3cd0Y3tUlRQaHiuaAAAAJSpwmHr/vvvV2ZmpjZs2KBmzZpJkn777TcNHDhQDzzwgD788EOPFwlUB0GBAfrPtee4PffSdeeW+zr/vrqlhyoCAADAP1HhsDV37lzNnz/fGbQkqXnz5po0aZJ69Ojh0eIAAAAAoKqq8D5bRUVFslpLP+9htVpVVFTkkaIAeF5OfoH2H81lHy8AAAAfqXDY6tKlix588EHt3bvXeezPP//UsGHD1LVrV48WB8Bzhsz4RReMWaDZa/eZXQoAAEC1UOGw9dprrykjI0N169ZVgwYN1KBBA9WrV08ZGRmaOHGiN2oE4AElC2xkMrMFAADgExV+ZispKUmrV6/W/Pnz9fvvv0sq3tS4W7dup3klADOV7ONV1n5dAAAA8Kwz2mfLYrGoe/fu6t69u6frAeAlEcdntrJymdkCAADwhXKHrffff79c/W699dYzLgaA90Qcn9ligQwAAADfKHfYevDBB8s8Z7FYlJ2drYKCAsIWUEnxzBYAAIBvlXuBjCNHjrj99dtvv+m6666TYRgVvq1w8uTJatWqlSIjIxUZGakOHTpozpw5zvOdOnWSxWJx+XXPPfdU6D0AFAu3F2/ZkMlthAAAAD5xRs9sSVJmZqbGjRunV155RS1atNC8efPUuXPnCl2jTp06Gjt2rBo1aiTDMPTee+/pyiuv1C+//KIWLVpIku666y7961//cr4mNDT0TEsGqrUGNcN0Xds6apoQaXYpAAAA1UKFw5bD4dDEiRP173//W3FxcZo6daquueaaM3rzvn37urSff/55TZ48WcuXL3eGrdDQUCUkJJzR9QGc0Do5Rq2TYyRJ8387oIIyNiGPCglWhwZxzvai3w+qfs0wpcSF+aROAAAAf1HusGUYht5//309/fTTKigo0L///W8NGjRIgYGBHimksLBQs2bNUnZ2tjp06OA8Pn36dE2bNk0JCQnq27evnnrqqVPObuXl5SkvL8/ZzsjIkFQcEh0OlryG95SMr6owzoZ9vKbM2wlbJ0Xp47vbSyr+cz/84zUqKDK07JFLZbN65s87/pmqNNZQtTHW4CuMNfiKr8eYxTAMozwdW7Zsqe3bt+v+++/X0KFDyww8kZEVu0Vp3bp16tChg3JzcxUeHq4ZM2aoT58+kqS33npLKSkpql27ttauXatHH31U7dq102effVbm9UaNGqXRo0eXOj5jxgxuQQSOm/xbgPKKLG7PJYYaGlD/xKzXg8uKfyYz+rwCRdt8Uh4AAIBX5OTk6MYbb9TRo0crnFvORLnDVkDAibU0LJbS36QZhiGLxaLCwsIKFZCfn6/du3fr6NGj+uSTT/TOO+9oyZIlat68eam+CxcuVNeuXbV161Y1aNDA7fXczWwlJSVp3759iouLc/sawBMcDodSU1PVvXt3Wa1Ws8vxmHZjFulIjkOzh1yoRrXCzS4H8t+xhsqHsQZfYazBV9LS0pSYmOizsFXu2wgXLVrklQKCg4PVsGFDSVKbNm20cuVKvfLKK3rzzTdL9W3fvvjWplOFLZvNJput9I/frVYrf3jhE/421iLsVh3JcehYofzqc/kDfxtrqLwYa/AVxhq8zdfjq9xh69JLL/VmHU5FRUUuM1N/t2bNGklSYmKiT2oBcGJ/LjZDBgAAqJgzXvrdE0aOHKnevXsrOTlZmZmZmjFjhhYvXqx58+Zp27Ztzue34uLitHbtWg0bNkwdO3ZUq1atzCwbqFbC7cfDFvtzAQAAVIipYevgwYO69dZbtW/fPkVFRalVq1aaN2+eunfvrj179mj+/PmaMGGCsrOzlZSUpP79++vJJ580s2Sg2olwzmyxQhQAAEBFmBq2pkyZUua5pKQkLVmyxIfVAHDninNrq1WdaLWoHWV2KQAAAFWKqWELQOV35blnmV0CAABAlRRw+i7ubd26VfPmzdOxY8ckFS/9DgAAAAAoVuGwlZaWpm7duqlx48bq06eP9u3bJ0kaNGiQHnroIY8XCMBcR485tGl/pnalZZtdCgAAQJVS4bA1bNgwBQUFaffu3QoNDXUeHzBggObOnevR4gCY74tf/lTPCUs1bu7vZpcCAABQpVT4ma1vv/1W8+bNU506dVyON2rUSLt27fJYYQAqh5J9tjJZ+h0AAKBCKhy2srOzXWa0Shw+fFg2m80jRQGoPEr22foz/Zjmri++bbhOTKjOPqt4dUJHYZEWbDwgSWpQM1yNakWYUygAAEAlU+HbCC+55BK9//77zrbFYlFRUZHGjx+vzp07e7Q4AOaLCrFKkrb/la17pq3WPdNW64NlJ2axjzkKnccve/V7HcnON6tUAACASqXCM1vjx49X165d9fPPPys/P1+PPPKINmzYoMOHD+uHH37wRo0ATHRecoz6tT5Luw/nOI+l1Dgxux1osahtSozW/nFU+YVF2nv0mGLCgs0oFQAAoFKpcNg6++yztXnzZr322muKiIhQVlaW+vXrp8GDBysxMdEbNQIwUXBQgF4acG6Z58NsQfrk3gvV5cXF2v5XtrJ4tgsAAEDSGW5qHBUVpSeeeMLTtQCowiKOL6SRlUfYAgAAkM7gma2GDRtq1KhR2rJlizfqAVBFlSykwaqFAAAAxSoctgYPHqz//e9/atKkic4//3y98sor2r9/vzdqA1CFRNiKF9LIZGYLAABA0hluarxy5Ur9/vvv6tOnjyZNmqSkpCT16NHDZZVCANXLkC4NNeOu9urZvJbZpQAAAFQKFQ5bJRo3bqzRo0dr8+bN+u677/TXX3/p9ttv92RtAKqQs8+K0oUNaig+0m52KQAAAJXCGS2QUeKnn37SjBkz9NFHHykjI0PXXnutp+oCAAAAgCqtwmFr8+bNmj59uj788EPt2LFDXbp00bhx49SvXz+Fh4d7o0YAVcDWg5lavv2wakfb1aUptxICAABUOGw1bdpU559/vgYPHqzrr79etWrxTRUAacWOw3ryi/Xq0bwWYQsAAEBnELY2bdqkRo0aeaMWAFVYuI2l3wEAAP6uwgtkELQAuBNhZ1NjAACAvyvXzFZsbKw2b96sGjVqKCYmRhaLpcy+hw8f9lhxAKqOCHvxPlsHM3M1d/0+NUmIVL0aYZKkI9n5WrEjrczXNowPV8P4CElSRq5DP249VGbfejXC1SShuG92XoG+2/JXmX1DgoPUoX6cgoPOeOFVAACAM1ausPXyyy8rIqL4m5sJEyZ4sx4AVVTk8bB1ICNP90xbrScva6Y7L6kvSdp+KFv3TFtd5muHd2+sB7oW/x3z55Fjp+x7b6cGerRXU0nSoay8MvtGhVjVKD5ceY5C9WiRcEafCQAA4J8oV9gaOHCg298DQIlG8eG6sX2yNu/PlCSX/bbCbUFqmxJT5msTo070DbEGnrLvWdEhzt/bgsrua7cG6t9Xt1RyXGi5PwMAAIAnlStsZWRklPuCkZGRZ1wMgKorIMCif1/d0u25JgkR+uTeC8t1nbo1wsrdNyHKXu6+AAAAvlausBUdHX3K57QkyTAMWSwWFRYWeqQwAAAAAKjKyhW2Fi1a5O06AMCjfth6SMM+WqOG8eGacdcFZpcDAACqoXKFrUsvvbRcF1u/fv0/KgYAPCXAYtHBzDxFhVjNLgUAAFRT/3g95MzMTL311ltq166dzjnnHE/UBAD/GPt+AQAAs51x2Fq6dKkGDhyoxMRE/ec//1GXLl20fPlyT9YGAGcs3FYctjJzCVsAAMAc5bqNsMT+/fv17rvvasqUKcrIyNB1112nvLw8ffHFF2revLm3agSACgv/28xWUZGhgIBTL/IDAADgaeWe2erbt6+aNGmitWvXasKECdq7d68mTpzozdoA4IyVzGxJUnY+s1sAAMD3yj2zNWfOHD3wwAO699571ahRI2/WBAD/mC0oQNZAixyFhrLyChRhZ6EMAADgW+We2fr++++VmZmpNm3aqH379nrttdd06NAhb9YGAGfMYrHo3KRotUmJUZFhdjUAAKA6KnfYuuCCC/T2229r3759+r//+z/NnDlTtWvXVlFRkVJTU5WZmenNOgGgwmbdc6E+vfdCnRUdYnYpAACgGqrwaoRhYWG644479P3332vdunV66KGHNHbsWMXHx+uKK67wRo0AcMYOZuRq7vp9zl8b9h41uyQAAFBN/KN9tpo0aaLx48frjz/+0IcffuipmgDAY9b+cVT3TFvt/HX5xO+153CO2WUBAIBq4B9vaixJgYGBuuqqq/TVV1954nIA4DHRoVa1TYlR25QYhVgDZRjSbsIWAADwAY+ELQCorNrWjdUn916oT+69UM1rR0qSMnMdJlcFAACqA8IWgGqjZO+tzFz23QIAAN5H2AJQbUSGWBVhD1KRwVrwAADA+8q9qTEAVHWvXn+uLBaL2WUAAIBqgpktANUGQQsAAPgSYQsAAAAAvICwBaDaWPj7Ad0yZYVe+naT2aUAAIBqgGe2AFQbhzLz9d2WQwoK4HZCAADgfcxsAag2wu3FP1/KymPpdwAA4H2ELQDVRoSdfbYAAIDvELYAVBslmxozswUAAHyBZ7YAVBslM1t/HDmmozkORYVaJUnb/srSlgOZZb7u/Lqxigu3+aRGAADgPwhbAKqNyBCr8/e7DmerVWi0JOnbDQc0bu7vZb5u5t0XELYAAECFEbYAVBvxEXb9X8f6WrXriEKDT/z1lxBlU9uUmDJfV3L7IQAAQEXwHQSAamVkn2aljl3duo6ubl3HhGoAAIA/I2wBwCkUFhnKzi9eUCPSbj1NbwAAgBNYjRAATmHy4q1qNepbjZm90exSAABAFUPYAoBTKHlei725AABARRG2AOAUwo/fOkjYAgAAFUXYAoBTYCNkAABwpghbAHAKJRshZzGzBQAAKoiwBQCnwMwWAAA4U4QtADiFcHvJAhkOkysBAABVjalha/LkyWrVqpUiIyMVGRmpDh06aM6cOc7zubm5Gjx4sOLi4hQeHq7+/fvrwIEDJlYMoLqJCwvWZa0SdVmr2maXAgAAqhhTw1adOnU0duxYrVq1Sj///LO6dOmiK6+8Uhs2bJAkDRs2TF9//bVmzZqlJUuWaO/everXr5+ZJQOoZqJDgzXpxvM0pl9Ls0sBAABVTJCZb963b1+X9vPPP6/Jkydr+fLlqlOnjqZMmaIZM2aoS5cukqSpU6eqWbNmWr58uS644AIzSgZQTa39I11704+Veb5z03jZggIlSev/PKo/juSU2ffSxvEKCS7u+/v+DO08lO2ml0Xt68UqJiz4H9UNAADMY2rY+rvCwkLNmjVL2dnZ6tChg1atWiWHw6Fu3bo5+zRt2lTJyclatmxZmWErLy9PeXl5znZGRoYkyeFwyOHgmQt4T8n4Ypz5p6nfb9fna/aVeX75Y50UdzwYzVixUzN++qPMvosfukRnRYdIkmat3K0pP+xy2699vRhNu+P8UscZa/AVxhp8hbEGX/H1GDM9bK1bt04dOnRQbm6uwsPD9fnnn6t58+Zas2aNgoODFR0d7dK/Vq1a2r9/f5nXGzNmjEaPHl3q+KJFixQaGurp8oFSUlNTzS4BXpCXZlG9iLLvvF60YL5Cj/+Nmn3g1H2/W7xIkccnrI7uL933jyzJYVi06c/Dmj17dpnXYazBVxhr8BXGGrwtJ6fsO0+8wfSw1aRJE61Zs0ZHjx7VJ598ooEDB2rJkiVnfL2RI0dq+PDhznZGRoaSkpLUuXNnxcXFeaJkwC2Hw6HU1FR1795dVqvV7HLgYX182De/oEhHcvIVbgtSmK30X9OMNfgKYw2+wliDr6Slpfn0/UwPW8HBwWrYsKEkqU2bNlq5cqVeeeUVDRgwQPn5+UpPT3eZ3Tpw4IASEhLKvJ7NZpPNZit13Gq18ocXPsFYwz9ltUphIaX/Hivdj7EG32CswVcYa/A2X4+vSrfPVlFRkfLy8tSmTRtZrVYtWLDAeW7Tpk3avXu3OnToYGKFAAAAAHB6ps5sjRw5Ur1791ZycrIyMzM1Y8YMLV68WPPmzVNUVJQGDRqk4cOHKzY2VpGRkbr//vvVoUMHViIE4Pf+PXujjmTna2SfZoplRUIAAKokU8PWwYMHdeutt2rfvn2KiopSq1atNG/ePHXv3l2S9PLLLysgIED9+/dXXl6eevbsqddff93MkgHAJ2b9vEdHchy6u2N9whYAAFWUqWFrypQppzxvt9s1adIkTZo0yUcVAUDlEG4P0pEchzLzCswuBQAAnKFK98wWAEAKtxU/wJuVS9gCAKCqImwBQCUUYS++8SCLmS0AAKoswhYAVEIRx/fXYmYLAICqi7AFAJVQ+PGZrYxch8mVAACAM0XYAoBKKNzGbYQAAFR1pq5GCABwb1j3xrq/SyNFh1q1atdh/ZWZ5zxXUFCoX9MsCtxwQEFBgep1dqLz3C+7j+hARq7ba7asE62zokO8XjsAAChG2AKASqhGuM35+9cWbtWiTX+d1CNQ/938qyRp59jLnEff+W6H/rdun9tr1oq0afnIrrJYLB6vFwAAlEbYAoBKrlGtCGX+baEMwzB0+MgRxcbElApO9WuGqW1KjMux7PxCbdyXocSoEOUXFskWFOiTugEAqO4IWwBQyT3ep5lL2+FwaPbs2erTp52sVqvLuYd6NPFlaQAA4BRYIAMAAAAAvICwBQAAAABeQNgCgGrg7vd/1kVjF2rF9jSzSwEAoNogbAFANXAoK09/ph/TkRw2SQYAwFcIWwBQDYTbixfSYJNkAAB8h7AFANVAhK148dmsXGa2AADwFcIWAFQD4SVhi5ktAAB8hrAFANVAhL04bGUStgAA8BnCFgBUA+H2ktsICVsAAPgKYQsAqoFakXY1qBmm2LBgs0sBAKDaCDK7AACA993QLlk3tEuWJH2/5ZCy8twvlGGzBqpzk3hn+8dth5RxzH1fa2CAujar5Wyv2J6mIzn5bvtaLBb1bJHgbK/adVh/ZeaVWW/PFgmyWCySpF92H9GBjNwy+3ZrVktBgcU/O1z3x1H9mZ5TZt9OTeJltwZKkjbsPao9h8vu27FxTYUGF/8zuWl/pnYcyiqz74UNayjy+IqPWw9mauvBLCXFhqpF7agyXwMA8H+ELQCoZv71zQZtPuA+OJwVHaIfHuvibI+bu0m/7kl32zcm1Kpfnu7hbL88f7OWbz/stq8tKECbnuvtbE9atE0Lfz9YZo07xvRx/v6d73fof2v3ldl3w+iezrD13rKd+mTVH2X2XflEN2fY+mjlHr2/bFeZfb97pLNCY4v/mfzslz/05pLtZfadN7SjIhOKw9Y3a/dpwvwtslikpSM6Kyk2tMzXAQD8G2ELAKqZFrWjnLMwJ6sRbnNpN0+MkDXA4rZvyaIbJZrUilBBoeG2rzXQ9a71RvHhZc6YnaxBjTC1TYkp83yA5UR99U7T1xp4om9ybOgp+wYHnai5Tsyp+4YcD3CSVDsqRCHWQB1zFGr34RzCFgBUY4QtAKhmXh5wbrn7junXqtx9R195drn7juzTrNx9h/doouHl7Du4c0MN7tywXH3vvKS+7rykfrn63nJBim65IKVcfa87P0kf/bxHq3YdUSYLkgBAtcYCGQAAeFjJvmaZbCINANUaYQsAAA9zLrXPvmYAUK0RtgAA8LBI9jUDAIiwBQCAxzWMj9AF9WOVEGU3uxQAgIlYIAMAAA8bdHE9Dbq4ntllAABMxswWAAAAAHgBYQsAAAAAvICwBQCAhy3edFBtnk3VTe8sN7sUAICJCFsAAHhYYIBFadn5SsvKN7sUAICJCFsAAHhYyabG7LMFANUbqxECAOBhEcf32UrPcWju+n2SpJ4tEmSxWCRJa/aka//RY2W+vmuzWrIG8vNQAKjqCFsAAHhYZIhVUvHM1j3TVkuStv+7j45nLb3z3XZ9s3Zfma9fP7onYQsA/ABhCwAAD4uPsOv/OtbXql1H3J6vXzNcbVNiynx9oMWiozkOpR/LV0xYsCLtVm+VCgDwIsIWAABeMLJPszLPDe/eWMO7Nz7l6+/+4Gd9t+WQXrz2HPVvU8fT5QEAfIB7FAAAqIRKZrNYZAMAqi7CFgAAlVDJioaZuQ6TKwEAnCnCFgAAlVD48RUNM5nZAoAqi7AFAEAl5NyrK5ewBQBVFWELAIBKqGSvLp7ZAoCqi7AFAEAlxMwWAFR9LP0OAEAl1CQhQrdckKJmiZFmlwIAOEOELQAAKqHWyTFqnVz2xscAgMqP2wgBAAAAwAsIWwAAVEJFRYYOZ+drz+Ecs0sBAJwhbiMEAKASOpCZqw5jFioowKLXbmztcs5mDVTnJvHO9o/bDinjmPvNj4MCAtSteS1n+6cdh3U4O89t33o1wtUkIcID1QMAJMIWAACVUoTdKkkqKDJ0z7TVLucSo+xaNrKrsz1+7iat2ZPu9jpRIVb9+kwPZ3vC/M36cVua275BARYtG9lVNSNs/7B6AIBE2AIAoFIKtwXpwa6N9MPWQ6XOxYUHu7SbJUYoKMDi9jphNtd/6hvXilB+QVGpfj/vOqKBF9ZVYZHxD6oGAPwdYQsAgEpqWPfGGta98Wn7jenXqtzXHHVFi39SEgCgAlggAwAAAAC8gLAFAACUlVegP9OP6WgZC20AACqOsAUAADTys3W6aOxCfbrqD7NLAQC/QdgCAAAKP76QRlZegcmVAID/IGwBAABF2glbAOBphC0AAOCc2crMJWwBgKcQtgAAgMLtJWGLBTIAwFMIWwAAgGe2AMALTA1bY8aM0fnnn6+IiAjFx8frqquu0qZNm1z6dOrUSRaLxeXXPffcY1LFAAD4p4iSZ7a4jRAAPMbUsLVkyRINHjxYy5cvV2pqqhwOh3r06KHs7GyXfnfddZf27dvn/DV+/HiTKgYAwD/VrRGmG9olqWeLBLNLAQC/EWTmm8+dO9el/e677yo+Pl6rVq1Sx44dncdDQ0OVkMBf/gAAeEvThEiN6ddKkrTo94PKKyhUQUGhfk2zKHDDAQUFBUqSIuxWXdSwhvN1Szb/pWP57mfDQoOD1LFxTWf7h62HVL9mmBKjQrz4SQCg8jA1bJ3s6NGjkqTY2FiX49OnT9e0adOUkJCgvn376qmnnlJoaKjba+Tl5SkvL8/ZzsjIkCQ5HA45HDz0C+8pGV+MM3gbYw3e9sgnv+qvrPzjrUD9d/OvznPNEiL01eAOzvZTX6zT7sPH3F6nXlyovh16sSTJUVik0V9tUE5+gRY91NFtf1Rf/L0GX/H1GLMYhmH49B3LUFRUpCuuuELp6en6/vvvncffeustpaSkqHbt2lq7dq0effRRtWvXTp999pnb64waNUqjR48udXzGjBllBjQAAHDC278HKLvA4vZcTbuhmxoWOdvvbg5Qer77vjHBhgY2Lu6b7ZAe/7n4Z7wvXVCgQPcvAQCvysnJ0Y033qijR48qMjLS6+9XacLWvffeqzlz5uj7779XnTp1yuy3cOFCde3aVVu3blWDBg1KnXc3s5WUlKR9+/YpLi7OK7UDUvFPSlJTU9W9e3dZrVazy4EfY6zBVzw51vILitRi9HxJ0s+Pd1ZUCGMXJ/D3GnwlLS1NiYmJPgtbleI2wiFDhuibb77R0qVLTxm0JKl9+/aSVGbYstlsstlspY5brVb+8MInGGvwFcYafMUTY81qlWxBAcorKNKxAqkGYxdu8PcavM3X48vU1QgNw9CQIUP0+eefa+HChapXr95pX7NmzRpJUmJioperAwAAnuRcXp69vABUE6bObA0ePFgzZszQl19+qYiICO3fv1+SFBUVpZCQEG3btk0zZsxQnz59FBcXp7Vr12rYsGHq2LGjWrVqZWbpAACggiLsVh3KyidsAag2TA1bkydPllS8cfHfTZ06VbfddpuCg4M1f/58TZgwQdnZ2UpKSlL//v315JNPmlAtAAD4J8JtbJwMoHoxNWydbm2OpKQkLVmyxEfVAAAAb7qoYQ0lx4UqJizY7FIAwCcqxQIZAADA/z3Wu6nZJQCAT5m6QAYAAAAA+CvCFgAA8JmiIkP5BUWn7wgAfoCwBQAAfGLC/M2q//hs/Xv2RrNLAQCfIGwBAACfsAUFSmKfLQDVBwtkAAAAnwg/vqnxtr+yNHf9PklSzQi72qTEOPvMXb9fkvvViuPCbTq/bqyzPf+3Ayoocn9LYlRIsDo0iHO2F/1+UHkFhW77RtituqhhDWf7+y2HdPZZkYoOZdVEAP8MYQsAAPhEVIhVkvTL7nTdM221JKl781p6+9a2zj5DZqxWQZH7sHVJoxr6YFB7Z3vYx2uUWcaeXW1SYvTpvRc6249+ulYHM/Pc9m2WGKk5D14iScorKNSTX6xTclyY3r+jXQU+HQCURtgCAAA+cWnjmurTMkEHM06Enobx4S59zkuJUVEZYatRfIRLu3VyjHLKuCWxSYJr31Z1opWek++2b0pcmPP36//M0M60nDLm1gCgYghbAADAJ6JCrHr9pjan7PPx/3Uo9/UqMvP0zsC2p+8kKeL4rY5lzZgBQEWwQAYAAMBx4bbisJVF2ALgAYQtAACA40oW8cgvLCpzQQ0AKC/CFgAAwHFhwSeesGB2C8A/RdgCAAA4LjDAorBg9gMD4BkskAEAAPA35yZHK8/hfv8uAKgIwhYAAMDfTL/zArNLAOAnuI0QAAAAALyAsAUAAAAAXkDYAgAA+JtRX21Q+3/P14c/7Ta7FABVHGELAADgb7LzCnQgI0+Hs/PNLgVAFccCGQAAAH9TsrHxuj+Oau76fZKkhKgQnZsULUkqKjL07W/7y3x9zQi72qTEONtz1++XZLjtGxdu0/l1Y53t+b8dUEGR+5UQo0KC1aFBnLO96PeDZW68HGG36qKGNZztpZv/Uk6++6XsQ4KDdGnjms72D1sPKTPX4bavLShQnZvGO9vLtqXp6DH3oTQwIEDdm9dytlfuPKy0rDy3fQsL2UAa/omwBQAA8DdRIVZJ0twN+zV3Q3GouuKc2nr1htaSpELD0D3TVpf5+m7NaumdgW2d7fs/XC1HofuwdXHDGpp2Z3tne/jHa5RRxmbK5yVH67P7LnK2H/tsrQ5kuA8vTRMiNHdoR2f7ma82aMehbLd968aFavGIzs728//bqN/2ZbjtGx9h009PdHO2//PtJq3adcRt3whbkNaN7ulsv7pgi77bcsht36AAi15s7/YUUKURtgAAAP7mqnPP0q970pX5t9BTr0aY8/cWSW3/NnN1sobx4S7t85JjVFjkPmw1quXat3VyjLLL2Ey5cUKES7tVnWgdKeNWx+S4UJf22WdFKS4s2G3fhCi7S7t57UiFHt/Y+WTRoa7XaJoQIYvbnlLISddoFB+hY/nuZ7AsFkn6S7mOQqXnFikyJEi2IPc1AFWJxTAM93/6/URGRoaioqJ06NAhxcXFnf4FwBlyOByaPXu2+vTpI6vVanY58GOMNfgKYw2+UjLWXtkSqe2HcvTR3ReofX2+b4PnpaWlqUaNGjp69KgiIyO9/n4skAEAAIBKIdxWfNNVZhm3UgJVDWELAAAAlUJJ2Moq41ZKoKohbAEAAKBSCCuZ2SJswU8QtgAAAFAplCy7n8VthPAThC0AAABUCiduI3S/zxdQ1RC2AAAAUClE2JjZgn8hbAEAAKBSaFE7Qv1an6VWdaLNLgXwCDY1BgAAQKXQo3ktXXZOHbPLADyGmS0AAAAA8ALCFgAAACqNXEehjuawQAb8A7cRAgAAoFJYufOIbpyyUrUibRp9RQuXcxF2qy5qWMPZXrr5L+Xku19IIyQ4SJc2ruls/7D1kDJz3Qc4W1CgOjeNd7aXb09Tek6+276BAQHq3rzW3+o9rLSsPLd9w2xB6lA/TkGBzG1UZ4QtAAAAVApRIcXfmh7IyNM901a7nGuaEKG5Qzs626O+2qDth7LdXiclLlRLRnR2tp//30b9ti/Dbd+aETatfKKbs/2feZv0864jbvtG2IK0bnRPZ/vVBVv03ZZDZX6e0Ve00MAL65Z5Hv6PsAUAAIBKoWHNcN3YPlmb92eWOpccF+rSbnFWlGLDgt1ep1aU3aXdvHakQoMD3faNDnW9RpOEiDLrCznpGo1rRehYfmGpfgcz8/RIryY6v25smddC9UDYAgAAQKUQEGDRv69uWa6+E29oXe7r/ufac8rd9/lyvr8kPXV583L3RfXETaQAAAAA4AXMbAEAAAAetCstWws2HlRMmFVXt2bfsOqMmS0AAADAgzYfyNK/vvlN7/64y+xSYDLCFgAAAOBB4bbim8eyylhuHtUHYQsAAADwoAj78bCV534fMFQfhC0AAADAg07MbBG2qjvCFgAAAOBBJTNb2fmFKiwyTK4GZiJsAQAAAB4Ubj+x4De3ElZvhC0AAADAg2xBgQoOLP42m7BVvbHPFgAAAOBhU25rqxBroOLCgs0uBSYibAEAAAAedkmjmpKkRZsOKs9R6LZPuM2qixvVcLaXbv5LOfnuZ8JCgoN0aeOazvaPWw8po4yl5YODAtSlaS1ne/n2NKXn5LvtGxgQoO7NT/T9eedhHcrKK+NTSb3OTizzHEojbAEAAABe8vhn67TvaK7bc00TIjR3aEdne9TXG7T9r2y3fZNjQ7X0kc7O9vOzN2rD3gy3fWuE2/TzkycC1IvfbtLKnUfc9g23BWn96J7O9qsLt2rp5r/c9g2wSNvHXOb2HNwjbAEAAABe0qpOlM6KDnF7Ljku1KV9du0oxYa6v+2wVqTdpd08MVIh1kC3faNDrS7tJgkRMspYFDEk2PUajePDlVPGc2YBFoskaeehbO3PyFVKXKgSo9x/NhQjbAEAAABe8uYtbcvd99UbWpe77wvXnlPuvs9d1bLcfZ+8vPlp+4yf97tmr9uvf13ZQrd2qFvua1dHrEYIAAAAoNxKNm3OZNPm0yJsAQAAACi3cFvxbYosa396hC0AAAAA5RZxfNPmLGa2TouwBQAAAKDcnGGLma3TImwBAAAAKLcTz2y53+cLJxC2AAAAAJRbuJ0FMsqLpd8BAAAAlFuzxEiN6NlEKSftE4bSCFsAAAAAyq1BzXAN7tzQ7DKqBFNvIxwzZozOP/98RUREKD4+XldddZU2bdrk0ic3N1eDBw9WXFycwsPD1b9/fx04cMCkigEAAACgfEwNW0uWLNHgwYO1fPlypaamyuFwqEePHsrOznb2GTZsmL7++mvNmjVLS5Ys0d69e9WvXz8TqwYAAACqr4LCIm3Ye1QrtqeZXUqlZ+pthHPnznVpv/vuu4qPj9eqVavUsWNHHT16VFOmTNGMGTPUpUsXSdLUqVPVrFkzLV++XBdccIEZZQMAAADVVo6jUJe9+r0k6bUbWysowOI8F26z6uJGNZzt77b8pewyloi3WwPVqUm8s/3j1kPKKGOFw+CgAHVpWsvZXr49Tek5+W77BgYEqHvzE31/3nlYh7LyJEmW/Gy3r/GWSvXM1tGjRyVJsbGxkqRVq1bJ4XCoW7duzj5NmzZVcnKyli1b5jZs5eXlKS8vz9nOyMiQJDkcDjkcLE8J7ykZX4wzeBtjDb7CWIOvMNaqlmCLoQCLVGRIQ2b84nKucXy4/nf/hc72M19u0PZD7gNOnZgQLRp+ibP9/OzftGFvptu+cWHBWv5YJ2f7P/N+18+70t32DQsO1Jqnujrbry7YrKVbimfhmscGnvKzeVqlCVtFRUUaOnSoLrroIp199tmSpP379ys4OFjR0dEufWvVqqX9+/e7vc6YMWM0evToUscXLVqk0FBWTIH3paamml0CqgnGGnyFsQZfYaxVHZcnWbTuSOknkqKKMjR79mxnO0YBqhdhKdVPkqICsl36hjvK7hsalOvS155bdl9rgMOlb0DWib5hBUdP8ak8r9KErcGDB2v9+vX6/vvv/9F1Ro4cqeHDhzvbGRkZSkpKUufOnRUXF/dPywTK5HA4lJqaqu7du8tqtZpdDvwYYw2+wliDrzDWqp4+Hu7nq75paWn65IkKvPgfqhRha8iQIfrmm2+0dOlS1alTx3k8ISFB+fn5Sk9Pd5ndOnDggBISEtxey2azyWazlTputVr5wwufYKzBVxhr8BXGGnyFsQZv8/X4MnU1QsMwNGTIEH3++edauHCh6tWr53K+TZs2slqtWrBggfPYpk2btHv3bnXo0MHX5QIAAABAuZk6szV48GDNmDFDX375pSIiIpzPYUVFRSkkJERRUVEaNGiQhg8frtjYWEVGRur+++9Xhw4dWIkQAAAAQKVmatiaPHmyJKlTp04ux6dOnarbbrtNkvTyyy8rICBA/fv3V15ennr27KnXX3/dx5UCAAAAQMWYGrYMwzhtH7vdrkmTJmnSpEk+qAgAAAAAPMPUZ7YAAAAAwF8RtgAAAADACwhbAAAAAOAFhC0AAAAA8ALCFgAAAAB4AWELAAAAALyAsAUAAAAAXkDYAgAAAAAvIGwBAAAAgBcQtgAAAADACwhbAAAAAOAFhC0AAAAA8ALCFgAAAAB4QZDZBXibYRiSpMzMTFmtVpOrgT9zOBzKyclRRkYGYw1exViDrzDW4CuMNfhKZmampBMZwdv8PmylpaVJkurVq2dyJQAAAAAqg7S0NEVFRXn9ffw+bMXGxkqSdu/e7ZMvKKqvjIwMJSUlac+ePYqMjDS7HPgxxhp8hbEGX2GswVeOHj2q5ORkZ0bwNr8PWwEBxY+lRUVF8YcXPhEZGclYg08w1uArjDX4CmMNvlKSEbz+Pj55FwAAAACoZghbAAAAAOAFfh+2bDabnnnmGdlsNrNLgZ9jrMFXGGvwFcYafIWxBl/x9VizGL5a9xAAAAAAqhG/n9kCAAAAADMQtgAAAADACwhbAAAAAOAFhC0AAAAA8IIqGbYKCwv11FNPqV69egoJCVGDBg307LPP6u9rfRiGoaefflqJiYkKCQlRt27dtGXLFpfrHD58WDfddJMiIyMVHR2tQYMGKSsry9cfB5XI0qVL1bdvX9WuXVsWi0VffPGFy3lPjau1a9fqkksukd1uV1JSksaPH+/tj4ZK5lRjzeFw6NFHH1XLli0VFham2rVr69Zbb9XevXtdrsFYQ3mc7u+1v7vnnntksVg0YcIEl+OMNZRHecbaxo0bdcUVVygqKkphYWE6//zztXv3buf53NxcDR48WHFxcQoPD1f//v114MABl2vs3r1bl112mUJDQxUfH68RI0aooKDA2x8PlcjpxlpWVpaGDBmiOnXqKCQkRM2bN9cbb7zh0sdXY61Khq1x48Zp8uTJeu2117Rx40aNGzdO48eP18SJE519xo8fr1dffVVvvPGGVqxYobCwMPXs2VO5ubnOPjfddJM2bNig1NRUffPNN1q6dKnuvvtuMz4SKons7Gydc845mjRpktvznhhXGRkZ6tGjh1JSUrRq1Sq98MILGjVqlN566y2vfz5UHqcaazk5OVq9erWeeuoprV69Wp999pk2bdqkK664wqUfYw3lcbq/10p8/vnnWr58uWrXrl3qHGMN5XG6sbZt2zZdfPHFatq0qRYvXqy1a9fqqaeekt1ud/YZNmyYvv76a82aNUtLlizR3r171a9fP+f5wsJCXXbZZcrPz9ePP/6o9957T++++66efvppr38+VB6nG2vDhw/X3LlzNW3aNG3cuFFDhw7VkCFD9NVXXzn7+GysGVXQZZddZtxxxx0ux/r162fcdNNNhmEYRlFRkZGQkGC88MILzvPp6emGzWYzPvzwQ8MwDOO3334zJBkrV6509pkzZ45hsViMP//80wefApWdJOPzzz93tj01rl5//XUjJibGyMvLc/Z59NFHjSZNmnj5E6GyOnmsufPTTz8Zkoxdu3YZhsFYw5kpa6z98ccfxllnnWWsX7/eSElJMV5++WXnOcYazoS7sTZgwADj5ptvLvM16enphtVqNWbNmuU8tnHjRkOSsWzZMsMwDGP27NlGQECAsX//fmefyZMnG5GRkS7jD9WHu7HWokUL41//+pfLsfPOO8944oknDMPw7VirkjNbF154oRYsWKDNmzdLkn799Vd9//336t27tyRpx44d2r9/v7p16+Z8TVRUlNq3b69ly5ZJkpYtW6bo6Gi1bdvW2adbt24KCAjQihUrfPhpUFV4alwtW7ZMHTt2VHBwsLNPz549tWnTJh05csRHnwZVzdGjR2WxWBQdHS2JsQbPKSoq0i233KIRI0aoRYsWpc4z1uAJRUVF+t///qfGjRurZ8+eio+PV/v27V1u/1q1apUcDofLv7NNmzZVcnKyy7+zLVu2VK1atZx9evbsqYyMDG3YsMFnnweV24UXXqivvvpKf/75pwzD0KJFi7R582b16NFDkm/HWpUMW4899piuv/56NW3aVFarVa1bt9bQoUN10003SZL2798vSS5fnJJ2ybn9+/crPj7e5XxQUJBiY2OdfYC/89S42r9/v9tr/P09gL/Lzc3Vo48+qhtuuEGRkZGSGGvwnHHjxikoKEgPPPCA2/OMNXjCwYMHlZWVpbFjx6pXr1769ttvdfXVV6tfv35asmSJpOKxEhwc7PyhUomT/51lrOF0Jk6cqObNm6tOnToKDg5Wr169NGnSJHXs2FGSb8da0D/4HKb5+OOPNX36dM2YMUMtWrTQmjVrNHToUNWuXVsDBw40uzwA8BiHw6HrrrtOhmFo8uTJZpcDP7Nq1Sq98sorWr16tSwWi9nlwI8VFRVJkq688koNGzZMknTuuefqxx9/1BtvvKFLL73UzPLgZyZOnKjly5frq6++UkpKipYuXarBgwerdu3aLrNZvlAlZ7ZGjBjhnN1q2bKlbrnlFg0bNkxjxoyRJCUkJEhSqRVFDhw44DyXkJCggwcPupwvKCjQ4cOHnX2Av/PUuEpISHB7jb+/ByCdCFq7du1Samqqc1ZLYqzBM7777jsdPHhQycnJCgoKUlBQkHbt2qWHHnpIdevWlcRYg2fUqFFDQUFBat68ucvxZs2aOVcjTEhIUH5+vtLT0136nPzvLGMNp3Ls2DE9/vjjeumll9S3b1+1atVKQ4YM0YABA/Sf//xHkm/HWpUMWzk5OQoIcC09MDDQ+VOTevXqKSEhQQsWLHCez8jI0IoVK9ShQwdJUocOHZSenq5Vq1Y5+yxcuFBFRUVq3769Dz4FqhpPjasOHTpo6dKlcjgczj6pqalq0qSJYmJifPRpUNmVBK0tW7Zo/vz5iouLcznPWIMn3HLLLVq7dq3WrFnj/FW7dm2NGDFC8+bNk8RYg2cEBwfr/PPP16ZNm1yOb968WSkpKZKkNm3ayGq1uvw7u2nTJu3evdvl39l169a5/ACg5IdRJwc5VE8Oh0MOh+OUWcGnY61i631UDgMHDjTOOuss45tvvjF27NhhfPbZZ0aNGjWMRx55xNln7NixRnR0tPHll18aa9euNa688kqjXr16xrFjx5x9evXqZbRu3dpYsWKF8f333xuNGjUybrjhBjM+EiqJzMxM45dffjF++eUXQ5Lx0ksvGb/88otzBThPjKv09HSjVq1axi233GKsX7/emDlzphEaGmq8+eabPv+8MM+pxlp+fr5xxRVXGHXq1DHWrFlj7Nu3z/nr7ysgMdZQHqf7e+1kJ69GaBiMNZTP6cbaZ599ZlitVuOtt94ytmzZYkycONEIDAw0vvvuO+c17rnnHiM5OdlYuHCh8fPPPxsdOnQwOnTo4DxfUFBgnH322UaPHj2MNWvWGHPnzjVq1qxpjBw50uefF+Y53Vi79NJLjRYtWhiLFi0ytm/fbkydOtWw2+3G66+/7ryGr8ZalQxbGRkZxoMPPmgkJycbdrvdqF+/vvHEE0+4fBNSVFRkPPXUU0atWrUMm81mdO3a1di0aZPLddLS0owbbrjBCA8PNyIjI43bb7/dyMzM9PXHQSWyaNEiQ1KpXwMHDjQMw3Pj6tdffzUuvvhiw2azGWeddZYxduxYX31EVBKnGms7duxwe06SsWjRIuc1GGsoj9P9vXYyd2GLsYbyKM9YmzJlitGwYUPDbrcb55xzjvHFF1+4XOPYsWPGfffdZ8TExBihoaHG1Vdfbezbt8+lz86dO43evXsbISEhRo0aNYyHHnrIcDgcvviIqCRON9b27dtn3HbbbUbt2rUNu91uNGnSxHjxxReNoqIi5zV8NdYshmEY5Z8HAwAAAACUR5V8ZgsAAAAAKjvCFgAAAAB4AWELAAAAALyAsAUAAAAAXkDYAgAAAAAvIGwBAAAAgBcQtgAAAADACwhbAAAAAOAFhC0AAE6jU6dOGjp0qNllAACqGMIWAKBSuO2222SxWGSxWGS1WlWvXj098sgjys3NNbs0AADOSJDZBQAAUKJXr16aOnWqHA6HVq1apYEDB8pisWjcuHFmlwYAQIUxswUAqDRsNpsSEhKUlJSkq666St26dVNqaqokKS8vTw888IDi4+Nlt9t18cUXa+XKlc7Xvvvuu4qOjna53hdffCGLxeJsjxo1Sueee64++OAD1a1bV1FRUbr++uuVmZnp7JOdna1bb71V4eHhSkxM1Isvvliqztdff12NGjWS3W5XrVq1dM0113j4KwEA8AeELQBApbR+/Xr9+OOPCg4OliQ98sgj+vTTT/Xee+9p9erVatiwoXr27KnDhw9X6Lrbtm3TF198oW+++UbffPONlixZorFjxzrPjxgxQkuWLNGXX36pb7/9VosXL9bq1aud53/++Wc98MAD+te//qVNmzZp7ty56tixo2c+NADAr3AbIQCg0vjmm28UHh6ugoIC5eXlKSAgQK+99pqys7M1efJkvfvuu+rdu7ck6e2331ZqaqqmTJmiESNGlPs9ioqK9O677yoiIkKSdMstt2jBggV6/vnnlZWVpSlTpmjatGnq2rWrJOm9995TnTp1nK/fvXu3wsLCdPnllysiIkIpKSlq3bq1B78KAAB/QdgCAFQanTt31uTJk5Wdna2XX35ZQUFB6t+/v9auXSuHw6GLLrrI2ddqtapdu3bauHFjhd6jbt26zqAlSYmJiTp48KCk4lmv/Px8tW/f3nk+NjZWTZo0cba7d++ulJQU1a9fX7169VKvXr109dVXKzQ09Ew/NgDAT3EbIQCg0ggLC1PDhg11zjnn6L///a9WrFihKVOmlOu1AQEBMgzD5ZjD4SjVz2q1urQtFouKiorKXWNERIRWr16tDz/8UImJiXr66ad1zjnnKD09vdzXAABUD4QtAEClFBAQoMcff1xPPvmkGjRooODgYP3www/O8w6HQytXrlTz5s0lSTVr1lRmZqays7OdfdasWVOh92zQoIGsVqtWrFjhPHbkyBFt3rzZpV9QUJC6deum8ePHa+3atdq5c6cWLlx4Bp8SAODPuI0QAFBpXXvttRoxYoQmT56se++9VyNGjFBsbKySk5M1fvx45eTkaNCgQZKk9u3bKzQ0VI8//rgeeOABrVixQu+++26F3i88PFyDBg3SiBEjFBcXp/j4eD3xxBMKCDjxs8lvvvlG27dvV8eOHRUTE6PZs2erqKjI5VZDAAAkwhYAoBILCgrSkCFDNH78eO3YsUNFRUW65ZZblJmZqbZt22revHmKiYmRVPxs1bRp0zRixAi9/fbb6tq1q0aNGqW77767Qu/5wgsvKCsrS3379lVERIQeeughHT161Hk+Ojpan332mUaNGqXc3Fw1atRIH374oVq0aOHRzw4AqPosxsk3uAMAAAAA/jGe2QIAAAAALyBsAQAAAIAXELYAAAAAwAsIWwAAAADgBYQtAAAAAPACwhYAAAAAeAFhCwAAAAC8gLAFAAAAAF5A2AIAAAAALyBsAQAAAIAXELYAAAAAwAv+H7MV0AdzRx8Q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06633" y="1770591"/>
            <a:ext cx="5082661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1" y="1744133"/>
            <a:ext cx="5207000" cy="3403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48733" y="711200"/>
            <a:ext cx="11497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Alive nodes in every round for homogeneous (a) Shallow and (b) Deep UWSN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77066" y="5342467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66200" y="5308601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</a:t>
            </a:r>
            <a:r>
              <a:rPr lang="en-US" sz="2000" dirty="0" smtClean="0">
                <a:latin typeface="Times New Roman"/>
                <a:cs typeface="Times New Roman"/>
              </a:rPr>
              <a:t>: 17 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F4ADFF3-9920-5D7A-0FE9-CC184E11361D}"/>
              </a:ext>
            </a:extLst>
          </p:cNvPr>
          <p:cNvSpPr txBox="1"/>
          <p:nvPr/>
        </p:nvSpPr>
        <p:spPr>
          <a:xfrm>
            <a:off x="259594" y="119897"/>
            <a:ext cx="117099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22300"/>
            <a:ext cx="1203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4" name="AutoShape 2" descr="data:image/png;base64,iVBORw0KGgoAAAANSUhEUgAABLAAAALmCAYAAABSJm0fAAAAAXNSR0IArs4c6QAAIABJREFUeF7s3Qu8TXX+//FPx10kiVTKNMaoqd9ERKUw4zaNREiEjBiUS9SQdJVITDFuUfzlToQmptymVMKU0FzKT/5hZkok5U44///n+/vtM/vss/bea++99lm313o8eszUWZfven6+e7Pe5/v9rnNyc3NzhQ0BBBBAAAEEEEAAAQQQQAABBBBAAAGPCpxDgOXRytAsBBBAAAEEEEAAAQQQQAABBBBAAAEjQIBFR0AAAQQQQAABBBBAAAEEEEAAAQQQ8LQAAZany0PjEEAAAQQQQAABBBBAAAEEEEAAAQQIsOgDCCCAAAIIIIAAAggggAACCCCAAAKeFiDA8nR5aBwCCCCAAAIIIIAAAggggAACCCCAAAEWfQABBBBAAAEEEEAAAQQQQAABBBBAwNMCBFieLg+NQwABBBBAAAEEEEAAAQQQQAABBBAgwKIPIIAAAggggAACCCCAAAIIIIAAAgh4WoAAy9PloXEIIIAAAggggAACCCCAAAIIIIAAAgRY9AEEEEAAAQQQQAABBBBAAAEEEEAAAU8LEGB5ujw0DgEEEEAAAQQQQAABBBBAAAEEEECAAIs+gAACCCCAAAIIIIAAAggggAACCCDgaQECLE+Xh8YhgAACCCCAAAIIIIAAAggggAACCBBg0QcQQAABBBBAAAEEEEAAAQQQQAABBDwtQIDl6fLQOAQQQAABBBBAAAEEEEAAAQQQQAABAiz6AAIIIIAAAggggAACCCCAAAIIIICApwUIsDxdHhqHAAIIIIAAAggggAACCCCAAAIIIECARR9AAAEEEEAAAQQQQAABBBBAAAEEEPC0AAGWp8tD4xBAAAEEEEAAAQQQQAABBBBAAAEECLDoAwgggAACCCCAAAIIIIAAAggggAACnhYgwPJ0eWgcAggggAACCCCAAAIIIIAAAggggAABFn0AAQQQQAABBBBAAAEEEEAAAQQQQMDTAgRYni4PjUMAAQQQQAABBBBAAAEEEEAAAQQQIMCiDyCAAAIIIIAAAggggAACCCCAAAIIeFqAAMvT5aFxCCCAAAIIIIAAAggggAACCCCAAAIEWPQBBBBAAAEEEEAAAQQQQAABBBBAAAFPCxBgebo8NA4BBBBAAAEEEEAAAQQQQAABBBBAgACLPoAAAggggAACCCCAAAIIIIAAAggg4GkBAixPl4fGIYAAAggggAACCCCAAAIIIIAAAggQYNEHEEAAAQQQQAABBBBAAAEEEEAAAQQ8LUCA5eny0DgEEEAAAQQQQAABBBBAAAEEEEAAAQIs+gACCCCAAAIIIIAAAggggAACCCCAgKcFCLA8XR4ahwACCCCAAAIIIIAAAggggAACCCBAgEUfQAABBBBAAAEEEEAAAQQQQAABBBDwtAABlqfLQ+MQQAABBBBAAAEEEEAAAQQQQAABBAiw6AMIIIAAAggggAACCCCAAAIIIIAAAp4WIMDydHloHAIIIIAAAggggAACCCCAAAIIIIAAARZ9AAEEEEAAAQQQQAABBBBAAAEEEEDA0wIEWJ4uD41DAAEEEAi6wIEDB6RTp06ycuXKArfaq1cvGTt2rJQqVSoQDHPnzpXOnTtb3svTTz8tjz/+eML7PH78uGzatEmWLl0qW7Zska1bt8rhw4fzjrnhhhukQoUKcs8990j79u09bzZ8+HB54oknLNs5Z84c0y/YUhPYvn273HXXXbJt27YCBzZv3ly0D2ofYQuWgH43fPzxx/LnP/9ZNm7cKH//+99l9+7deTdZq1YtqVq1qlx//fVSp04dqV27tlxwwQVyzjnnBAuCu0EAAQQCLkCAFfACc3sIIOC8QKKH8MjVhg4dKsOGDZOiRYvGbcD69evl5ptvtvz5+++/L/Xr13e+8ZzRcwJeC7AStUfxMumb6QZYubm5smHDBhkwYIB8+OGHSWtoJwxLepJC2IEAy3nkoARYiT4rdoNtu+fQELhPnz4ye/Zsy4I8+eSTov/EC3v086l/3uk/VtvAgQNl1KhRUrx48bgFX7hwoXTo0CHl4/X76pVXXpEJEybkC6zs9Kx69eqZQF3D7kqVKuU7JFE/iuz4i1/8wphdeumlcS+X6PvUL99TdizZBwEEECgsAQKswpLmOgggEBgBOwGW/qZ38eLF5je98TavBViJ/qLNyIXsdV8CrP+xTfQwt27dOunatavtB9TCeDB04vNCgOX854oA6z+mdgMsDaBGjBgRdwRkly5dZNKkSVK2bFnLgn3//ffSo0cP82ee1dakSROZN2+eVKxY0fLnZ86cMdd+9tlnLX9uNRpR26yjVjXU1ppnsln9+WYnwNJrjhs3Tvr37x833CPAyqQyHIsAAggUFCDAolcggAACKQrYCbD0lMl+S06AlSJ8QHcnwEocYH311VdmSuCaNWts9wACLNtUgduRACv1AEuPWL16tTRr1syyP9x0000mgNJfzFhtn3zyibRr10527Nhh+fOLL75Y3njjDTNtz2pLFIBZHXv69GmZOXOm6Miu6CnE6XbmTAKsa6+9VnT0WI0aNSwvT4CVblU4DgEEELAWIMCiZyCAAAIpCtgNsPS31fob6XgPBQRYKcIHdHcCrMQB1h//+Edp1apVStUnwEqJK1A7E2ClF2AlcksWQNn5jCZa0+3zzz830wc3b95coC/+6le/MtP0Lrzwwryfvf7666KjwpwIr/SkmQRYenyiJQMIsAL19cLNIICABwQIsDxQBJqAAAL+ErAbYOld3XnnnTJ16lQpX758gZskwPJX3bPV2jAFWKkaJlpbRwNiXQC9W7durizG7MQUwlQ92D88Anan/yUSSeUcydbBWrBggVkcP3ZLNv0vsv8jjzwiOmW2SJEiBc7x7rvvSsOGDS1vJXb9rGQjMnVh9kGDBplArEqVKmYdyrNnz4p+XvXFD2qiL4GIDr8yDbASLRlAgBWezyx3igAChSNAgFU4zlwFAQQCJJBKgKW3He83zwRYAeoUGdwKAVZ8PH2zmD7Aaggcu91xxx0yffp0y3A4g3LYPpQAyzYVO6YhkEr4FO/0qZ5D16DS0URWW7yF3JOtfxU5V4sWLcxIKqtf5ujnu3fv3pbXjf3zc8mSJdK2bVvLfXU638svv2zeNJho27Vrl1mUftasWWa3TAMsPUe8JQMIsNLo/ByCAAIIJBAgwKJ7IIAAAikKpBpgxXtTEQFWivAB3Z0AK70AK9kac9nuLgRY2RYO9/lTDZ+stFI9R6J1sOIt5J5s/atIu6pXr26m1P/85z/P19QTJ07IQw89JJMnTy5wC7HHJBvtpSO8Hn300bgLqkdfQEdlvfnmm+baP/rRj8zIrAoVKuTtYncR98gB8ZYMIMAK9+eYu0cAAecFCLCcN+WMCCAQcIFUAyzlsHpTkRMB1qlTp2Tr1q3mbUx6vg8//FC+/fZbUwGd1nD11VfLDTfcILqOSK1atcx0itgtnfuJPoe+vvy1116Td955p8C5ky3+O3bsWHnwwQcLHJfoQSTReivJHmAOHTok7733nvzpT3+Sv/71r8YuMpVEfXQh3kaNGsmvf/1rM/0k3mvjIw1OVMPokQNHjx41ixjrYr9r164113z//felfv36ZmpLp06dTA1jt3ghzddff21+469rwVhtumaUjmq46KKLUv40JmqPnizS7pRPLGL66M0332x5aLRXorfzJbpusgWVvfB5ib7PRJ89K+dELpH9ddrlF198ITNmzJAVK1aYaVM6rapx48ZmWtWtt94qpUqVKsCodZ8/f74JGfStj/pAXrduXWndurV07Ngx38O9ndofPHhQPvjgA/NZ+/jjj2Xjxo15h6XzWbNzTd0n1c9TolF+0SNzNPDQ7wtdPFy/Q9Q1U6NE95Rq+GR1rlTPkWgtqnjf5XbWv4q0Tb+vbr/99nxN3b9/v9x9992WL2mIXf8qUa30pFOmTDHfi6lsf//732XMmDHy/PPPZxRg6TWtlgwgwEqlGuyLAAIIJBcgwEpuxB4IIIBAPoF4DwX6MKMPhvv27SsgZvVgnUmAdfLkSRMa6WLVdl8hfsstt8ioUaPkxhtvzBfMZBpgvfLKK7Jt2zbRMCp2U5NVq1aZEC12S7Tmir7Ratq0aVKuXLl8hyVaE0l31Gs1bdq0wLX0IUlDRH3AiQR8ybq1TlF77LHHTPAXL8hKFsjog9nbb78tQ4YMMeFi9JZugKW111EG+sBltdWrV8+EF1dddVWyW7T8eRADLC99XrIZYOnoFv2Ma6gcb4Fr7df6WY28Uc6OjX5/vfjii+a7I9mmnzXtmzqixs4i2/odocGafpdVrlw52emT/jwbAZbeR/SUM6tGaPit3y+6llOy4DvpTYiYEUGdO3e23NXu6MNUz5HoO9nquzzZiKjYxltNQ0w0git23axkAZb+uaHBvQa2mW7JFrXXtbisttgpjwRYmVaC4xFAAIH8AgRY9AgEEEAgRYF4DwX6kKdrc+hvc60e3GLfVJRugPXvf//brAu0aNGiFFsuZsSAPmTpiIrIQ1amAZb+hV3PG+9NcfF+K57owSXedJNED1jxRgjo6I/+/fub0T+pbvog9MILL5gRUlaj1xLVUNdn0pFXGjZZ9Yd0AiwN8HSUjK4XY3VODSV0hEi8BZHt3H/QAiwvfl60P+nm5Ags7advvfWWCXGTbRpi6YO+BhCDBw82axMl2zQY1f30s2m1ad/UkVvaN+2G6tHnyTR4jZzLyQBLR621adNGxo8fb+ueNDTWxc5jp8kls7X6earhk1PniDcqVs+v3y333HNP3qXsrn8VOcDqFxOJRnDFhkGJphtGrqGj5h544AFp0KCBnHvuuenQm2MSBViPP/64/PnPf7b8MyV2yQACrLRLwIEIIICApQABFh0DAQQQSFEgUYClC8hOnDgxb3HY6FPHvqkonQAr2dQxO7eir0TXB4Nf/vKXZncnAqw6deqYN1TpSKzYLfYtUpGfJ7uu1eL3u3fvNtNNdGqSnet8+umn5i11mzZtskNjuY9V6BfZMVEN1Tneb+n1+HQCLL2ehh/qELslamcqNx+kAMurn5dsBFip1Fj31c+lTp+yE3hFzq0P7jqKxupNchpede3a1bJv2m2bLvStIy8zGYnlZIBlt93R+9kdHZXs3G4FWInWwYodEWV3/avIvVqNRI63cHy8X2IkCtiiTfX7UKdoa6Ck/3vNNdcUGNGbqAaJAiwNcnU0WM+ePS1PEb1kAAFWsp7OzxFAAIHUBAiwUvNibwQQQCBu4BP5y7k+NOuUGKvwQheMHTFihJQoUSLhekBW69/oX5h1tIQGZLFbs2bNzEgfnapXvHhxM/JH11TSUV9WoyF0HRIN2ypVquRIgKXn69Onj+VIjiZNmsi8efOkYsWKec3WtYh0Wp3VtMPITlbBl66jo/dqNfooNvDSqUz6MKmvTM900/BRHyj1QSh6SxRgJbtmqgFWsjAmdoRfsuvH+3lQAiwvf168EGCl0z/ijXLcsWOH6CLfVkGxfo779u1rFsrWUZ/aj3U6on72rT7HI0eONN9zViGZnTa7HWDpKCwdHavrD2ayuRVgJfolQewIqnijp3SEn06ltxr1Gj3NO9GI2nhvLfzLX/5i1mVL9MuBeO46ok5HSd92221J1zhMFGDpnzU6Vf23v/2tqEHspn9O6D7a5wmwMvkUcCwCCCBQUIAAi16BAAIIpCiQaASWLtKtf2mNt0aRjsrRKSY6vSHVEVj6F399gIh96Es0akEXzdUHS6sHxdgFdTN9q1q834xb/Sb9yy+/NCOJrBZ+j5TDKviK97p1q2voFL4ePXpYVlcDqWeeeUb0QUunmZw+fdosyqzr8CxfvtzymN/85jcmPIyellJYAZY2KF54qT/LZNH22Jv1QoAVaZPdBbatCub1z4u22ckphCl+jaW9e2y4rp8dHZWlwVPspovOa1AdO/020TpuyV78kKzhbgdY2j79jtcRqZlsbgVYiUKl2rVrm3v7yU9+Yqaf6og8HUEVu+l379/+9jfLX1BoP9GRXLolCstiR3tFfyck+i60Y66js/TP0ieeeML8eW21JQuw9M+vRH++RoLY7777Lu5LOvTPGzVkQwABBBCwL0CAZd+KPRFAAAEjkCzA0sV8dWqFjsLSKWyxm64hooss61vw4r2RLfYhUUdU6SgGXTA9drOaahfZ55tvvjEBlq6NE7vFPiBkGmBpmKNvOLMKy2If6BLtG2mnhn365j59aNIt0ait2JEB+ga07t27W46+ive6c72GrpekXrrweuym7Vm2bJl5M1tkSxRg6fpZutaYtk1H551//vmWizsne+DWBbH1QSneuldOrR0UuacgBFh++Lwk+i7Rn6X6FkL93nn44YfN6JTy5cubUZg68lFHfcZbTF37qAZMOvVPR2PqZ0y/K3TNOKtpqtqu2O8bnYaob1+L/a5L9kbIRN8B8V7GYOePoGSfJw3ao9/CmGxh8Ng1lewYRYc0dtpstY9bAZa2JdE0PZ0qqr+Aibf+VeR7+7PPPrNchF6/XydNmmTWTUw0ojZRCKhvS9RfKKSzrmG0daI1Du0EWPpW2379+lkuGRBZD+3SSy8lwEr3Q8BxCCCAgIUAARbdAgEEEEhRwE6Apb+dHj16tJnCF7vpX9x1DY0LL7zQdoAV7yEx3johkWsmejiLDX0yDbBSCcvsrmMSvQC8hlL68LNixYoCprqAtU5VimybN2+Wli1bWk4zsRpJFX3CRCO3Yq+T7C2EkaliibpYsgdunZ55//33WwYKTizaHtu2IARYfvi8OB1gRYKF6HomC2d0IWpdIyh60++uYcOGiY6estpiA6x4n5fooMLqPIkCgtjPWSpf0ck+T6kEWFajQLUtumC9nkfDQavNiZE1bgZY7777btwXQUS+k+Otf/WrX/3K/Pmmo2z1zxidXhq9RY+wmzVrlglPY7dkf67p/hqw6nd+plPE460daCfA0naoVaIlAx588EG59957zZT+2M2JfpLKZ4N9EUAAgSAIEGAFoYrcAwIIFKqAnQBLG7Rr1y7zG2ir3xJrKKEjsfQv+FZb7OiLRG9qSvfmdWSB3kuFChXMKTINsBJNKYkOy6ymqOhDjT4s6l/oo7foBZH1N/rt27c3I9eiN30AefPNN/OtT6VTOfWhwmqL91bEyL6JFibWIElHRJUsWdLsnu0AS8OFs2fPmre7xW5OLdoee94gBFh++Lyou5NTCK1GbOk1EoXF8Y5J9PmJDrDsrGWXzvdTJg/2TgZYsd+R0feSKOTJpP2Ra7gZYNl5WYaO1LN682xk7UINT3UK9+LFiwt0Af0+03Wi4k1BtHpboVU/0qmoOuX7ueeekw8//DCdrmaOiX3Biv43uwFWoumwOhpNR1vrepMEWGmXhwMRQACBfAIEWHQIBBBAIEUBuwGW/pZe36gV701FunaV1WgibU7sg2W8tZ9SbHq+3WNHF2QaYOnJ4wUH//Vf/yWvvvqqXHnllebNZ7FTjjSo0pFRGupF/8Y++rf18c7dqFEjEwRccsklefeX6KE92fQkXfxd33S4Zs2aAryxCwtnO8BKVN/77rvPhGnR06Ey6Q+RY4MQYPnl81IYAVaq19B+YLdfJ1ovKZO+qGtq6T+66HuqW2EFWImmv/k9wDp27Jg88MAD5s+v2E2/A2fMmGGCUav1ryIBp/75pyP59J/YTUfY6fd9vBG18da/itcXdB02ncKqf8bon6m6nmGqW+wbNu0GWHqdREsG3HLLLaKjk62WE3Cin6R6n+yPAAII+F2AAMvvFaT9CCBQ6AJ2AyxtmL4pSUMZqzAkUcNjAyydzqMLzjq5xa5R40SAlegv/ZHgyMpPR0XpiCmr39hHjov3unWrtxUm8oo36sROgBM7IsPug36iuiULjOIdq7/d14fFX/7yl052i4Qj8fRCyfwSNSZVr3QXcffL5yXVcCmdfp3qNbR+duuUbt9N1mGjR14m2zf254UVYCX6rnMimHBzBJaaxvslgP4yQgNiDaFiR1fFrlsY75cOWl99g1+3bt0KjKjVa8e+YCTVPnDkyBEzguq9994zI5+0P8dbBy5y7thRX6kEWMmm3cZrvxP9JFUb9kcAAQT8LkCA5fcK0n4EECh0gVQCLG1cogeReI33a4CVaESGLmysa8bootH6cBTZIg89NWvWtJxSog/tGlINGDDAckSA1cNOOg/6fguwtL2J3kCZ7gcjWShBgFXD0DoR+KYaLqXTr1O9BgHWfz45iaYQBj3ASrTIvr7BdebMmQXWt4qsf6XrO+oWz0hHzer0equ3xNpZ/yrV7zb9rI4fP978uRMvyIp9+2UqAVaie03UVgKsVCvJ/ggggIAIARa9AAEEEEhRINUASxcf1984L1q0yPaVYkOCeKOPYn/jbfsCFjs68UCup403fUunizz66KPmbXrvvPNOXguiH3qsfmMf7zg9Qbw3nWUyhTCRgxtTCHWqp05r3LZtm2V5NdTQULBo0aKZlD/v2CAEWH75vKQaLnktwEr0YgW76xg50mmjTsIIrP9gxFskXfeIXc8vtg6J1sHSP3d0dHHsFjsaNt4vNHT9vquvvtq8hTB2y1a/0WmGo0aNMr8ksdpi/yxJNcDSKZMakukvWuxuBFh2pdgPAQQQ+I8AARa9AQEEEEhRINUAS0+v0+D0L+bJpjFEmhIbYCVaVPm1116TNm3apHgXBXd3KsCK9wZA/Q23rgemrx2Pdohe78TqoUEfLPQYfTiK9Yv3prNMFnGPt1i8isVObbI71SpRcRK560LH+kYvvY7eq9Xm9FTCIARYfvm8+D3AOnHihBlVOXny5AJds169ejJ//ny54oorMv5uSuUEQQmwEi0SH+/tiNFOiV6qofslC0+SvcHSqiaxb6jUfey+cTZyvkTrn2lttb/1799frrvuulS6hdk30fd17FqKqQZYev5///vf5nv67bffttW2ZDWwdRJ2QgABBEImQIAVsoJzuwggkLlAOgFWqg8DsQFWvFBI70bX2NI3HZ133nkZ3ZxTAZYuWKt/ide3VMVutWrVKrDAbvQUwHi/sbc6Ts+t67BosBW7JfLSxYMnTpwo5557rqXXkiVLpG3btpY/i71etgOsSGCmQUGiUXxOTiUMQoDll8+L3wOsZAHFSy+9ZKaJpbMYe7pfZkEJsBIFKFZvXo31Srb+op11plIJn+KNBl69erU0a9bMdjkTtStSW33joIY/2rdKlChh+9yJ2hL7y5B0AixtSCpLBhBg2S4dOyKAAAJ5AgRYdAYEEEAgRYF0Aiy9xEcffWRGYenUjGRbbIClU3W6d+8uS5cutTz0qaeeksGDByd9I51Oc/jiiy/Mb8Uvuugieeyxx/LO9/3338d97flVV11lpkDqtI9kW7Lf/EcfH/12wsh/t/vQlGj6ZCIvffjTxYetHqr27t1rDKzeDqnXW7ZsmdStWzfvFgorwNI3Deq1OnXqFLf/6PQYHZ2Q6VTCIARYfvm8BCHA+stf/iKtW7e2nFJWtWpVefHFF0WnCScLsXSK17p162TMmDFmmpeOPkxnC0qAdfToUenbt6+88sorlgwauOiUtfPPP7/Az9VS31CqU4uttnhTr2P3TbQOVuy+setfRX6eaCpi7Dms/jyI3ie2ttdff715W6W+yCLZ21i//vpr80sADcisNvXSX4ZE+mm6AVYqSwYQYKXzCecYBBAIuwABVth7APePAAIpC6QbYOlDhf5lWxczT7ZZLZSd7De7+rpufbPTL37xC6lcuXJekKGjvzSY0XPqa8aXL19uLh/7l+dko8TuuOMO89p0XWT37Nmz5rXgv//9700QpMFK9Bbv7VOx92213ondh6Z4D0yRa0yfPt1ykWD9uT5Y61sd9Z7Kly8vp06dMuux6MNzxCe2rVYjtwozwEq2hoveky6s3LBhw2TdK+HPgxBg6Q364fMShAAr2feGBsb6OdM3zmlwooGLhgQaph86dEg+//xzWbt2rXmj5l//+lfTNzN5UUBQAix1SDQaVH9+2223yaBBg+SGG26Q4sWLi35HaGCkb3XVtQjjTVkfOnSoDBs2LGnY/eWXX5rv9ug1C+N9eVi9DVb3TdY/os+XbP2reLXV7z5dFP7WW2+VK6+80nyn5+TkGA895oMPPjB/dunILavNKtBLN8DS89tdMoAAK6M/qjgYAQRCKkCAFdLCc9sIIJC+QLoBll4x0V+Ko1tk9QCnD3u6FpQuzOvEZvWX53iLXye6ntW6J3bvUxel1oXdo0dn2H1oil47y6p9uvC5/sY93qi1VAz1AUnrHjsqpDADLG1vsjVWWrVqZR5cdXRduluyACvV80b3j1S9Ej38JnpDnLbRD5+XIARYav3JJ59Ihw4dTKjtxEaA9T+KTvdhPaeuTTZjxgzRUbXJtlTCJ6s/ByLnj/dij9jrW/15EL2P099NkXPrOoMa1EX/OZRJgGXXjQArWQ/k5wgggEBBAQIsegUCCCCQokAmAZaOOtApcjrVK9EW7wFux44dZlqJ/oY3083qL8+JpgPFu57Vg4vdv8DrfTRt2jTfqRMtDB29o501XPSBWkd+bNq0KW0uHUHy3HPPmQXoixQpku88qQYyVo1IdcSI3rdOH4o3umL06NHy4IMPFmirXQCnHxLdCrD0fr3+eQlKgKXfaxoUa7+zM0U6WV8kwPqPkAYpOn1cv2sy3TSI13X8dERcsimdqYRPyd6Ga3dUbbLvdKe/m/QedUS09tvYtbQyCbD0vHb+LCXAyrRHczwCCIRRgAArjFXnnhFAICOBTAIsvfCuXbvMdIdEDySJHuB0OqCud6W/Nc5ks/rL88mTJ82IKF0PxO4W7zfvyX7rrm8lnDdvnpnOF7slOzaVN5x9/PHH5q1V6TwAanilDzi9e/e2nG7jRoCl4aDWXxeit9rijRazW0+nHxLdDLD0nr38eQlKgKXOGmLpVK0+ffrItm3b7HY3y/3sXGdoAAAgAElEQVQIsPKzaCioU/QyGU1ao0YNGTdunOjIRbvhlbbCTviUbDq3nVG1dtbl0vWlNLy3WqMw1Q53wQUXmDBPR15ZrRuYaYBl589SAqxUq8b+CCCAgAgBFr0AAQQQSFEg0wBLH/SmTZtmRvTE25I9wOlfjtesWWNGBr333nsp3UFkTRodyaWL4MZuOrJHQxtdFNzOFi/ASvQmOD1v5A17VovvZnKsVZt1OqE+vOnaMN9++62d2zKjFHSRe30DYrwHPjcCLG28jizr2LFj3KBA264hYMWKFW3da/ROQQuw9N68+nkJUoAV6UPaf3ThcX0zaqqjsTR81dFG+t2Y7jTYVEc0pjtNNVHAkY1gQvuwroml07wja4XZ+XBrUKMB/IABA9L6PrATPsVb/yrSPl1jUBeU19HH8bZk619FjtN66Z95+ueOBll2v88jx6uHrhV5//33y+WXXx63PZkGWHriZFNrs9FP7PQJ9kEAAQT8LECA5efq0XYEEHBFINMASxu9b98+85doXezcaksWYEWO0cXU//nPf5rfkusrwnfu3Clbt27NN71MAxh9MNTFvXWh95/97GdJ39ikIdt///d/mzc26ZvB/v73v+d7GNVFg3/0ox9Jo0aNzBvGrEZRffPNN+a35W+99ZblPWqYpCGW1ZbJsYk6ha4pow8/f/rTn8xDYLSVjlBQq8g9XXbZZWYh4ESbWwGW1kffQKYPpfG2dKcSBjHA8urnJYgBVnRooZ8x/bzpd4iGWVu2bMnrrhqk16xZU6pVq2amEeuIzCpVqiRdWDzZl35QA6zIfevC5BqMvPvuu5au+l2sL9rQX07od5l+V5933nnJ2OL+3M6U7kTrX0VOnOylCsnWv7JqoAZj2sd0irgu0K59TEf/RYda+r3+k5/8ROrUqWM81OXcc89N6uFEgKVv5NXvYV0032ojwEpaBnZAAAEECggQYNEpEEAAAQQQQAABBBBAAAEEEEAAAQQ8LUCA5eny0DgEEEAAAQQQQAABBBBAAAEEEEAAAQIs+gACCCCAAAIIIIAAAggggAACCCCAgKcFCLA8XR4ahwACCCCAAAIIIIAAAggggAACCCBAgEUfQAABBBBAAAEEEEAAAQQQQAABBBDwtAABlqfLQ+MQQAABBBBAAAEEEEAAAQQQQAABBAiw6AMIIIAAAggggAACCCCAAAIIIIAAAp4WIMDydHloHAIIIIAAAggggAACCCCAAAIIIIAAARZ9AAEEEEAAAQQQQAABBBBAAAEEEEDA0wIEWJ4uD41DAAEEEEAAAQQQQAABBBBAAAEEECDAog8ggAACCCCAAAIIIIAAAggggAACCHhagADL0+WhcQgggAACCCCAAAIIIIAAAggggAACBFj0AQQQQAABBBBAAAEEEEAAAQQQQAABTwsQYHm6PDQOAQQQQAABBBBAAAEEEEAAAQQQQIAAiz6AAAIIIIAAAggggAACCCCAAAIIIOBpAQIsT5eHxiGAAAIIIIAAAggggAACCCCAAAIIEGDRBxBAAAEEEEAAAQQQQAABBBBAAAEEPC1AgOXp8tA4BBBAAAEEEEAAAQQQQAABBBBAAAECLPoAAggggAACCCCAAAIIIIAAAggggICnBQiwPF0eGocAAggggAACCCCAAAIIIIAAAgggQIBFH0AAAQQQQAABBBBAAAEEEEAAAQQQ8LQAAZany0PjEEAAAQQQQAABBBBAAAEEEEAAAQQIsOgDCCCAAAIIIIAAAggggAACCCCAAAKeFiDA8nR5aBwCCCCAAAIIIIAAAggggAACCCCAAAEWfQABBBBAAAEEEEAAAQQQQAABBBBAwNMCBFieLg+NQwABBBBAAAEEEEAAAQQQQAABBBAgwKIPIIAAAggggAACCCCAAAIIIIAAAgh4WoAAy9PloXEIIIAAAggggAACCCCAAAIIIIAAAgRY9AEEEEAAAQQQQAABBBBAAAEEEEAAAU8LEGB5ujw0DgEEEEAAAQQQQAABBBBAAAEEEECAAIs+gAACCCCAAAIIIIAAAggggAACCCDgaQECLE+Xh8YhgAACCCCAAAIIIIAAAggggAACCBBg0QcQQAABBBBAAAEEEEAAAQQQQMDzAkdO5Mo3R3IdbeePLsxx9HycLHsCBFjZs+XMCCCAAAIIIIAAAggggAACCCDggMCqv56W59446cCZ8p+iWBGR5zuVkqurEGQ5juvwCQmwHAbldAgggAACCCCAAAIIIIAAAggg4JzAD2dEWow5KmfOOnfO6DPVuDhHJncrlZ2Tc1bHBAiwHKP03olyc3Pls88+k2nTpsmKFStk+/btcsEFF0jjxo3lvvvuk4YNG0pOTsGU+ezZs7Ju3Tp58cUXZe3atfLDDz9I/fr1pUePHnLbbbdJiRIlLG92165dMmHChLxr1apVS9q3by/du3eXihUrWh5z8uRJWb58uWnj+vXrpVixYknb5z1pWoQAAggggAACCCCAAAIIIJAtgW+P5Mqd449l6/RyQZlzZFH/0hmf/+DBg9K3b1955513bJ1Ln5/btGlj9h03bpyMGTNGmjdvLs8991zcZ2jd98MPP5TWrVtLly5d5KmnnpKSJUuac+zcuVN69+4t//jHPyyvf/7550udOnWkadOm0qJFCylfvrytdnplJwIsr1TC4XZoeLVw4ULp06ePfPvtt1KjRg2pWrWqHDp0SDZu3GiuNnToUPPPueeem3f1M2fOyJw5c6Rfv35y+PBhueGGG0yotHXrVvPvVsfowfpz/aBs2rTJXOuyyy6THTt2yO7du6VZs2YyceJEqV69er671PBq9OjR8sQTT0jZsmWlZs2aJizT9um/jxw50pyzaNGiDutwOgQQQAABBBBAAAEEEEAAAb8IhCnAijyr9+rVK+6zcLoBVnS9q1WrJsOGDZNGjRrJOeec44uuQIDlizKl3shPPvlEOnToIMeOHZNJkybJrbfeakZbabD10UcfmYBKwyYNqzp16pR3AR0Fpf9euXJlc1zt2rXNz/7v//2/0r9/f3n33XflpZdeMueObPv37xf9cK1Zs0bGjh0rXbt2NR+0o0ePmgRZPxSaQmtYVarUf4ZlLliwQHr27CkNGjQw19KALbp9e/fulblz55rRX2wIIIAAAggggAACCCCAAALhFPBjgLVs2TK5/vrrbRcsMgJLD6hSpYoZkXXjjTdaHp8swNKDpkyZIhpSRW86YOTzzz83P1u8eHHS69hufCHtSIBVSNCFfRkNkh588EF5/vnnZeDAgQUS1VWrVkm7du3MsEMNj3TEk46IGjx4sIwfP15ee+21vKGMkbZHQrErr7xSpk+fnjfccMmSJdK2bVsTcGlIFT3FUEd8aVi2evVq0Q9w3bp1zel0aKVOLdTRVtH/PXKtSPu6detW4JyFbcn1EEAAAQQQQAABBBBAAAEE3BMIU4BVqVIl2bdvn1la5/e//73ov8du6QZYkfOcOnVKpk6dKqNGjTIzpnTgyYUXXuhegW1emQDLJpSfdjtx4oSMGDFCFi1aZIImqxFMuh7WXXfdZUZa6SinChUqmOl+d999txQvXtz8t0suuSTfbetorgceeMCscfXGG2+Y0Vna8YcMGWJGXmnopHNpY7dZs2aZUVkvvPCCCdN027x5s7Rs2VKaNGmSF6BFH6ejurQtes158+aZ0VlsCCCAAAIIIIAAAggggAAC4RMIU4Clz/JbtmwxI6R0gIkuCxS7rE6mAZb2IJ3xpINNPvjgA5kxY4YJsry+EWB5vUJZap+OptIRWD/+8Y/zAiwdDaWdVoOtP/zhD1K6dMFF7IYPH27WrIpMPdSRVLpw3J49e+TVV18VHZ0Vu+m0xJtvvtlMM9SgS6cR6vpcOg3xySefNP/Ezrk9fvy4Cbs0FX7//feZRpilfsBpEUAAAQQQQAABBBBAAAGvC4QpwNKF3a+66irz4rXvv//erCcdOyjFiQBLl+95+eWXzZI/GmQNGjRIihQp4umuQIDl6fJkp3HaUTVIeuihh+Txxx83AZJ21D/+8Y/SqlUrExzpUEIdiRW76ciszp07y9NPP22OjYza0v3ijZSyGu0VmeIYPSor9lqxYVl2NDgrAggggAACCCCAAAIIIICAlwXCFmDdcccd5vlaR2DddNNNoqGWzp6KbE4EWHouXeO6Y8eO5o2EuvyQLi3k5Y0Ay8vVyVLb1q1bZ6b06QgrXUj95z//ublSbDhldfnYfazCqdjjrPaxE07Z2SdLRJwWAQQQQAABBBBAAAEEEEDAIwJ+DLCS0cUu8h5ZxF3DqjZt2pjldJ566inznK7rTesAlMhUQqcCrMh59E2EOtKrfPnyyZrt6s8JsFzlL/yLb9iwwQxF1LcK6psHNG2NTN8LWoCl62yxIYAAAggggAACCCCAAAIIJBeIvIE++Z6Fv0cYAyxV3rFjh9x///1myZ6XXnpJGjZsaPAJsAq/D3LFQhTQaYMrV66UAQMGyJdffmmmEOoorOjF4IIUYEVCuY8++qgQlbkUAggggAACCCCAAAIIIOBPAQKsgmtAp1pJXSO6b9++8s4770jsCKtk54odgaX763P8kiVLzAis66+/3kwlvOyyywiwkmHyc/8KnD592gw7fPDBB81NaKfXBdRzcnLy3dTq1avNIu6PPPKI6PQ9qwXcIiHXyJEjzX4ahnXq1Mmcx+rNhfrfI1MIq1SpIrNnzzbDEnVx9t69e5tRYLq4u9UWmUKo0xx1YflUtkiApR94NgQQQAABBBBAAAEEEEAAAf8K+HEElhMBllYseiqhPjsPGTJEtm3bJq1btzYvVNNphiVLljTF3blzp3nO1k2ftatVq5aw6KtWrZJu3bqZF7zp2w/LlCnj6U7CFEJPlyfzxh09elQ0bNJ/atSoYTqxDjuMfeufXilIbyEkwMq873AGBBBAAAEEEEAAAQQQQMALAmEOsNRfpxLqy9b0f8ePHy8XXHBBxgHWmTNnRF+qpiO/dLF4HeVllRN4of6RNhBgeakaDrfl8OHD8vDDD8uLL75oRlb94Q9/kCuvvDLuVSJvFNS3D1qNptLz9enTR9asWSNvvPGG6BDTU6dOmQRYpyRqetu0adMC54+Mtop+46CuT9WyZUtp0qSJTJo0qcDbDiIju/T88d5umIiLAMvhzsTpEEAAAQQQQAABBBBAAAGXBMIeYOnMIh3Rpc/e1atXl7vvvlsGDRqU0QisvXv3Sr9+/eSTTz6R6dOny8033+xSde1flgDLvpWv9tSRV5qiTp48We68804TMF166aUJ7+HkyZPmGE10X3vtNfPmg+hNO7ZOPdQQTDt45A0FOie3bdu2JrEdPXq0lChRIu+wQ4cOmQ+FTk/UD1zdunXNz3RucPfu3c2or+j/HjlQwzAdxqjDGWPPaacQBFh2lNgHAQQQQAABBBBAAAEEEPC+QNgDLK2QTiV85plnZObMmVKpUiXZt29f2gGWDhTRrGDMmDFy2223mWfucuXKeb4jEGB5vkTpNVDXjerZs6f88pe/NOtNXXTRRbZOtH79erOmVeXKlc1aWXXq1DHDCPWthRpQrVixQubMmZO37pWedP/+/WYdKx2ZpUFZ586dTYilIZp+IIYNG2Z+rj8rVapUXjsibWzQoIEJzX784x+bRep04XUNvfRNC7qP/jzVjQArVTH2RwABBBBAAAEEEEAAAQS8KUCA9T91iUwl3LJli/n3VNfAOnHihHzxxRdmaaHFixeLrlM9ceJEs0C8HzYCLD9UKcU2fvPNN6Yjv/XWW0mPbN68uZkuWKFCBbOvLviunXno0KGiUwZvuOEGKVasmGzdutX8u/53/efcc8/Nd+4NGzbIfffdZxaT07W29M0I+uHSaYk6fVE/FDrUMXqLXp+rbNmyUrNmTfnhhx/MqCz9d123Sxegi35TYtIb+t8dCLDsSrEfAggggAACCCCAAAIIIOBtAQKs/6lP9FTCI0eOxA2w/vGPfyQtqC7w/txzz5lnfq+vfRW5GQKspGX13w6R9aW++uqrpI2PDbD0gLNnz8q6devM2llr1641oVL9+vWlR48eZnhh9BTB6Avs2rXLjNrSUVr65sFatWpJ+/btzVTBihUrWrZFpy0uX75cpk2bJjr6S8Oyxo0bmzBMF5uPfVNi0hsiwLJLxH4IIIAAAggggAACCCCAgC8ECLD+UyYdRaVTCWfMmJFygKUjrvQ5/dZbbzWztXTgiJ82Aiw/VYu22hZgBJZtKnZEAAEEEEAAAQQQQAABBDwt4JcAy9OIAWgcAVYAisgtFBQgwKJXIIAAAggggAACCCCAAALBECDACkYdM70LAqxMBTnekwIEWJ4sC41CAAEEEEAAAQQQQAABBFIWyHaAVbSIyMqH86/znHIjOSDrAgRYWSfmAm4IEGC5oc41EUAAAQQQQAABBBBAAIHsCPSdeVw+/ffZrJz81muLyu9alMjKuTmpcwIEWM5ZciYPCRBgeagYNAUBBBBAAAEEEEAAAQQQyFBg73e5MvXPp2TPN86GWD+/vIg88KviGbaOwwtDgACrMJS5RqELEGAVOjkXRAABBBBAAAEEEEAAAQQQQCBrAgRYWaPlxG4KEGC5qc+1EUAAAQQQQAABBBBAAAEEEHBWgADLWU/O5hEBAiyPFIJmIIAAAggggAACCCCAAAIIIOCAAAGWA4icwnsCBFjeqwktQgABBBBAAAEEEEAAAQQQQCBdAQKsdOU4ztMCBFieLg+NQwABBBBAAAEEEEAAAQQQQCAlAQKslLjY2S8CBFh+qRTtRAABBBBAAAEEEEAAAQQQQCC5AAFWciP28KEAAZYPi0aTEUAAAQQQQAABBBBAAAEEEIgjQIBF1wikAAFWIMvKTSGAAAIIIIAAAggggAACCIRUgAArpIUP+m0TYAW9wtwfAggggAACCCCAAAIIIIBAmAQIsMJU7RDdKwFWiIrNrSKAAAIIIIAAAggggAACCARegAAr8CUO5w0SYIWz7tw1AggggAACCCCAAAIIIIBAMAUIsIJZ19DfFQFW6LsAAAgggAACCCCAAAIIIIAAAgESIMAKUDG5lf8IEGDRGxBAAAEEEEAAAQQQQAABBBAIjgABVnBqyZ1ECRBg0R0QQAABBBBAAAEEEEAAAQQQCI4AAVZwasmdEGDRBxBAAAEEEEAAAQQQQAABBBAIpAABViDLyk0xAos+gAACCCCAAAIIIIAAAggggEBwBAiwglNL7iRKgACL7oAAAggggAACCCCAAAIIIIBAcAQIsIJTS+6EAIs+gAACCCCAAAIIIIAAAggggEAgBQiwAllWbooRWPQBBBBAAAEEEEAAAQQQQAABBIIjQIAVnFpyJ1ECBFh0BwQQQAABBBBAAAEEEEAgYAIHReRLh+/paofPx+myJkCAlTVaTuymAAGWm/pcGwEEEEAAAQQQQAABBBBwWGCmiPzG4XPq6YqLyNsiclMWzs0pHRUgwHKUk5N5RYAAyyuVoB0IIIAAAggggAACCCCAQIYCp0SkjIj8kOF54h1eR0Q+zNK5Oa1jAgRYjlFyIi8JEGB5qRq0BQEEEEAAAQQQQAABBBDIQOArEbkkg+OTHXqxM1MTDx48KH379pV9+/bJlClTpFq1anGvfOLECXnqqadk9uzZsmzZMrn++uvNvtH/vWvXrvLYY49J6dKl455nyZIl0q9fPxk0aJAMGDAgb79x48bJmDFj4h53zTXXSL169aRVq1ZSq1YtycnJSabk+s8JsFwvAQ3IhgABVjZUOScCCCCAAAIIIIAAAggg4IJASAOsMmXKyKhRo6R169YSecaN1U83wIo+jwZlgwcPlvPPP9+F4tq/JAGWfSv29JEAAZaPikVTEUAAAQQQQAABBBBAAIFEAiENsJRER0eNHTtWqlevbimULMCKHZmlJ8nNzZXvvvtOVq1aJZMmTZKdO3eKndFebndSAiy3K8D1syJAgJUVVk6KAAIIIIAAAggggAACCBS+QEgDrEqVKpnpiJ06dTLTDa2mEqYTYEUX8LPPPpPf/e53smXLFpkwYYK0adOm8Otr84oEWDah2M1fAgRY/qoXrUUAAQQQQAABBBBAAAEE4gqENMCaPHmyzJkzRz744AMZP368CZdipxJmGmDpaKx58+aZKYQtWrSQ559/XsqWLevJzkiA5cmy0KhMBQiwMhXkeAQQQAABBBBAAAEEEEDAIwIhDbB0cfdjx45Jz5495fLLLxcNtGKnEmYaYGmF9+zZI/fff7+ZVvjyyy/LVVdd5ZHC528GAZYny0KjMhUgwMpUkOMRQAABBBBAAAEEEEAAAY8IhDjA0jWwdFSUjsBq166dPPPMM/lGSDkRYB05ckQeffRRWbx4scyYMUOaNWvmkcITYHmyEDTKWQECLGc9ORsCCCCAAAIIIIAAAggg4JqAzwKsd955JyUqHWl1/fXXm2NOnDhh1ruaPXu2RP67roOl61StXbtWRo8eLXfffXfeVEInAqzoa3p5HSxGYKXUrdjZLwIEWH6pFO1EAAEEEEAAAQQQQAABBJIIhDzAUp3169dL3759pVy5cvLiiy/mTfMjwOLTg4DPBQiwfF5Amo8AAggggAACCCCAAAIIRAR8FmDpiKkpU6ZItWrV4tbQaqSV7hzvv58+fVomTZpkRmDddttt5n81zCLA4mOCgM8FCLB8XkCajwACCCCAAAIIIIAAAggQYOVNLVSK6KmEw4YNk+7du8vSpUulX79+MmjQIBkwYEBenxk3bpyMGTOmwH+36lSHDx+Whx56SFasWCHz58+XBg0aeLLvMYXQk2WhUZkKEGBlKsjxCCCAAAIIIIAAAggggIBHBBiBlVeIDRs25AVVL730kuzcuTPjAGv79u3Sq1cvKVasWNKRY272CAIsN/W5dtYECLCyRsuJEUAAAQQQQAABBBBAAIHCFSDAyvPWqYRTp06VkSNHyq233ip16tSR4cOHpz0CKzc3V+bNmyeDBw+W9u3by4gRI6R06dKFW1+bVyPAsgnFbv4SIMDyV71oLQIIIIAAAggggAACCCAQV4AAKx/N/v375eGHH5aVK1dKpUqVzNTCdKcQfvbZZ2YE1549e2T8+PHSvHlzz3ZEAizPloaGZSJAgJWJXkCOPbBFZOtzIntWiPxwJDs3VeJ8kSrNRWo+LFKhVnauwVkRQAABBBBAAAEEEAi7AAFWgR4QmUr4r3/9y/wslQDr7NmzcvDgQVmzZo1ZGF6nIXbr1k0ee+wxKVmypGd7GwGWZ0tDwzIRIMDKRC8Ax2p49Xp9kdPHC+dmipYSabWeEKtwtLkKAggggAACCCCAQNgECLAKVDx6KmGiAMtOV7n33nvNiK4yZcrY2d21fQiwXKPnwtkUIMDKpq4Pzr22g8jOhYXb0Gp3iTReULjX5GoIIIAAAggggAACCIRBgADLssoHDhwwwdObb74ZdwRWvO5x3XXXyS233CK33367/PSnP5WcnBzP9yQCLM+XiAamI0CAlY5agI6ZUTZ70wYTMfXMDRAit4IAAggggAACCCCAgEcEfBJgeUQrsM0gwApsacN9YwRY4a6/vHSOOwAEWO64c1UEEEAAAQQQQACBYAsQYAW7vjbvjgDLJhS7+UuAAMtf9XK8tQRYjpNyQgQQQAABBBBAAAEEXBPIdoBVTEROuXZ3XNimAAGWTSh285cAAZa/6uV4awmwHCflhAgggAACCCCAAAIIuCpwg4hsylIL7hWR6Vk6N6d1TIAAyzFKTuQlAQIsL1XDhbYQYLmAziURQAABBBBAAAEEEMiiwBciMkhEPnP4Gg1EZLLD5+R0WREgwMoKKyd1W4AAy+0KuHx9AiyXC8DlEUAAAQQQQAABBBBAAAFnBQiwnPXkbB4RIMDySCHcagYBllvyXBcBBBBAAAEEEEAAAQQQyIoAAVZWWDmp2wIEWG5XwOXrE2C5XAAujwACCCCAAAIIIIAAAgg4K0CA5awnZ/OIAAGWRwrhVjMIsNyS57oIIIAAAggggAACCCCAQFYECLCywspJ3RYgwHK7Ai5fnwDL5QJweQQQQAABBBBAAAEEEEDAWQECLGc9OZtHBAiwPFIIt5pBgOWWPNdFAAEEEEAAAQQQQAABBLIiQICVFVZO6rYAAZbbFXD5+gRYLheAyyOAAAIIIIAAAggggAACzgoQYDnrydk8IkCA5ZFCuNUMAiy35LkuAggggAACCCCAAAIIIJAVAQKsrLByUrcFCLDcroDL1yfAcrkAXB4BBBBAAAEEEEAAAQQQcFaAAMtZT87mEQECLI8Uwq1mEGC5Jc91EUAAAQQQQAABBBBAAIGsCBBgZYWVk7otQIDldgVcvj4BlssF4PIIIIAAAggggAACCCCAgLMCBFjOenI2jwgQYHmkEG41gwDLLXmuiwACCCCAAAIIIIAAAghkRYAAKyusnNRtAQIstyvg8vUJsFwuAJdHAAEEEEAAAQQQQAABBJwVIMBy1pOzeUSAAMsjhXCrGQRYbslzXQQQQAABBBBAAAEEEEAgKwIEWFlh5aRuCxBguV0Bl69PgOVyAbg8AggggAACCCCAAAIIIOCsAAGWs56czSMCBFgeKYRbzSDAckue6yKAAAIIIIAAAggggAACWREgwMoKKyd1W4AAy+0KuHx9AiyXC8DlEUAAAQQQQAABBBBAAAFnBQiwnPXkbB4RIMDySCHcagYBllvyXBcBBBBAAAEEEEAAAQQQyIoAAVZWWDmp2wIEWG5XwOXrE2C5XAAujwACCCCAAAIIIIAAAgg4K0CA5awnZ/OIAAGWRwrhVjMIsNyS57oIIIAAAggggAACCGRP4ORBkWNfOnv+8lc7ez7OljUBAqys0XJiNwUIsNzU98C1CbA8UASagAACCCCAAAIIIICAgwL/PVPknd84eML/PVVOcZGWb4tcdJPz5+aMjgoQYDnKycm8IkCA5ZVKuNQOAiyX4LksAggggAACCCCAAMVj2RIAACAASURBVAJZEDhzSmRGGZGzP2Th5CJSsY7IHR9m59yc1TEBAizHKDmRlwQIsLxUDRfaQoDlAjqXRAABBBBAAAEEEEAgSwLHvhKZc0mWTi4ipS8W6Zz51MSdO3dK7969pVKlSjJx4kQpX7580jafOHFCnnrqKZk9e7Z07dpVHnvsMSldunTc45YsWSL9+vWTQYMGyYABA/L2GzdunIwZMybucddcc43Uq1dPWrVqJbVq1ZKcnJykbfPaDgRYXqsI7XFEgADLEUb/noQAy7+1o+UIIIAAAggggAACCMQKhCTAKlOmjIwaNUpat24tkWfaWIp0A6zo82hQNnjwYDn//PN91dcIsHxVLhprV4AAy65UQPcjwApoYbktBBBAAAEEEEAAgVAKhCTA0trq6KixY8dK9erVLUudLMCKHZmlJ8nNzZXvvvtOVq1aJZMmTRIdKWZntJfX+hoBltcqQnscESDAcoTRvychwPJv7Wg5AggggAACCCCAAAKxAiEJsHTq4b59+6RTp05mWqHVVMJ0Aqxozs8++0x+97vfyZYtW2TChAnSpk0b3/Q3AizflIqGpiJAgJWKVgD3JcAKYFG5JQQQQAABBBBAAIHQCoQkwJo8ebLMmTNHPvjgAxk/frwJl2KnEmYaYOlorHnz5pkphC1atJDnn39eypYt64uuRYDlizLRyFQFCLBSFQvY/gRYASsot4MAAggggAACCCAQaoGQBFjLli2TY8eOSc+ePeXyyy8XDbRipxJmGmBpP9qzZ4/cf//9Zlrhyy+/LFdddZUvuhcBli/KRCNTFSDASlUsYPsTYAWsoNwOAggggAACCCCAQKgFQhRg6RpYOipKR2C1a9dOnnnmmXwjpJwIsI4cOSKPPvqoLF68WGbMmCHNmjXzRfciwPJFmZxp5OnTp+XJJ5+UzZs3y9y5c6VChQpxT7xr1y4zH3bFihWyfft2qVq1qhm+2KtXL6lRo4blcbHH6Aevffv20r17d6lYsaLlMSdPnpTly5fLtGnTZP369VKsWDFp3Lix3HfffdKwYcO0X+1JgOVMn/HtWQiwfFs6Go4AAggggAACCCCAQAGBEAVY119/vVkHS9epWrt2rYwePVruvvvuvKmETgRYJ06cMGtszZ4921frYBFgheS7QcOrKVOmyNChQ+Wmm25KGGCtW7fOvJFg9+7dJqzS8Er/fyTImjlzpgmXoretW7dK7969ZdOmTeaYyy67THbs2GGO0zR34sSJBYY+anilH8YnnnjCJMo1a9aUH374QTZu3Gj+feTIkeacRYsWTblKBFgpkwXrAAKsYNWTu0EAAQQQQAABBBAIt0DIAiwttg7w6Nu3r5QrV05efPHFvGl+BFjh/igE/u4PHz5swqBRo0aZe23evHncAOvTTz+Vbt26yd69e2XMmDHStm1bMwpKwyZdTG7gwIFSr149mTVrllx88cXmfPv37zcjs9asWWNe96nhl4ZOR48eNecYNmyY+eBpWFWqVKk87wULFpi5vQ0aNDCv8tSgTBeU++ijj6Rfv36mDTpSrH79+inXiAArZbJgHUCAFax6cjcIIIAAAggggAAC4RYIYYClg1D0OVmfo2+77TbzvxpmEWCF+6MQ2LvXDv/222+bua0ffvih6Cs5jx8/HncE1pkzZ0zYNHz4cHnppZekR48e+d54oCGWvqng9ddfl0WLFokObdRNP0AadPXv3998qEqUKJFneujQIRNGrV69WnRBurp165qfHTx40Ewt1NFW0f89cuCqVavMfF8N02LPaadgBFh2lAK8DwFWgIvLrSGAAAIIIIAAAgiETiCEAZbWOHoqoT6r6zP00qVLzTP2oEGDZMCAAXldYdy4cWYASex/t+orOsjloYceMksGzZ8/3wwq8cPGFEI/VCnNNuqQw5tvvtlMx9M3DNx+++3mfytXrmw5AuvLL7+UTp06mavpyKdLLrkk6ZVPnTolQ4YMMSOvNHRq2rRpgWN0tJaOynrhhRfMCC7ddB2uli1bSpMmTUyqHPvaTh3VpfN89Q0M+opPHZ2VykaAlYpWAPclwApgUbklBBBAAAEEEEAAgdAKhDTA0npv2LAhL6jSgSY7d+7MOMDS5YF0FpWuQa1LDVWrVs0XXYsAyxdlSq+ROurqrbfeMuGRvoJTO+ldd90VN8DS0VC6XpWOvNLphsWLF096YR1J1aVLF/MazldffVWuvPLKAsdEgjT9gGjQpdMIFy5cKB06dDCLyus/kcApcrCOFNOwa+rUqfL++++nPI2QACtp6YK9AwFWsOvL3SGAAAIIIIAAAgiESyDEAZbOrNLnYl0W6NZbb5U6deqYWVPpjsDSZXt0kIjOrtKXro0YMUJKly7ti/5EgOWLMjnTyGQBViRU0pFSOlJL3w6oi8Xpmw90YXadJtinT598I7N0kXYdKaVbvJFSVtfVIOvBBx/MNyor9i71Q6kLvOvaW5GRYXYlCLDsSgV0PwKsgBaW20IAAQQQQAABBBAIpUCIAyytt85Qevjhh2XlypVmaSCdWphugPXZZ5+ZEVw6CGX8+PFmjWy/bARYfqmUA+1MFmDptMHOnTubebOffPKJeaXmDTfcIGXKlMl7o+C1115rQq0bb7zRtCjZOePtYyecsrNPPBYCLAc6jJ9PQYDl5+rRdgQQQAABBBBAAAEE8guEPMBSjMhUwn/961/GJpUA6+zZs2Ydan3xmi7ho9MQdb3pxx57TEqWLOmb3kaA5ZtSZd7QZGHTs88+K0OHDjUX0qmE+u+1atUy0/v0jYI6MkvDLR2yqOHWpZdeSoCVeVk4QzYECLCyoco5EUAAAQQQQAABBBBwR8BnAdY//vGPpE4TJkyQNm3ayIkTJ+Spp54yz9j6grPIy9JiTxA9lTBRgJX0wiJy7733mhFdOljFTxsBlp+qlWFbkwVYkWl9umD64sWLTVAVvUWvS/Xaa6+ZD1uyc+rxVvvYGV1lZ594JJERWB999FGGahyeqkDp7aWl8szKUu79cpJzLCfVw23tf6bsGTl04yHZ23WvHKtxrMAxtTfn77u2TurATptr098cYPT1KUof2y6V986Uct+/LzlnC/ZNJ27uTJGycui8G2Vv5a5yrHQNJ07JORBAAAEEEEAAAaldu7Z3FQiwTG0OHDhggqc333wz7giseEW87rrr5JZbbjEvd/vpT38qOTnZeVbLZiciwMqmrsfOnSxsikwh1EXZrd4MqLcTeaPg008/LY8//rjYeXNh5LpVqlQxqXL58uXNInS9e/c2bzzQxd2ttkiAtWDBArP4fCobAVYqWs7tq+FVjXtrSM7JwvkyPFvirGz/P9sLhFgEWM7VlDPZF9Dwqsb2eyXn7En7B2Ww59mcErK9xv8hxMrAkEMRQAABBBBA4D8CBFhf0h08LkCA5fECOdm8ZAHW6tWrzdTB6LcFxl7/3XfflYYNG0okwOIthE5WKADn6iAiCwv5PjTbXBBzTaYQFnIRuJwRWNtBZGchfwCq3SXSOPYDQD0QQAABBBBAAIGACfhkBFbA1D13OwRYnitJ9hqULMDShdvbtWsn1apVMyOlLrzwwgKNiYzA0ld4PvLII3Lq1CkZMmSI6PTDVatWSdOmTQscExltpWtoDRw40Px88+bN0rJlS2nSpInlaK/IyC49f7y3GyaSYhH37PWjhGcuKyJHXLh2LgGWC+pcMlZgRlmRH1z4APSM/QBQGgQQQAABBBBAIGAC2Q6wcoqJ9DgVMLTg3Q4BVvBqGveOkgVYulB73759Rde30jWwdDRW9Hbo0CHzus2lS5eafxo3bmx+vGTJEmnbtq30799fRo8eLSVKlMg7LHKMju7SBenq1q1rfqYjt7p37y4bN27M998jB2oYpmGavhkh9px2SkaAZUcpC/uck4Vz2jklAZYdJfbJtgAj/7ItzPkRQAABBBBAIMwCy24Q2bcpOwI17hVpOD075+asjgkQYDlG6f0TJQuw9A4iwdGPf/xj0bci1K9f3yzupuGWvoFw2LBhcs8995ifnXfeeeam9+/fb6Yd6is5dSRW586dTYgVfYzVtERd26pnz57SoEEDGT9+vOg1c3NzRRde16Bsz549ovvoz1PdCLBSFXNofwIshyA5jS8FCLB8WTYajQACCCCAAAI+ETj8hcjGQSLffeZsgy9uIHLzZGfPydmyIkCAlRVWb57UToClr+acOXOmmep3+PBhqVWrllSoUEF27Nghu3fvNoHW9OnTpUaN/G++2rBhg9x3332ybds287PLLrss7xgdyTVx4kSpXr16PhgNuHQqov5TtmxZqVmzpvzwww9mVJb+u/53Xei9aNGiKYMSYKVM5swBBFjOOHIWfwoQYPmzbrQaAQQQQAABBBBAwBcCBFi+KJMzjbQTYOmVdBSUroelQdUf//hHE1zVq1fPjKzq2LGjCbSstl27dpmRWStWrBC9loZf7du3N1MFK1asaHnMyZMnZfny5TJt2jRZv369FCtWzExN1DBMF4tP99WeBFjO9JmUz0KAlTIZBwRIgAArQMXkVhBAAAEEEEAAAQS8JkCA5bWK0B5HBAiwHGFM/SQEWKmbcURwBAiwglNL7gQBBBBAAAEEEEDAcwIEWJ4rCQ1yQoAAywnFNM5BgJUGGocERoAAKzCl5EYQQAABBBBAAAEEvCdAgOW9mtAiBwQIsBxATOcUBFjpqHFMUAQIsIJSSe4DAQQQQAABBBBAwIMCBFgeLApNylyAACtzw7TOQICVFhsHBUSAACsgheQ2EEAAAQQQQAABBLwoQIDlxarQpowFCLAyJkzvBARY6blxVDAECLCCUUfuAgEEEEAAAQQQQMCTAgRYniwLjcpUgAArU8E0jyfAShOOwwIhQIAViDJyEwgggAACCCCAAALeFCDA8mZdaFWGAgRYGQKmezgBVrpyHBcEAQKsIFSRe0AAAQQQQAABBBDwqAABlkcLQ7MyEyDAyswv7aMJsNKm48AACBBgBaCI3AICCCCAAAIIIICAVwUIsLxaGdqVkQABVkZ86R9MgJW+HUf6X4AAy/815A4QQAABBBBAAAEEPCtAgOXZ0tCwTAQIsDLRy+BYAqwM8DjU9wIEWL4vITeAAAIIIIAAAggg4F0BAizv1oaWZSBAgJUBXiaHEmBlosexfhcgwPJ7BWk/AggggAACCCCAgIcFCLA8XByalr4AAVb6dhkdSYCVER8H+1yAAMvnBaT5CCCAAAIIIIAAAl4WIMDycnVoW9oCBFhp02V2IAFWZn4c7W8BAix/14/WI4AAAggggAACCHhagADL0+WhcekKEGClK5fhcQRYGQJyuK8FCLB8XT4ajwACCCCAAAIIIOBtAQIsb9eH1qUpQICVJlymhxFgZSrI8X4WIMDyc/VoOwIIIIAAAggggIDHBQiwPF4gmpeeAAFWem4ZH0WAlTEhJ/CxAAGWj4tH0xFAAAEEEEAAAQS8LuDbACs3N1cOHTokp0+flpycHClXrpz53+ht165dMmHCBPnb3/4mxYoVk1/84hdyzz33SMWKFb1eF9qXoQABVoaA6R5OgJWuHMcFQYAAKwhV5B4QQAABBBBAAAEEPCrg2wBr+/btctddd8m2bdtk5MiRMnjwYClSpEge8/r166V79+6i+0Vv9erVkxkzZshVV13l0ZLQLCcECLCcUEzjHARYaaBxSGAECLACU0puBAEEEEAAAQQQQMB7Ar4NsObOnSudO3c2QdSiRYvk6quvztM9evSo9O3bV1555RVL8TvvvFOmTp0q5cuX915FaJEjAgRYjjCmfhICrNTNOCI4AgRYwakld4IAAggggAACCCDgOQFfBlhnzpyRxx9/XJ599lnp1auXjB07VkqVKpWHu3nzZmnZsqV89dVX0qJFCxkzZoxceOGFsmzZMnnooYfk8OHD8tprr0mbNm08VxAa5IwAAZYzjimfhQArZTIOCJAAAVaAismtIIAAAggggAACCHhNwJcBlgZQffr0kdmzZ8uUKVNMiBW9zZo1S7p27Sply5aVpUuXSuPGjc2PT548aaYajh8/XgYOHCijRo2S4sWLe60mtMcBAQIsBxDTOQUBVjpqHBMUAQKsoFSS+0AAAQQQQAABBBDwoIAvA6wDBw5Ip06dZOXKlbJgwQKzFlZkix6d1ahRI9GphpdccknezyPhVrt27WTatGlm8Xe24AkQYLlUUwIsl+C5rCcECLA8UQYagQACCCCAAAIIIBBMAd8HWKtWrZKmTZvmVef777+XHj16yOLFi83//uEPf5DSpUvn/Xz16tXSrFkzad68uQm3KlSoEMzKhvyuCLBc6gAEWC7Bc1lPCBBgeaIMNAIBBBBAAAEEEEAgmAK+DLCiQ6qZM2fKPffck1ed2LcTPvLII/kqt3DhQunQoQMBVjD7c95dEWC5VGACLJfguawnBAiwPFEGGoEAAggggAACCCAQTAFfBljR0wQ1vJowYYKcd955pkLTp083I690e/311+X222/Pq1xubq6MGDHCLADfpUsXmTRpklkniy14AgRYLtWUAMsleC7rCQECLE+UgUYggAACCCCAAAIIBFPAlwGWlmLFihXSsWNH80ZBXZBd3zb4+eefmzcS6iisevXqyfz58+WKK67Iq5y+lVADrzVr1oiOzBo+fLgUKVIkmJUN+V0RYLnUAQiwXILnsp4QIMDyRBloBAIIIIAAAggggEAwBXwbYB06dEj69esnuii71aajrJ588sl8AZWuedW5c2eze+zorGCWN7x3RYDlUu0JsFyC57KeECDA8kQZaAQCCCCAAAIIIIBAMAV8G2BpOXbv3i19+vQxo7GitzvvvNNMK7zooovy/vOuXbtMeLV+/Xpp0qSJCb4uvvjiYFaVuxICLJc6AQGWS/Bc1hMCBFieKAONQAABBBBAAAEEEAimgK8DLC3J8ePH5b333pMtW7aYCl133XXSoEEDKVGiRF7FTp48KWPGjDH76damTRvp2bNnXsgRzNKG+64IsFyqPwGWS/Bc1hMCBFieKAONQAABBBBAAAEEEAimgO8DrGCWhbvKVIAAK1PBNI8nwEoTjsMCIUCAFYgychMIIIAAAggggAAC3hQgwPJmXWhVhgIEWBkCpns4AVa6chwXBAECrCBUkXtAAAEEEEAAAQQQ8KiAZwMsnfan0wJPnDiRFbqSJUtKrVq18k01zMqFOKkrAgRYrrCLEGC5BM9lPSFAgOWJMtAIBBBAAAEEEEAAgWAKeDbAOnDggHTq1ElWrlyZFfnmzZuLvpWwQoUKWTk/J3VXgADLJX8CLJfguawnBAiwPFEGGoEAAggggAACCCAQTAECLAKsQPZsAiyXykqA5RI8l/WEAAGWJ8pAIxBAAAEEEEAAAQSCKeDZAOvIkSMyZ84c+f777y3lT506JStWrJBNmzZJ586d5ZprrklYoY0bN8qyZcukXr160qJFC6lYsaI5rkyZMsGsbMjvigDLpQ5AgOUSPJf1hAABlifKQCMQQAABBBBAAAEEging2QArGfdf/vIXad26tdntjTfekNq1ayc8ZO/evdKjRw959913ZcqUKdKxY0eJhBzJrsXP/SdAgOVSzQiwXILnsp4QIMDyRBloBAIIIIAAAggggEAwBXwZYOXm5sqIESPk8ccfN6OpZs+eLeXLl09aoSVLlkjbtm3l2muvlYULF0qNGjWSHsMO/hQgwHKpbgRYLsFzWU8IEGB5ogw0AgEEEEAAAQQQQCCYAr4MsA4fPix9+vQxwVWvXr1k7NixUqpUqaQV+vLLL83C8O+884688MILMnDgwKTHsIM/BQiwXKobAZZL8FzWEwIEWJ4oA41AAAEEEEAAAQQQCKaALwOs6DcUphJgHT9+3IRWU6dOlS5dusikSZOkbNmywaxsyO+KAMulDkCA5RI8l/WEAAGWJ8pAIxBAAAEEEEAAAQSCKeD7ACuVICo6wGrevLnMnTtXKvAWwkD2bAIsl8pKgOUSPJf1hAABlifKQCMQQAABBBBAAAEEgingywDrxIkT8tBDD8nkyZPlqquukkWLFsnVV1+dtELffPONGXn11ltvpbR2VtITs4PnBAiwXCoJAZZL8FzWEwIEWJ4oQygbcWCLyNbnRPasEPnhSHYISpwvUqW5SM2HRSrUys41OCsCCCCAAAIIIJBAwJcBlt5PZEF2/f/333+/jB49Ws4999y4t6oLv8+fP1969+4tuoaWTiUcNWqUFC9enA4SQAECLJeKSoDlEjyX9YQAAZYnyhC6Rmh49Xp9kdPHC+fWi5YSabWeEKtwtLkKAggggAACCEQJ+DbA2r9/v1nAfenSpeZ2OnbsKEOHDpWf/exnkpOTk6/IBw8elFdeeUWeeeYZ+fbbb826V7oAfKtWregMARUgwHKpsARYLsFzWU8IEGB5ogyha8TaDiI7FxbubVe7S6TxgsK9JldDAAEEEEAAgdAL+DbA0sq9++670rNnT9m+fXteIatWrSrVq1fPC7E06NqyZUu+QtsZsRX6nuFzAAIslwpIgOUSPJf1hAABlifKELpGzCibvWmDiTB75oaOmhtGAAEEEEAAAXcFfB1gKd3HH38s/fv3l/Xr19uSHDJkiBmpxdsHbXH5dicCLJdKR4DlEjyX9YQAAZYnyhC6RtDvQldybhgBBBBAAIGwCvg+wNLC6dsFly9fLlOnTpW1a9cWqKWOyrr99tvlN7/5jdSsWbPAFMOwFj/I902A5VJ1CbBcgueynhAgSPBEGULXCPpd6ErODSOAAAIIIBBWgUAEWNHF0zDr2LFjef9J18MqV64coVXIejgBlksFJ8ByCZ7LekKAIMETZQhdI+h3oSs5N4wAAggggEBYBQIXYIW1kNx3fgECLJd6BAGWS/Bc1hMCBAmeKEPoGkG/C13JuWEEEEAAAQTCKkCAFdbKB/y+CbBcKjABlkvwXNYTAgQJnihD6BpBvwtdyblhBBBAAAEEwirg+wDr7Nmz8s9//tMs4q7/a3fTaYWdO3eWMmXK2D2E/XwkQIDlUrEIsFyC57KeECBI8EQZQtcI+l3oSs4NI4AAAgggEFYBXwdYGlg99thjMmvWrJTr17x5c5k7d65UqFAh5WM5wPsCBFgu1YgAyyV4LusJAYIET5QhdI2g34Wu5NwwAggggAACYRXwbYD19ddfS69eveT1119Pq3YEWGmx+eYgAiyXSkWA5RI8l/WEAEGCJ8oQukbQ70JXcm4YAQQQQACBsAr4NsCaPn269OjRw9TtggsukN69e0ujRo2kZMmScsUVV0ipUqUS1pS3Ewa7yxNguVRfAiyX4LmsJwQIEjxRhtA1gn4XupJzwwgggAACCIRVwJcB1rFjx+SBBx6QadOmSdWqVWXmzJnSsGHDsNaQ+7YQIMByqVsQYLkEz2U9IUCQ4IkyhK4R9LvQlZwbRgABBBBAIKwCvgywDhw4IJ06dZKVK1dKly5dZNKkSVK2bNmw1pD7JsDyTh8gwPJOLWhJ4QsQJBS+OVcUod/RCxBAAAEEEEAgJAK+DLAOHjxogqsVK1aYdbDGjh2bdMpgSOrJbf6vACOwXOoKBFguwXNZTwgQJHiiDKFrBP0udCXnhhFAAAEEEAirgC8DrFOnTsmQIUNMcMUIrLB23cT3TYDlUr8gwHIJnst6QoAgwRNlCF0j6HehKzk3jAACCCCAQFgFfBlgabH07YMaXlWpUkUWLVokV199dVhryH1bCBBgudQtCLBcgueynhAgSPBEGULXCPpd6ErODSOAAAIIIBBWAd8GWIcOHZJ+/frJrFmzZOTIkTJ48GApUqRIWOvIfccIEGC51CUIsFyC57KeECBI8EQZQtcI+l3oSs4NI4AAAgggEFYB3wZYWrBPP/1UunXrJnv37uVNhGHtwXHumwDLpQ5BgOUSPJf1hABBgifKELpG0O9CV3JuGAEEEEAAgbAK+DLA0kXcdcTVnj17ZPfu3bJ9+3apWrWqVK9eXXJycmzV8vLLL5fRo0dL+fLlbe3PTv4SIMByqV4EWC7Bc1lPCBAkeKIMoWsE/S50JeeGEUAAAQQQCKuALwOsAwcOSKdOnWTlypVp16158+Yyd+5cqVChQtrn4EDvChBguVQbAiyX4LmsJwQIEjxRhtA1gn4XupJzwwgggAACCIRVgACLACuQfZ8Ay6WyEmC5BM9lPSFAkOCJMoSuEfS70JWcG0YAAQQQQCCsAr4MsMJaLO7bvgABln0rR/ckwHKUk5P5TIAgwWcFC0hz6XcBKSS3gQACCCCAAALJBAiwkgnxc18KEGC5VDYCLJfguaxsEZHnRGSFiBzJksf5ItJcRB4WkVoW1yBIyBI8p00oQL+jgyCAAAIIIIBASAQIsEJS6LDdJgGWSxUnwHIJPuSX1fCq/v8Plo4XkkMpEVlvEWIRJBRSAbhMPgH6HR0CAQQQQAABBEIiQIAVkkKH7TYJsFyqOAGWS/Ahv2wHEVlYyAZ3iciCmGsSJBRyEbicEaDf0REQQAABBBBAICQCvgywDh48KIMHD5Y9e/akXabLL79cRo8eLeXLl0/7HBzoXQECLJdqQ4DlEnzIL1s2i9MGE9HmEmCFvOd54/YJsLxRB1qBAAIIIIAAAlkX8GWAdeDAAenUqZOsXLkybaDmzZvL3LlzpQJvIUzb0MsHEmC5VB0CLJfgQ35Z+l3IO0DIb58AK+QdgNtHAAEEEEAgPAIEWARYgeztBFgulZUgwSX4kF+WfhfyDhDy2yfACnkH4PYRQAABBBAIj4AvA6yzZ8/K999/L/q/djbd7+WXX5ZHH31UOnfuLCNGjJCyZctKuXLlJCcnx84p2MdnAgRYLhWMIMEl+JBfln4X8g4Q8tsnwAp5B+D2EUAAAQQQCI+ALwOsdMqj62b16tVLFi1aJOPGjZP+/ftLJORI53wc420BAiyX6kOQ4BJ8yC9Lvwt5Bwj57RNghbwDcPsIIIAAAgiERyA0AZaWKQK9NQAAIABJREFUdNWqVdKuXTupUqWKLFiwQH7+85+Hp9Ihu1MCLJcKTpDgEnzIL0u/C3kHCPntE2CFvANw+wgggAACCIRHIFQB1jfffCNdunSRt956S4YPH26mFDIKK5idnQDLpboSJLgEH/LL0u9C3gFCfvsEWCHvANw+AggggAAC4REIVYB1/PhxGThwoEydOtWMxJo2bZpZB4steAIEWC7VlCDBJfiQX5Z+F/IOEPLbJ8AKeQfg9hFAAAEEEAiPQGgDrObNm8vcuXOlAm8hDGRvJ8ByqawECS7Bh/yy9LuQd4CQ3z4BVsg7ALePAAIIIIBAeARCFWB98cUX0rFjR9m0aRMjsALexwmwXCowQYJL8CG/LP0u5B0g5LdPgBXyDsDtI4AAAgggEB6BUARYp0+flk8//VSeffZZmT9/vqnu448/Lk8++aQUKVIkPNUO0Z0SYLlUbIIEl+BDfln6Xcg7QMhvnwAr5B2A20cAAQQQQCA8Ar4MsA4cOCCdOnWSlStXplWpqlWryuLFi6VOnTppHe/XgzTI09Bu8+bNCadPHj16VF5//XWZPXu2rF+/Xg4fPiy1atWS9u3bS/fu3aVixYqWBLt27ZIJEybIihUrZPv27baOOXnypCxfvtysR6bXKlasmDRu3Fjuu+8+adiwoeTk5KTFTYCVFlvmBxEkZG7IGVIXoN+lbsYRwREgwApOLbkTBBBAAAEEEEgoELoAS8OrF154Qe64445QvYFQw6spU6bI0KFD5aabboobYH399dfSr18/WbRokZQtW1Zq1qwpJUqUkB07dsju3bvl2muvlRdffFFuvPHGfB1r69at0rt3bzM9s0aNGnLZZZflHdOsWTOZOHGiVK9ePd8xGl6NHj1annjiibxr/fDDD7Jx40bz7yNHjjTnLFq0aMofYwKslMmcOYAgwRlHzpKaAP0uNS/2DpYAAVaw6sndIIAAAggggEBcgdAEWDqa59e//rV06NBBLr/88lB1CR1BpWHQqFGjzH3HW8A+MkJL9/3tb38rI0aMyBttpaOyxowZI8OGDZPbb79dXn75ZalUqZI53/79+6VXr16yZs0aGTt2rHTt2tWETtHH9O3b14RVpUqVyrNfsGCB9OzZUxo0aCCTJk0SDRdzc3Plo48+MiHa3r17TdBWv379lOtFgJUymTMHECQ448hZUhOg36Xmxd7BEiDAClY9uRsEEEAAAQQQCFaART3tCWgg9fbbb8ujjz4qH374oQmcjh8/HncElo6wuvvuu+XMmTNmrbArrrgi34UOHTpkgqVZs2bJqlWrpGnTpubnS5YskbZt20r//v1NSKUjtiJb5JjVq1fLsmXLpG7duuZHBw8eNNMRdbRV9H+PHKfnb9eunXTr1q3AOe3cPQGWHaUs7EOQkAVUTplUgH6XlIgdAixAgBXg4nJrCCCAAAIIIBAt4MsRWJTQnoCuKXXzzTeb6Xj333+/GTml/1u5cmXLKYS6NtbAgQPl6quvNtMso0dLRa44fPhwM+Vvzpw5Zh2yU6dOyZAhQ8zIq+hQK7qFGnjpqCw9p55fN71Wy5YtpUmTJmb0lbYxetNRXRqmHTt2TObNm2dGZ6WyEWClouXgvgQJDmJyKtsC9DvbVOwYQAECrAAWlVtCAAEEEEAAASsBAqwA9wsddfXWW2+Z8EinTerC6nfddVfcACsZhY7M0rc36tscIwGWjqTq0qWL7NmzR1599VW58sorC5wmEqTpNEMNujQYW7hwoZnOqYvK6z+RwClysI4U07Br6tSp8v7776c8jZAAK1k1s/RzgoQswXLahAL0OzpImAUIsMJcfe4dAQQQQACBUAkEJsDat2+f/OlPf5J169bJl19+mVfECy64QBo1amTWv6pSpUqoFm6P7cmZBlhffPGFdOzYUXRaoC7yriO1ItMO9VrxRkpZXVeDrAcffDDfqKzY9saO9krlk0mAlYqWg/sSJDiIyalsC9DvbFOxYwAFCLACWFRuCQEEEEAAAQSsBHwfYH377bdmjaTJkyeLLlYeb4tMoxs8eLBoqBXGLZMASxdkVzt11jcZ6mLuulC7nXNa7WMnnLKzT7w6EmC51MMJElyCD/ll6Xch7wAhv30CrJB3AG4fAQQQQACB8Aj4OsD6+uuvzdvvXn/9ddsVa9WqlZmWdtFFF9k+Jig72gmbrO5Vwyt9M6H+E+tn55xuBlj6RkO2whOoXad24V0s6kqbP9qc77q1N9dxpx216W9uwNPv6Hdu9DuvXJPvO69UgnYggAAC/heoXdudv8v7X447KCwB3wZYukaSjgiaOHGisapRo4YJs371q1+Zt+1Ftl27dsmaNWtkxowZZrSQbn379jWjtqwWKS8seDeuYydsim2XjnDTda905FWLFi3MguvRC6rbOScBlhvVdueaBAkECW70PPod/c6NfueVaxJgeaUStAMBBBDwvwABlv9rGPQ78G2AtXbtWrnjjjvMtEFdRFwDKX27Xrxt7969JvCaPXu2eePd0qVLpXHjxkGvb777sxM2RR+g61vpQupqdeedd5oF2C+99NJ859T1xvRthLrNnTtXLrnkkgKmkevqGmTqX758eTMKrnfv3jJlyhQTPFptkSmECxYsMIvPp7KFcQrh51+flfkbfpBNn5+R46dyU+GyvW+ZkudInR8XkY43FpOfXJRT8Dimctm2ZEcHBeh3DmJyqpQEtojIcyKyQkSOpHSk/Z3PF5HmIvKwiNSyOIwphPYt2RMBBBBAAAEEfC3gywBL34anazBpwHHttdeaN9rpCKxkWyRI2bZtmzzyyCPm+CJFiiQ7LDA/TyXA2rBhg9x3332iVv369ZMRI0aY4C924y2E3ugeGl71n3lcTp4unPaUKCoyvmupgiEWQULhFICr5Beg39Ej3BDQ8Kr+/w+WjhfSxUuJyHqLEIsAq5AKwGUQQAABBBBAwG0BXwZYOuqqT58+ZjSPjhAaNWqUFC9ePKnlqVOnZMiQIWYkkY7a0ulwVqFM0hP5dAc7AVZubq68/fbbcu+994pOH9TgqmfPnlKiRAnLu442XbVqlTRt2rTAfpHRVi+88IKpl26bN2+Wli1bSpMmTSzrEBnZpeeP93bDRGUI2wis4ctOyjv/KKT06n/hG/2sqDzeOqZfECT49NvB582m3/m8gD5tfgcRWVjIbdfByAtirkmAVchF4HIIIIAAAggg4JaALwOsAwcOmGlrK1eulKefftqs0WR3i0xLa968uZnyVqFCBbuH+n4/OwHWunXrpGvXrmZq5oQJE6RDhw6Sk2MxVSxKY8mSJdK2bVvp37+/mcoZHXYdOnTIjOBavXq1LFu2TOrWrWuO1JFb3bt3l40bN+b775HTahjWrl076datW4Fz2ilE2AKs235/LGvTBhN5rx16bv4f/z/23gXKiurM239tQSSKfNgh8YZEZwiai8KIaGJCx4B0JpGJBoNoQ5SgICooOhIiAwSIYHAAg6LC4P8TsQVvSBKYsb3EaCRClCBmzRCWiQHGKIYgI4jI/fu/ezh4zqG7T52qOrt21X7OWiwDXbUvz/tLceph1y5EQpB4ckzcBMhd3ERpLwgBXZRcqccGm+u/+AlxBFaQanEMBCAAAQhAAAIZIIDAQmAdjPGmTZvMflS66b3uTXXZZZdJTgQ1l/X883R124ABA4zE0rcX3nHHHeZxT21Xf5a/cb7ubaWru3r06CEzZ86UU089VXQFmL45UKXXhg0bRI/Rn5f78U1g9Zy8vVxEsRyPwCrCOKQye4/FUqwsN4LAynJ13Z0buXO3NowMAhCAAAQgAIFMEkilwPrwww/lhhtukLlz5zYqRpqqlL65UB9h00farrrqKvnpT38qn/jEJzJZ2MYmVWoFlq5IU/kU5PPQQw8d3Lxdj8/fM0v3I+vQoYO88cYbohvB9+7d27wtslOnTgVNq+CaPHmy+aWPcnbp0kV2795tVmXp7/XPdaP3Fi1aBBlSwTEIrLKRhToBgYXAChWcuE9CJMRNlPaCECB3QShxDAQgAAEIQAACEIiNQCoFls5eV/PcdNNN0rFjR3n88celW7duJaHoyh59LE2lij5KOGbMmEArjEo2nJIDmhNY+XtZBZlOscDSc9atW2ceO1y6dKloX127dpV+/fqZRwXbt2/faLM7d+6UJUuWGBm5bNkyadmypXk7pG4gX1NTU/LxxabGisAKUsXoxyCwEFjRUxRDC4iEGCDSRNkEyF3ZyDgBAhCAAAQgAAEIRCGQWoGVL6N0hY+upjrttNMaZaGPpemm4TfeeKORJOVIryhwOTc5AggsO+wRWAgsO0kr0QsiwYkyeDcIcuddyZkwBCAAAQhAAALJEkitwNqzZ49MmzbNvFVQP/rI2YUXXmh+nXDCCQep6tvsdIWP/tKNyfWjby28+eabQz2almy56D0oAQRWUFLRjkNgIbCiJSimsxEJMYGkmbIIkLuycHEwBCAAAQhAAAIQiEogtQJLJ657KOljgLr6KuhH98667bbb5Kijit6eFrQBjksFAQSWnTIhsBBYdpJWohdEghNl8G4Q5M67kjNhCEAAAhCAAASSJZBqgaXodA+lJ554QiZOnGj2XWrqoxuLjxs3Tvr27WvekMcn2wQQWHbqi8BCYNlJGgKrWQK8/TKZGCKwkuFOrxCAAAQgAAEIeEsg9QIrVzndhPz3v/+9rFixQvSxwf/8z/+Uz3/+8+ZxwnPOOUe++MUvyhFHHHGw0H/961/NY4etW7f2tvhZnjgCy051EVgILDtJQ2AhsJxIWuEgEFgOFoUhQQACEIAABCCQZQKZEVhBi6Qbuv/mN78xb8ubNWuWVFdXBz2V41JEAIFlp1gILASWnaQhsBBYTiQNgZVPgJV/DoaSIUEAAhCAAASyTcArgbVv3z7zuOEtt9xi3lhYX1+PwMpovhFYdgqLwEJg2UkaAguB5UTSEFgILAeDyJAgAAEIQAAC/hBIpcDSxwV1A/e2bdtKVVVVoGrpXlm62fuPf/xj8zbC2tpaBFYgcuk8CIFlp24ILASWnaQhsBBYTiQNgYXAcjCIDAkCEIAABCDgD4HUCKwdO3bIvHnz5IEHHjD7XOU+PXv2lGHDhsmFF17Y5Obs7733nowdO1buueeeg+ddddVVMmPGDDn66KP9qbZHM0Vg2Sk2AguBZSdpCCwElhNJQ2AhsBwMIkOCAAQgAAEI+EMgFQJr06ZNcvPNN8v8+fObrMzAgQNl2rRp0r59+4Jj1q9fL9ddd50sXbrU/Llu3D5q1CjTHhu4ZzfoCCw7tUVgIbDsJA2BhcByImkILASWg0FkSBCAAAQgAAF/CDgvsPTRvzFjxhg5Vepz7bXXytSpU+Woo44yh7788stmddbq1avN7zt27Ch33HGH9O3bN/Cjh6X65OduEkBg2akLAguBZSdpCCwElhNJQ2AhsBwMIkOCAAQgAAEI+EPAeYH129/+Vi666CJ555135Nhjj5XRo0fLZZddZlZP6absr7/+utx5552yZMkSU7U5c+bI97//fVm0aJHZrF1XYOnnzDPPNG8d/PKXvyw5ueFPmf2bKQLLTs0RWAgsO0lDYCGwnEgaAguB5WAQGRIEIAABCEDAHwLOC6wpU6bIrbfeah79u++++4y8KhZQuj+Wrrz60Y9+JF/96lflS1/6ktx7771ms3b9XHzxxWa/K12BxccPAggsO3VGYCGw7CQNgYXAciJpCCwEloNBZEgQgAAEIAABfwg4LbBUTI0cOVJmz55tJNT9998v7dq1a7Q6b731llx++eXy61//uuDnumIrJ8D8KSszRWDZyQACC4FlJ2kILASWE0lDYCGwHAwiQ4IABCAAAQj4Q8BpgbVlyxbRzdl1A/bx48ebX009/rdr1y7zeKGutNKPrti67bbbZMiQIU2+ndCfMvs3UwSWnZojsBBYdpKGwEJgOZE0BBYCy8EgMiQIQAACEICAPwScFlibN2+Wuro6aWhokIkTJ8rYsWObrcykSZNk3Lhx5lFBfYTwG9/4Bvtd+ZPlgpkisOwUHoGFwLKTNAQWAsuJpCGwEFgOBpEhQQACEIAABPwhkEmBVVtbK/X19VJdXe1PJZkpAiuBDCCwEFgJxO7QLg9LaBT7i/qdk9BAhhQPJCEevnWbULmF3PmWNOYLAQhAAAIQgMABAggsopBJAqzAslNWBBYCy07SSvSCSHCiDN4Ngtx5V3ImDAEIQAACEIBAsgQQWMnyp/cKEUBgVQhsUbMILASWnaQhsJolwAqsZGKIwEqGO71CAAIQgAAEIOAtgdQIrG9+85vSo0ePZgv14osvyr//+7/L6aefLv369ZPWrVs3eXzbtm1lwIABcvTRR3tb/CxPHIFlp7oILASWnaQhsBBYTiStcBAILAeLwpAgAAEIQAACEMgygdQIrLiLwD5ZcRN1qz0Elp16ILAQWHaShsBCYDmRNARWPgFW/jkYSoYEAQhAAAIQyDYBBBYbvWcy4QgsO2VFYCGw7CQNgYXAciJpCCwEloNBZEgQgAAEIAABfwg4LbB27twpq1atko8++ij2ihx55JHStWtXadWqVext02DyBBBYdmqAwEJg2UkaAguB5UTSEFgILAeDyJAgAAEIQAAC/hBwWmD5UwZmGjcBBFbcRBtvD4GFwLKTNAQWAsuJpCGwEFgOBpEhQQACEIAABPwhgMDyp9ZezRSBZafcCCwElp2kIbAQWE4kDYGFwHIwiAwJAhCAAAQg4A8BBJY/tfZqpggsO+VGYCGw7CQNgYXAciJpCCwEloNBZEgQgAAEIAABfwggsPyptVczRWDZKTcCC4FlJ2kILASWE0lDYCGwHAwiQ4IABCAAAQj4QwCB5U+tvZopAstOuRFYCCw7SUNgIbCcSBoCC4HlYBAZEgQgAAEIQMAfAggsf2rt1UwRWHbKjcBCYNlJGgILgeVE0hBYCCwHg8iQIAABCEAAAv4QQGD5U2uvZorAslNuBBYCy07SEFgILCeShsBCYDkYRIYEAQhAAAIQ8IcAAsufWns1UwSWnXIjsBBYdpKGwEJgOZE0BBYCy8EgMiQIQAACEICAPwQQWP7U2quZIrDslBuBhcCykzQEFgLLiaQhsBBYDgaRIUEAAhCAAAT8IYDA8qfWXs0UgWWn3AgsBJadpCGwEFhOJA2BhcByMIgMCQIQgAAEIOAPAWcF1t69e+XJJ5+UP/3pT9K2bVsZMGCAHH300f5UhplGIoDAioQv8MkILARW4LBU8sDDKtl4M23vL/rZnIQGMqR4IAnx8K3bhMot5M63pDFfCEAAAhCAAAQOEHBWYO3YsUNGjhwps2fPNv+9/fbb5YgjjjDD3rlzp6xatUo++ugj+cIXviCf/OQnKSgECgggsOwEAoGFwLKTtBK9IBKcKIN3gyB33pWcCUMAAhCAAAQgkCwBZwXW5s2bpa6uThoaGmTixIkyduzYg6Tyf/bSSy/JeeedlyxFeneOAALLTkkQWAgsO0lDYDVLgBVYycQQgZUMd3qFAAQgAAEIQMBbAggsb0uf7YkjsOzUF4GFwLKTNAQWAsuJpBUOAoHlYFEYEgQgAAEIQAACWSbgrMDasmWLDBw4UJYuXXrII4SswMpyJOOZGwIrHo6lWkFgIbBKZcTKzxEJVjDTSREBckckIAABCEAAAhCAgFUCzgqsXbt2yejRo2XGjBly5plnyvz58+WLX/yigYPAspqRVHaGwLJTNgQWAstO0kr0gkhwogzeDYLceVdyJgwBCEAAAhCAQLIEnBVYiuW5556Tiy++WLZt2ybHHnusfPe735UzzjhDTjjhBLOp+4oVK+T666+Xk046qWyKvNmwbGSpOgGBZadcCCwElp2kIbCaJcAeWMnEEIGVDHd6hQAEIAABCEDAWwJOC6w9e/bItGnTzEqsuD+1tbVSX18v1dXVcTdNew4QQGDZKQICC4FlJ2kILASWE0krHAQCy8GiMCQIQAACEIAABLJMwGmBpeBVYv385z83K65eeeWV2GqBwIoNpZMNIbDslAWBhcCykzQEFgLLiaQhsPIJsPLPwVAmNKTNq0Re+4nIhqUiuz+ozCBa/R+Rk2pFuvxApLprZfqg1XQRIHfpqhejhUBMBJwXWLl57tu3T3Rj9zfffFM2btwot912m3mE8J577pHTTz+9bBxHHnmkdO3aVVq1alX2uZzgPgEElp0aIbAQWHaShsBCYDmRNAQWAsvBICY8JJUIPztPZM8OOwNp0Vrk28uQWHZou9sLuXO3NowMAhUmkBqBlc+BTdwrnIoMNI/AslNEBBYCy07SEFgILCeShsBCYDkYxISH9Fx/kT89YncQf3epSM+FdvukN7cIkDu36sFoIGCRQCoF1s6dO2XVqlXy0UcfyRe+8AX55Cc/aREZXaWBAALLTpUQWAgsO0lDYCGwnEgaAguB5WAQEx7S/21TuccGm5saj7AmXPiEuyd3CReA7iGQHIFUCqzmcH3wwQeigiv3adGihRxzzDGSExrJoaZnmwQQWHZoI7AQWHaShsBCYDmRNAQWAsvBICY8pDkJvc0AgZVw4RPuntwlXAC6h0ByBDIhsPSRwgULFsicOXPk97///SE0O3fuLFdeeaUMHjxY2rdvnxxterZGAIFlBzUCC4FlJ2kILASWE0lDYCGwHAxiwkNCJCRcAE+7J3eeFp5pQ0Ak1QJr//790tDQIDfeeKOsXbu2ZD1VZN15552ibyBkRVZJXKk+AIFlp3wILASWnaQhsBBYTiQNgYXAcjCICQ8JkZBwATztntx5WnimDYGUC6wXXnhBrrjiClm/fv3BWuqbBfNXWenP8uVWx44dZd68eVJTU0P9M0wAgWWnuAgsBJadpCGwEFhOJA2BhcByMIgJDwmRkHABPO2e3HlaeKYNgRQLrL/85S8ycOBAef7556VNmzZy7bXXyg033CDHH398QV11ldbbb78td911l9xzzz2ybds2Of/882X+/Ply4oknkoGMEkBg2SksAguBZSdpCCwElhNJQ2AhsBwMYsJDQiQkXABPuyd3nhaeaUMgxQKrvr5eBgwYYGr4wAMPGJlVVVXVZE337dtnpJXuhaWfuXPnmj2x+GSTAALLTl0RWAgsO0lDYCGwnEgaAguB5WAQEx4SIiHhAnjaPbnztPBMGwIpFVgfffSR3HzzzWZF1cUXXyz333+/tGvXrmQ9t2zZYqTVk08+aVZsTZs2TY488siS53FA+gggsOzUDIGFwLKTNAQWAsuJpCGwEFgOBjHhISESEi6Ap92TO08Lz7QhkFKBpSJKV1wtXbpUxo8fb34F2ZRdHyecMGGC+fWtb33LrMgKIr4ISvoIILDs1AyBhcCykzQEFgLLiaQhsBBYDgYx4SEhEhIugKfdkztPC8+0IZBSgbV582apq6szbyCcOHGijB07NnAtJ02aJOPGjTNvItTHEKurqwOfy4HpIYDAslMrBBYCy07SEFgILCeShsBCYDkYxISHhEhIuACedk/uPC0804ZASgUWK7CIbikCCKxShOL5OQILgRVPkiK2cljE88Oevr/oRL5QhyWZzvPIXTrrxqjjJcB1L16etBaMALkLxomjIJBBAoft1+fqUvbZtWuXjB49WmbMmMEeWCmrna3hIrDskEZgIbDsJK1EL4gEJ8rg3SDInXclZ8KNEEAkEIskCJC7JKjTJwScIJBKgaXk8t9CqHtZ6SOFze2DxVsIncibtUEgsOygRmAhsOwkDYHVLIEhqft3KCdiE3kQCKzICGkgAwQQCRkoYgqnQO5SWDSGDIF4CKRWYP3lL38xG7k///zz0qZNGxkzZowMGjRIPvWpTx1C5p133pGf/vSn5q2F27Ztk/PPP99s4H7iiSfGQ5FWnCOAwLJTEgQWAstO0hBYCCwnklY4CASWg0VhSNYJIBKsI6dDESF3xAAC3hJIrcDSir3wwgtyxRVXyPr16w8WsGvXrtK+ffuDv9+0aZOsWrXq4O87duwo8+bNk5qaGm+L7sPEEVh2qozAQmDZSRoCC4HlRNIQWPkEWPnnYCgTGBIiIQHodInAIgMQ8JdAqgWWbt+lbyK88cYbZe3atSWr2LlzZ7nzzjvNGwibe9ywZEMc4DwBBJadEiGwEFh2kobAQmA5kTQEFgLLwSAmPCQEVsIF8LR7cudp4Zk2BFL6FsLiwukqq/vvv18eeOCBRkWWiqsrr7xSBg8eXLA6iwBklwACy05tEVgILDtJQ2AhsJxIGgILgeVgEBMeEiIh4QJ42j2587TwTBsCGRFYuULqiqytW7eafa42bNggJ598stkf65hjjmHFlWdpR2DZKTgCC4FlJ2kILASWE0lDYCGwHAxiwkNCJCRcAE+7J3eeFp5pQyBjAouCQiBHAIFlJwsILASWnaQhsBBYTiQNgYXAcjCICQ8JkZBwATztntx5WnimDQEEFhnIKAEElp3CIrAQWHaShsBCYDmRNAQWAsvBICY8JERCwgXwtHty52nhmTYEEFhkIKMEEFh2CovAQmDZSRoCC4HlRNIQWAgsB4OY8JAQCQkXwNPuyZ2nhWfaEEBgkYGMEkBg2SksAguB9cd398mCl3fLij/ulR279lckeEcfeZh0O/VwuexLLeXvP111aB+HVaTb0o0WT5cv1KWZZekIcpelajKXsAS47oUlx3lRCJC7KPQ4FwKpJnDYft35nA8EMkYAgWWnoAgsvwWWyqsR83bIzj128taqhcjMK1ofKrEQCXYKQC+FBMgdiYCACCKBFCRBgNwlQZ0+IeAEAQSWE2VgEHETQGDFTbTx9hBYfgusSYt3yq/+y5K9OoD6a59rIWMvaoVIyCcwhH+HsnPFK+oFgZUIdjp1jAAiwbGCeDIccudJoZkmBA4lgMAiFZkkgMCyU1YElt8C68J//bBijw02l2By53fu7FzdAvSCwAoAiUMyTwCRkPkSOzlBcudkWRgUBGwQQGDZoEyNIja3AAAgAElEQVQf1gkgsOwgRyT4LRJ6Tt5uJ2hFvZA7v3OXSOga6xSB5UwpGEiCBBAJCcL3uGty53HxmbrvBBBYvicgo/NHYNkpLCLBb5GAwCqqP1+o7Vx4XOkFgeVKJRhHkgS47iVJ39++yZ2/tWfm3hNAYHkfgWwCQGDZqSsCC4FlJ2mFvZA7v3OXROYa7ROB5UwpGEiCBBAJCcL3uGty53HxmbrvBFIpsD744AN56KGH5P3335e2bdvKgAED5Oijj/a9lsw/jwACy04cEAl+iwRWYBXVny/Udi48rvSCwHKlEowjSQJc95Kk72/f5M7f2jNz7wmkUmBt3rxZ6urqpKGhQWpra6W+vl6qq6u9LyYAPiaAwLKTBgQWAstO0gp7IXd+5y6JzDXaJwLLmVIwkAQJIBIShO9x1+TO4+Izdd8JpFJgbdu2Ta677jqZP38+Asv3BDcxfwSWnWAgEvwWCazAKqo/X6jtXHhc6QWB5UolGEeSBLjuJUnf377Jnb+1Z+beE0ilwNq/f7/MmDFDbr75ZjnzzDPlkUcekc6dO3tfTAB8TACBZScNCCwElp2kFfZC7vzOnc7+j+/ukwUv75YVf9wrO3btr0gMjz7yMOl26uFy2Zdayt9/uurQPhBYFeFOoykjgEhIWcEyMlxyl5FCMg0IlE8glQJLp7lu3Tqz99WyZcvkiSeekO985zvlz54zMksAgWWntIgEv0UCK7CK6s8XaisXHpVXI+btkJ17rHQnrVqIzLyi9aESC4FlpwD04jYBrntu1yeroyN3Wa0s84JASQKpFVg6s4ULF8qQIUOkR48eMnfuXDnuuONKTpgD/CCAwLJTZwQWAstO0gp7IXd+527S4p3yq/+yZK8OoP7a51rI2ItaFYJHYCXxf3/6dI0AIsG1ivgxHnLnR52ZJQQaIZBKgbVv3z7zBsJdu3aZRwl/8pOfyLBhw+Rf/uVfpFWroi+YTZS9qqrKvMFQ/8unkIDyfeGFF2TmzJny3HPPie451rNnTxk8eLBcdNFF0rp160aR6aq4u+66S5YuXSpr166Vrl27Sr9+/cx57du3b/ScnTt3ypIlS4yA1NV0LVu2NH1pPWtqakLXB4FlJ9WIBL9FAiuwiurPF2orF54L//XDij022NwEuN75fb2zEu40dsJ1L41VS/+YyV36a8gMIBCSQCoFVv5bCEPOm83fmwC3Z88emTZtmowePdocce655xphtXr1annvvfdk4MCB5ufFQuq1116Ta665RlasWGH2I+vQoYO88cYbsn79eundu7fcfffd0qlTp4JeVV5NnTpVxo0bJ23atJEuXbrI7t27Zfny5eb3kydPNm22aNGi7DIjsMpGFuoEbuj8vqFDYCGwQl04Ip5E7shdxAhxepwEEAlx0qStoATIXVBSHAeBzBFAYFVXZ66oUSakK64uvvhi+dznPmdWU3Xr1k1UBm3cuFFGjRpl3vx45513yogRI8yf62fTpk0ydOhQefbZZ82KuCuuuMJIp+3bt8sdd9whEyZMkOuvv97IqvzVW/mPgM6aNUs6duwoukH/q6++KsOHDzd91tfXy3nnnVf2lBBYZSMLdQICC4EVKjgRTyJ35C5ihEKdTu78zl2o0PhwEiLBhyq7N0dy515NGBEELBFIpcD64IMP5KGHHjKPEYb96OODugn80UcfHbaJzJ23d+9eGTt2rEyZMqXRjfFXrVoll156qXz2s581Iqtdu3aGwaJFi6Rv375Gaqmkyn+Mc+vWrUZGPfPMM7J48WLp3r27OWfLli3m0UJdbZX/5zmoTz/9tFxyySUyaNCgQ9oMAh6BFYRS9GO4ofP7ho6VMEX15wt19ItKgBbIHbkLEBMOsUWA654t0vSTT4DckQcIeEsglQLL22pVeOI7duyQkSNHyuzZs+Wll146ZOXTW2+9JZdffrnZe+zhhx+WU0891fxvfdxQV16pdLrgggsOGeWDDz5oVmVNnz7dtK+flStXSp8+faRXr16iq6/0kcH8j67q0r4+/PBD05euzirng8Aqh1b4YxFYCKzw6Ql/Jrkjd+HTE/5Mcud37sInJ+NnIhIyXmBHp0fuHC0Mw4JA5QkgsCrPODU96ON7t912m1mFdc8995j9p3IiSCfx29/+1mziro/06abruopNV1LpvlgbNmyQRx99VE477bRD5qubs3/lK18xjxmq6NLHCB955BHp37+/jB8/3vzK70cbKCXTSkFFYJUiFM/PuaHz+4aOlTBF9ecLdTwXlhKtkDtyZyVodBKMANe9YJw4Kl4C5C5enrQGgRQRyIzA0s3Hdc+kP//5z6KPwh155JHmLXhB30qYoppVdKhr1qwxj+0pS30L4Te+8Q2zn9Xvfvc7GTNmjLz88ssyZ84cI5/0o5u060op/TS1UkrfSKiPHh533HFmT6vq6mojsm666aaCVVnFE5s0aZLZ4F0fF62rqytr3gissnCFPhiBhcAKHZ4IJ5I7chchPqFPJXd+5y50cLJ+IiIh6xV2c37kzs26MCoIWCCQeoGlb8a77777jFRRmZL71NbWHpQlxW/W08fYbr/9djniiCMsIE5fF+vWrZNbb71VFixYUDD4s88+23A7//zzD66YakxOFc+4sWOCyKkgxzRFF4FlJ3fc0Pl9Q8dKmKL684XayoWH3JE7K0Gjk2AEuO4F48RR8RIgd/HypDUIpIhAqgXWG2+8Yd5up3svFX/yBZb+TB9100fYHnvsMTnnnHOMnDnllFNSVCo7Q922bZt5c6DuS7V7927p0qWLWYG1evVqUVn4ve99T3784x9Lhw4dzIAQWHbqUqoXbui4oSuVkUr8nNyRu0rkqlSb5I7clcoIP7dIAJFgETZdHSRA7ggDBLwlkFqBlS+ktHpf/epXzeNu+njatGnTzAbjucfVctXNvdlOJU2Yx9KynhLdd2rUqFFy9913y9VXX232w2rfvr2Z9vbt2+Xee++ViRMnyte//nWz0funP/1p5wXWq6++mvWymfmNajh07zEbE59a+4eCbs7qdpaNbg/pY+WrKwvHsbJbMuM4y4+85eCSO3KXxP/RyB25SyJ3Lvb5ibWfkOPmHSdtX2orVR9WVWSIe9vsla1f2iobr9goH3b+8JA+zuLv24pwp9HmCZC7yiXkrLOS+S5fuRnRctYIpFZgLVq0SPr27WveXqf7KQ0YMMDsd9XciqC//e1vZsPxp556Sn74wx+KPqJ2+OGHZ62moeeT26T9H/7hH8wm7bpnVf5HH8XUDdcnT55sfj548GB5++23D+5PpcLwhBNOOKT/XE1OOukkmT9/vrRr184IMN0kXh//1JVxjX1yjxAuXLjQ7KFVzif3CCECqxxq5R+LwCpkthKBVX6IQpxB7shdiNhEPoXc+Z27yAGKuQGVV52/31mqdlZGXBUPd1+rfbL2/1t7iMRCJMRcWJoLRIDcBcIU6iAEVihsnGSRQCoF1q5du2T06NFGXF155ZVmxdBRRx1lsDUnsHRzd33D3pQpU+SSSy45+CY9i7yd7koFlIrApt4MqIN/5plnpHfv3pLbR0xXZvEWwuTLyiM1RTVgabmVUJI7cmclaEWdkDtyl0TunOtT36XziOVR6b8lLiR/lqnTXWME+J5HLiDgLYFUCix9fFClydKlS2XevHlmX6bcp9SeTLlVPcV7ZHmbgLyJlyOwrr32WvOoZlVV1UGZqI9oXnDBBYegzK22mj59uhFf+lm5cqX06dNHevXqZfbb0pV0+Z/cyi6VlU293bC5mrGJu51Es4l7Eech++2Ad6QXRAI3cklEkdyRuyRy51yf+rXpgwRGVfzXHCIhgSLQpZA7QgABbwmkUmBt3rzZPLbW0NBgNnDPlyYIrPBZzkml0047zTzqd+KJJxY0lv8IYb6Myj3OOWLECJk6dap5lDP32bp1qwwfPtys3Fq8eLF0797d/EglpD6CuHz58oI/z52X269s0KBBh7QZZIYIrCCUoh+DwEJgRU9R+S2QO3JXfmqin0Hu/M5d9ATF3MJhMbcXtDkEVlBSHFdJAgisStKlbQg4TSD1Aqt4f6SgjxDqCq7GVv44Xa0KD654E/cJEybI8ccfb3rVn+nG9zfffLOcccYZ5n9/5jOfMT/btGmT2cfq2WefLdiPTB8v1Dcaajv6c33ks3Xr1gdnobUbMmSI9OjRQ2bOnGk23t+/f7/ovlUqvTZs2CB6jP683A8Cq1xi4Y7nhs7vGzpWwhTVny/U4S4kZZ5F7shdmZHJ5uEIrGzWlVkFI8Dft8E4cRQEMkgglQLro48+MiLlnnvuMY+x6WNpOWERdBP33B5ORxxxRAbLGn5K7777rpFHjz32mHmsr0uXLmZF1RtvvCHr16+Xzp07y5w5cw6RSi+//LIMGzZMVq9ebY7p0KHDwXN0zyzdp6xTp04FA1PBpRvC669cX7t37zarsvT3+ue60XuLFi3KnhACq2xkoU5AYCGwQgUn4knkjtxFjFCo08md37kLFZpKnoTAqiRd2nadAALL9QoxPghUjEAqBZbSuP/+++Wqq66S8847r2A1UFMCS1f26B5PuvJKP7qCSB9D5HMoARVLP/vZz8xjhMuWLZNt27bJueeeK9/+9rfNY3/t27dvFNu6devkrrvuMnuTaR26du0q/fr1a/acnTt3ypIlS8yG+tpXy5YtpWfPnkaG1dTUmD22wnwQWGGolX8ON3R+39CxEqao/nyhLv8iEuIMckfuQsQme6cgsLJXU2YUnAB/3wZnxZEQyBiB1AoslSX6xjyVHldffbXcfvvtcuyxxzb6FkKVV88//7x8//vfN6uIiqVXxmrKdEQOrsjT2vvw4YaOG7okck7uyB25S4AAexAlAN3BLhFYDhaFIVkjgMCyhpqOIOAagdQKLBUTCxYsMI+Y6QqhL37xi2alzyc/+Umz55LKrDFjxohuPK6Pw+kqHz1OH02777775LLLLjsoOVwrCuOJToAVWNEZBmmBFVhFlHgLYZDYRD6G3JG7yCEK0QC58zt3ISJT2VMQWJXlS+tuE0BguV0fRgeBChJIrcBSJiqnVEbdeuutRk4F+ehKLd0/K8y+SkHa5xg3CCCw7NSBGzq/b+hYgVVUf75QW7nwkDtyZyVorneCwHK9QoyvkgT4+7aSdGkbAk4TSLXAUrK6EmvFihXyox/9SBoaGpqErSu09JiLLroo9L5KTleSwRUQQGDZCQQCC4FlJ2mFvZA7ckfu8ghwI5dEHJLvE4GVfA0YQXIEuO4lx56eIZAwgdQLrBy/ffv2yX//93+bPbH0v7mPPjKoG5CfccYZrLpKOGw2u0dg2aGNSEAk2EkaAqtZzjy6aiWGXO/8vt5ZCVk5nSCwyqHFsVkjgMDKWkWZDwQCE8iMwAo8Yw70ggACy06ZuaHz+4aOR7mK6s8XaisXHnJH7qwEzfVOEFiuV4jxVZIAf99Wki5tQ8BpApkRWLt27ZI//elP8uabb8qaNWtk79690qFDB+nUqZN89rOflbZt2zpdCAYXLwEEVrw8m2oNgYXAspO0wl7IHbkjd3kEuJFLIg7J94nASr4GjCA5Alz3kmNPzxBImEDqBdamTZtk9uzZMmPGDHnvvfcaxamPEV588cVy0003mUcJc3IjYfZ0X0ECCKwKws1rGpGASLCTNARWs5x5hNBKDLne+X29sxKycjpBYJVDi2OzRgCBlbWKMh8IBCaQaoG1cuVKue6668wm7kE+xx57rEyfPl3q6urYDysIsBQfg8CyUzxu6Py+oeNRrqL684XayoWH3JE7K0FzvRMElusVYnyVJMDft5WkS9sQcJpAagXWunXrZMCAAWbT9tynZ8+eUlNTI3/3d38nJ5xwgnmk8M9//rM8++yzByWXrsa677775LLLLmMlltPRjDY4BFY0fkHPRmAhsIJmJc7jyB25izNPQdsid37nLmhOrB2HwLKGmo4cJIDAcrAoDAkCdgikVmDpI4P6SKB+evfuLVOmTJGuXbs2KqX0DYXPPfec3HLLLbJ69Wo5/fTTZeHCheZxQj7ZJIDAslNXbuj8vqFjJUxR/flCbeXCQ+7InZWgud4JAsv1CjG+ShLg79tK0qVtCDhNIJUCa9u2bebRwfnz55clo375y1+aVVvvvPOOTJo0ScaMGcMqLKfjGX5wCKzw7Mo5E4GFwConL3EdS+7IXVxZKqcdcud37srJipVjEVhWMNOJowQQWI4WhmFBoPIEUimwNm/ebPaxamhokIEDB8qsWbNEHw0s9dm+fbtcf/318sADD5R1Xql2+bl7BBBYdmrCDZ3fN3SshCmqP1+orVx4yB25sxI01ztBYLleoeyOb5WI/ERElorIBxWa5v8RkVoR+YGIdG2kD/6+rRB4moWA+wRSL7CGDh1q3kDYunXrQLR15dW4ceOktrZW6uvrpbq6OtB5HJQuAggsO/VCYCGw7CStsBdyR+7IXR4BbuSSiEPyfSKwkq+BjyNQeXXe/y+WdliavN7e6XbHxRKL656lAtANBNwjkEqBtWvXLhk9erQRV+WswFL8CCz3QliJESGwKkH10DYRCYgEO0lDYDXLecj+JMqQWJ+swCpCz41cYllMtGMEVqL4ve28v4g8Ynn2l4rIQq57lqnTHQScJZBKgaU0Fy1aJH379jV7YD322GPy+c9/viTk/fv3y4QJE8yva6+9VqZNmyZHHnlkyfM4IH0EEFh2aobAQmDZSRoCC4H1MQEEFjdySVx3nOsTgeVcSbwYkO7YUqnHBpsDWPzvNIh7L+LGJCHQGIHUCqytW7fK8OHD5cEHH5TJkyfLqFGj5PDDD2+2yu+//75cddVV8vjjj8vcuXNl8ODBpCKjBBBYdgqLwEJg2UkaAguBhcA6SIAbuSQuO+71icByryY+jIjc+VBl5ggBpwmkVmAp1TVr1sigQYNk48aNMm/ePKmpqWkW9osvvij9+/eX0047zbzB8MQTT3S6OAwuPAEEVnh25ZyJwEJglZOXuI4ld+QuriyV0w658zt35WTFyrGIBCuY6aSIALkjEhCAQMIEnBVYW7ZsMauqNmzY0Cyi9evXy9q1a6Vz587SsWPHwMf26tXLrNw65phjEi4B3VeCAAKrElQPbZMbOr9v6HiUq6j+PNJg5cJD7sidlaC53gkiwfUKZXN85C6bdWVWEEgRAWcF1ubNm6Wurk4aGhoqgpO3EFYEqzONIrDslAKBhcCyk7TCXsgduSN3eQQQp0nEIfk+EQnJ18DHEZA7H6vOnCHgFAEEVnW1UwVhMPEQQGDFw7FUK4gEREKpjFTi5+SO3FUiV6XaJHd+565UPqz/HJFgHTkdigi5IwYQgEDCBJwVWAlzofuUE0Bg2SkgN3R+39DxKFdR/VkJY+XCQ+7InZWgud4JIsH1CmVzfOQum3VlVhBIEQEEVoqKxVCDE0BgBWcV5UgEFgIrSn7CnkvuyF3Y7EQ5j9z5nbso2anIuYiEimCl0RIEyB0RgQAEEiaAwEq4AHRfGQIIrMpwLW6VGzq/b+hYCVNUf1ZgWbnwkDtyZyVorneCSHC9QtkcH7nLZl2ZFQRSRACBlaJiMdTgBBBYwVlFORKBhcCKkp+w55I7chc2O1HOI3d+5y5KdipyLiKhIlhptAQBckdEIACBhAmkXmDt2bNHVq1aJS+99JLs2rUrMM62bdvKgAED5Oijjw58DgemhwACy06tuKHz+4aOlTBF9WcFlpULD7kjd1aC5noniATXK5TN8ZG7bNaVWUEgRQRSLbB+97vfyYgRI2TZsmVlI6+trZX6+nqp5i2EZbNLwwkILDtVQmAhsOwkrbAXckfuyF0eAcRpEnFIvk9EQvI18HEE5M7HqjNnCDhFILUCa82aNTJo0CBZsWJFKKAIrFDYUnMSAstOqRAJiAQ7SUNgNct5yP4kypBYn6zAKkKPwEosi4l2jEhIFL+3nZM7b0vPxCHgCoFUCqy9e/fKhAkTZNKkSYbj2WefbWTWF77wBTnllFOkdevWJflWVVWJPkao/+WTPQIILDs1RWAhsOwkDYGFwPqYAAILgZXEdce5PhEJzpXEiwGROy/KzCQh4DKBVAqs999/X6666ip5/PHH5cwzz5QFCxbI6aef7jJnxmaZAALLDnAEFgLLTtIQWAgsBNZBAsUL7liBlcRlKPk+EQnJ18DHEZA7H6vOnCHgFIFUCqzNmzdLXV2dNDQ0yNChQ2XGjBmBVl05RZ7BVJQAAquieA82jsBCYNlJGgILgYXAQmAlcbVxuE9EgsPFyfDQyF2Gi8vUIJAOAqkUWNu2bZPrrrtO5s+fj8BKR86sjxKBZQc5AguBZSdpCCwEFgILgZXE1cbhPhEJDhcnw0MjdxkuLlODQDoIpFJgKdq7775bhg8fLl/72tfM2wRPOOGEdBBnlFYIILCsYBYEFgLLTtIQWAgsBBYCK4mrjcN9IhIcLk6Gh0buMlxcpgaBdBBIrcDauHGj2Qdr6dKlMmfOHPO/c9IiHegZZSUJILAqSffjthFYCCw7SUNgIbAQWAisJK42DveJSHC4OBkeGrnLcHGZGgTSQSC1AkvxvvjiizJkyBD56KOPZN68eVJTU5MO6oyy4gQQWBVHbDpAYCGw7CQNgYXAQmAhsJK42jjcJyLB4eJkeGjkLsPFZWoQSAeBVAssRfzLX/5SBgwYIEcccYR06tRJqqqqApE/+eSTZerUqdKuXbtAx3NQugggsOzUC4GFwLKTNAQWAguBhcBK4mrjcJ+IBIeLk+GhkbsMF5epQSAdBFItsJYvXy4jRoyQV155pWzatbW1Zu+s6urqss/lBPcJILDs1AiBhcCykzQEFgILgYXASuJq43CfiASHi5PhoZG7DBeXqUEgHQRSK7Bef/116d+/v6xZsyYUaQRWKGypOQmBZadUCCwElp2kIbAQWAgsBFYSVxuH+0QkOFycDA+N3GW4uEwNAukgkEqBtXfvXpkwYYJMmjTJUFYZNXToUDn77LOldevWgcjro4Zt27YN/MhhoEY5yBkCCCw7pUBgIbDsJA2BhcBCYCGwkrjaONwnIsHh4mR4aOQuw8VlahBIB4FUCqz333/fvHXw8ccfl3POOUcWLFggp5xySjqIM0orBBBYVjCziXsx5iH77YB3pJeek7cnMhLEKeI0ieCRO79zl0Tmmu0TkeBcSbwYELnzosxMEgIuE0ilwNq8ebPU1dVJQ0ODWXk1Y8aMwCuvXC4GY4uPAAIrPpbNtcQNnd83dAisovrPSeibPeLUygWP653f1zsrISunk4QuN1L87zRc98qpWvqPJXfpryEzgEDKCaRSYG3btk2uu+46mT9/PgIr5QGs1PARWJUiW9guN3R+39AhsBBYdq40hb2QO3KXRO6c6xOR4FxJvBgQufOizEwSAi4TSKXAUqD333+/eYyQRwhdjldyY0Ng2WGPwEJg2Uka4rRZzqzAshJDrnd+X++shKycThAJ5dDi2LgIkLu4SNIOBCAQkkBqBdamTZvM6qsnn3xSpk6dKjfddJMcfvjhITFwWtYIILDsVJQbOr9v6FgJU1R/HqWxcuEhd+TOStBc7wSR4HqFsjk+cpfNujIrCKSIQGoFljJes2aNDBo0SDZu3Cjz5s2TmpqaFKFnqJUkgMCqJN2P20ZgIbDsJK2wF3JH7shdHgHEaRJxSL5PRELyNfBxBOTOx6ozZwg4RSCVAmvLli0yatQo2bBhg6xfv17Wrl0rHTt2lE6dOklVVVUgwCeffLJZudWuXbtAx3NQugggsOzUC5GASLCTNARWs5x5hNBKDLne+X29sxKycjpBJJRDi2PjIkDu4iJJOxCAQEgCqRRY+W8hDDlvqa2tlfr6eqmurg7bBOc5TACBZac43ND5fUPHo1xF9WcljJULD7kjd1aC5noniATXK5TN8ZG7bNaVWUEgRQQQWAisFMU1+FARWMFZRTkSgYXAipKfsOeSO3IXNjtRziN3fucuSnYqci4ioSJYabQEAXJHRCAAgYQJpFJgJcyM7lNAAIFlp0jc0Pl9Q8dKmKL6swLLyoWH3JE7K0FzvRNEgusVyub4yF0268qsIJAiAgisFBWLoQYngMAKzirKkQgsBFaU/IQ9l9yRu7DZiXIeufM7d1GyU5FzEQkVwUqjJQiQOyICAQgkTACBlXAB6L4yBBBYleFa3Co3dH7f0LESpqj+rMCycuEhd+TOStBc7wSR4HqFsjk+cpfNujIrCKSIAAIrRcViqMEJILCCs4pyJAILgRUlP2HPJXfkLmx2opxH7vzOXZTsVORcREJFsNJoCQLkjohAAAIJE0ilwNqyZYuMGjVKNmzYEBrfySefLFOnTpV27dqFboMT3SWAwLJTG27o/L6hYyVMUf1ZgWXlwkPuyJ2VoLneCSLB9Qplc3zkLpt1ZVYQSBGBVAqszZs3S11dnTQ0NIRGXVtbK/X19VLNWwhDM3T5RASWneogsBBYdpJW2Au5I3fkLo8A4jSJOCTfJyIh+Rr4OAJy52PVmTMEnCKAwEJgORXIuAaDwIqLZPPtIBIQCXaShsBqlvOQ/UmUIbE+WYFVhB6BlVgWE+0YkZAofm87J3felp6JQ8AVAqkUWPv27ZP3339f9L9BPnrcv/3bv8mYMWNkwIABctttt0mbNm2kbdu2UlVVFaQJjkkZAQSWnYIhsBBYdpKGwEJgfUwAgYXASuK641yfiATnSuLFgMidF2VmkhBwmUAqBVYYoLpv1tChQ+Wxxx6TO++8U0aMGCE5yRGmPc5xmwACy059EFgILDtJQ2AhsBBYBwkUL7hjBVYSl6Hk+0QkJF8DH0dA7nysOnOGgFMEvBFYSv3pp5+WSy65RE466SRZuHChnHHGGU4Vg8HERwCBFR/L5lpCYCGw7CQNgYXAQmAhsJK42jjcJyLB4eJkeGjkLsPFZWoQSAcBrwTW3/72Nxk4cKA89dRTMmnSJPNIIauw0hHUcs8Zc6oAACAASURBVEeJwCqXWLjjEVgIrHDJiXYWuSN30RIU7mxy53fuwqWmgmchEioIl6abJEDuCAcEIJAwAa8E1o4dO2TkyJEye/ZssxJr7ty5Zh8sPtkjgMCyU1Nu6Py+oWMvoqL68yiXlQsPuSN3VoLmeieIBNcrlM3xkbts1pVZQSBFBLwVWLW1tVJfXy/VvIUwRXENPlQEVnBWUY5EYCGwouQn7LnkjtyFzU6U88id37mLkp2KnItIqAhWGi1BgNwREQhAIGECXgmsP//5z3LZZZfJihUrWIGVcPAq3T0Cq9KE/7d9buj8vqFjJUxR/VmBZeXCQ+7InZWgud4JIsH1CmVzfOQum3VlVhBIEQEvBNaePXtkzZo1MmXKFFmwYIEpz9ixY2X8+PFy+OGHp6hcDDUoAQRWUFLRjkNgIbCiJSjc2eSO3IVLTrSzyJ3fuYuWngqcjUioAFSaLEmA3JVExAEQgEBlCaRSYG3evFnq6uqkoaEhFJ2OHTvK448/Lt26dQt1Pie5TwCBZadG3ND5fUPHSpii+rMCy8qFh9yROytBc70TRILrFcrm+MhdNuvKrCCQIgLeCSyVV9OnT5eLL76YNxCmKKjlDhWBVS6xcMcjsBBY4ZIT7SxyR+6iJSjc2eTO79yFS00Fz0IkVBAuTTdJgNwRDghAIGEC3gismpoa+eY3vyn9+/eXk08+OWHsdF9pAgisShP+3/a5ofP7ho6VMEX1ZwWWlQsPuSN3VoLmeieIBNcrlM3xkbts1pVZQSBFBFIpsFLEl6EmRACBZQc8AguBZSdphb2QO3JH7vIIIE6TiEPyfSISkq+BjyMgdz5WnTlDwCkCCCynysFg4iKAwIqLZPPtIBIQCXaShsBqlvOQ/UmUIbE+WYFVhB6BlVgWE+0YkZAofm87J3felp6JQ8AVAggsVyrBOGIlgMCKFWeTjSGwEFh2kobAQmB9TACBhcBK4rrjXJ+IBOdK4sWAyJ0XZWaSEHCZAALL5eowttAEEFih0ZV1IgILgVVWYGI6mNyRu5iiVFYz5M7v3JUVFhsHIxJsUKaPYgLkjkxAAAIJE3BaYG3ZskVGjRolGzZsiB2TbuQ+depUadeuXext02DyBBBYdmrADZ3fN3SshCmqP49yWbnwkDtyZyVorneCSHC9QtkcH7nLZl2ZFQRSRMBpgbV582apq6uThoaG2JHW1tZKfX29VFdXx942DSZPAIFlpwYILASWnaQV9kLuyB25yyOAOE0iDsn3iUhIvgY+joDc+Vh15gwBpwggsBBYTgUyrsEgsOIi2Xw7iAREgp2kIbCa5cwm7lZiyPXO7+udlZCV0wkioRxaHBsXAXIXF0nagQAEQhJwWmCFnFPBadu3b5dHH31UfvKTn8jatWsP/uy73/2uzJ49m0cI44DsYBsILDtF4YbO7xs6HuUqqj8rYaxceMgdubMSNNc7QSS4XqFsjo/cZbOuzAoCKSKQWYG1Y8cOefLJJ+X222+X3//+9wdLcvbZZ8v48eOlV69e0qpVqxSViqGWQwCBVQ6t8McisBBY4dMT/kxyR+7Cpyf8meTO79yFT06FzkQkVAgszTZLgNwREAhAIGECmRNYO3fulCVLlpgVV6+88kqBuPrBD34gF154IeIq4dDZ6B6BZYOyCDd0ft/QsRKmqP6swLJy4SF35M5K0FzvBJHgeoWyOT5yl826MisIpIhAZgRWU+Kqc+fOouKqX79+ctRRR6WoNAw1CgEEVhR6wc9FYCGwgqclviPJHbmLL03BWyJ3fucueFIsHYlIsASabgoIkDsCAQEIJEwg9QJLxdWzzz4rEyZMKFhxpeJq+PDhcuWVVyKuEg5ZEt0jsOxQ54bO7xs6VsIU1Z8VWFYuPOSO3FkJmuudIBJcr1A2x0fusllXZgWBFBFIrcDas2ePPP/88zJp0iT59a9/fRB5x44d5YYbbpDBgwfLMccck6JSuDtUZa17iY0dO1ZeeuklOe+88xod7Lp16+Suu+6SpUuXmg3zu3btala+aS3at2/f6Dm5lXNz586VZcuWScuWLaVnz54ybNgwqampkaqqqlBgEFihsJV9EgILgVV2aGI4gdyRuxhiVHYT5M7v3JUdmEqfgEioNGHab4wAuSMXEIBAwgRSJ7D27dsnL7zwgtnjqqGh4SC+Y489VkaOHClDhw5tUpYkzDq13f/sZz+TgQMHyrZt25oUWK+99ppcc801smLFCtHVbx06dJA33nhD1q9fL71795a7775bOnXqVMBA5dXUqVNl3Lhx0qZNG+nSpYvs3r1bli9fbn4/efJk02aLFi3KZofAKhtZqBO4ofP7ho6VMEX1ZwVWqOtIuSeRO3JXbmYyeTwiIZNldX5S5M75EjFACGSdQGoEloqr3/zmN0Zc6SbtuY+KK5Uc119/vRx//PFZr5f1+a1Zs0YGDRpkxJR+GluBtWnTJiMO9VHOGTNmyBVXXGGk0/bt2+WOO+4wj3dqfVRWtW7d+uAcFi5cKEOGDJEePXrIrFmzRFfP7d+/X1599VXz+OfGjRulvr6+yRVfzcFAYNmJCgILgWUnaYW9kDtyR+7yCCBOk4hD8n0iEpKvgY8jIHc+Vp05Q8ApAs4LLBVXv/vd78xqnCeffPIgPF2ho9JERcfJJ5/sFNSsDEYF1KhRo2TlypXSrl07eeqppxoVWIsWLZK+ffvKiBEjjKRq1arVQQRbt241NXrmmWdk8eLF0r17d/OzLVu2mEcLdbVV/p/nTnz66aflkksuMfKsuM0gfBFYQShFPwaRgEiInqLyWyB35K781EQ/g9z5nbvoCYq5BURCzEBpLhABchcIEwdBAAKVI+C0wPrggw/klltukfvuu69AXOkKn5tvvlk+85nPVI6M5y3rSijdl0o5z5kzxzwOqI/6Fa/A2rVrl4wePdqsvFLpdMEFFxxC7sEHHzSrsqZPn24e89SPSrE+ffpIr169zOorFZL5H13Vdfnll8uHH34oDz/8sFmdVc4HgVUOrfDHckPn9w0dj3IV1Z+VMOEvJmWcSe7IXRlxye6hiITs1tblmZE7l6vD2CDgBQGnBdbmzZulrq7u4F5X3/ve94wsOe200yQnKLyoUgKT1Mf4dAWU8tdHAKdMmdKowNKVVLo/1oYNG+TRRx81tSn+6ObsX/nKV8yKORVd+hjhI488Iv3795fx48ebX8X13LFjh5Fds2fPbnbj+KbQILDshAaBhcCyk7TCXsgduSN3eQQQp0nEIfk+EQnJ18DHEZA7H6vOnCHgFIFUCaw4ydXW1pr9laqrq+NsNhNtvfvuu0Y26dsHdRXWcccdZ9722NgKLN2kXVdK6aeplVL6RsJLL73UtJNjriLrpptuKliVVQwv1+dDDz1kRFo5HwRWObTCH4tIQCSET0/4M8kduQufnvBnkju/cxc+ORU6E5FQIbA02ywBckdAIACBhAkgsBBYBRFUaTVt2jS59957Zd68eVJTU2N+3pTAakxOFWe6sWOCyKkgxzT1/x8Elp0rCzd0ft/Q8ShXUf1ZCWPlwkPuyJ2VoLneCSLB9Qplc3zkLpt1ZVYQSBEBpwWWPp6mm4jr42lxf3Tjd90cXDcn5/Mxgdzm6WPGjDH7X+nbBNMssPRRSB8+oxoOfXTTxryn1v6hoJuzup1lo9tD+lj56srCcazslsw4zvIjbzm45I7cJfF/NHJH7pLInWt98vetX3/fupI/cpf93J11VjLf5V3JOONwn4DTAst9fNkaoW7UrvtZqdzTvafy5V5aV2AhsCqbUQRWId+VCKzKBu5A6+SO3FkJWlEn5M7v3CWRueb6RCRkXyS4ljkdD7nLfu4QWC7+P48x5RNAYJEHQ2D79u1mtdvzzz8vCxculDPOOKOATFMC6+233z64P5Xub3XCCSccQjT3COFJJ50k8+fPN2JMBdk111xj3jCp+2019sn1qePRPbTK+fAIYTm0wh/LI4RF7IbsDw8zhWfyKFdR0XiE0EqKyR25sxK0Zjr547v7ZMHLu2XFH/fKjl2Vue4ffeRh0u3Uw+WyL7WUv/901aGj4VGupGNgvX9yl4ecv2+t548OIeAKAQSWK5VIeBw5ybR69epAI5k4caKMHTtWeAthIFwVP4gbOm7oKh6yRjogd+SO3CVAoNiXcCNntQgqEUbM2yE799jptlULkZlXtD5UYiGw7BTAkV7IHX/fOhJFhgGBxAkgsBIvgRsDePPNN+WHP/yh/M///E+jA9K3DarkOvfcc+WYY46RCy+8UIYPHy67du2S0aNHi75VUPfPuuCCCw45P7faavr06TJy5Ejz85UrV0qfPn2kV69eMmvWLGnTpk3BebmVXdp+U283bI4cK7Ds5IoVWEWcWYFlJXjkjtxZCVpRJ+TO79zlZj9p8U751X9ZslcHOv3a51rI2ItaFRYAgZXEZSCxPskdAiux8NExBBwjgMByrCCuDqepRwh1vIsWLZK+ffvKiBEjzMb4rVp9/CVr69atRnQ988wzsnjxYunevbuZoq7cGjx4sCxfvrzgz3Pzz20mP2jQoEPaDMIIgRWEUvRjuKHz+4aOFVh8oY5+FSm/BXJH7spPTXxnXPivH1bsscHmRsnft37/fUvuuO7FdxWjJQikmwACK931szb65gTWpk2bzD5Wzz77rFmJNWDAACOxdF+tO+64QyZMmGB+rj9r3br1wTHr3lZDhgyRHj16yMyZM+XUU0+V/fv3i268rtJL3z6px+jPy/0gsMolFu54vlD7/YUakcAX6nBXjmhnkTtyFy1B0c4mf+QvWoLCnU3uyF245HAWBLJHAIGVvZpWZEbNCSzt8OWXX5Zhw4aJ7qHVuXNn6dChg+hbDfXRw969e8vdd98tnTp1KhibCq7JkyebX/oIYZcuXWT37t1mVZb+Xv9cN3pv0aJF2XNCYJWNLNQJCCwEVqjgRDyJ3JG7iBEKdTq58zt3udkjEhAJoS4gEU8id+QuYoQ4HQKZIYDAykwpKzuRUgJLe1+3bp3cddddsnTpUrNfVteuXaVfv37mUcH27ds3OsCdO3fKkiVLZO7cubJs2TJp2bKl9OzZ08iwmpoaqapq5M07AaaKwAoAKYZDuKHz+4aOL9R8oY7hMlJ2E+SO3JUdmhhPIH/kL8Y4BW6K3JG7wGHhQAhknAACK+MF9nV6CCw7lUdgIbDsJK2wF3JH7shdHgHeQmg1DogERILVwB3ojNyRuyRyR58QcJEAAsvFqjCmyAQQWJERBmoAkYBICBSUmA8id+Qu5kgFao7c+Z273OwRCYiEQBeMmA8id+Qu5kjRHARSSwCBldrSMfDmCCCw7OSDGzq/b+j4Qs0XajtXmsJeyB25SyJ3CKwDBPaTvyTyx3WP3CWRO/qEgIsEEFguVoUxRSaAwIqMMFADCCwEVqCgxHwQuSN3MUcqUHPkzu/cIbAQWIEuFBU6CIGFwKpQtGgWAqkjgMBKXckYcBACCKwglKIfww2d3zd0fKHmC3X0q0j5LZA7cld+auI7g/yRv/jSFLwlckfugqeFIyGQbQIIrGzX19vZIbDslB6BhcCyk7TCXsgduSN3eQTYxN1qHBAJiASrgTvQGbkjd0nkjj4h4CIBBJaLVWFMkQkgsCIjDNQAIgGRECgoMR9E7shdzJEK1By58zt3udkjEhAJgS4YMR9E7shdzJGiOQiklgACK7WlY+DNEUBg2ckHN3R+39DxhZov1HauNIW9kDtyl0TuEFgHCLCJeyLx47rHdS+R4NEpBBwkgMBysCgMKToBBFZ0hkFaQGAhsILkJO5jyB25iztTQdojd37nDoGFwApynajUMQgsBFalskW7EEgbAQRW2irGeAMRQGAFwhT5IG7o/L6h4ws1X6gjX0RCNEDuyF2I2MR2Cvkjf7GFqYyGyB25KyMuHAqBTBNAYGW6vP5ODoFlp/YILASWnaQV9kLuyB25yyPAJu5W44BIQCRYDdyBzsgduUsid/QJARcJILBcrApjikwAgRUZYaAGEAmIhEBBifkgckfuYo5UoObInd+5y80ekYBICHTBiPkgckfuYo4UzUEgtQQQWKktHQNvjgACy04+uKHz+4aOL9R8obZzpSnshdyRuyRyh8A6QIBN3BOJH9c9rnuJBI9OIeAgAQSWg0VhSNEJILCiMwzSAgILgRUkJ3EfQ+7IXdyZCtIeufM7dwgsBFaQ60SljkFgIbAqlS3ahUDaCCCw0lYxxhuIAAIrEKbIB3FD5/cNHV+o+UId+SISogFyR+5CxCa2U8gf+YstTGU0RO7IXRlx4VAIZJoAAivT5fV3cggsO7VHYCGw7CStsBdyR+7IXR4BNnG3GgdEAiLBauAOdEbuyF0SuaNPCLhIAIHlYlUYU2QCCKzICAM1gEhAJAQKSswHkTtyF3OkAjVH7vzOXW72iAREQqALRswHkTtyF3OkaA4CqSWAwEpt6Rh4cwQQWHbywQ2d3zd0fKHmC7WdK01hL+SO3CWROwTWAQJs4p5I/Ljucd1LJHh0CgEHCSCwHCwKQ4pOAIEVnWGQFhBYCKwgOYn7GHJH7uLOVJD2yJ3fuUNgIbCCXCcqdQwCC4FVqWzRLgTSRgCBlbaKMd5ABBBYgTBFPogbOr9v6PhCzRfqyBeREA2QO3IXIjaxnUL+yF9sYSqjIXJH7sqIC4dCINMEEFiZLq+/k0Ng2ak9AguBZSdphb2QO3JH7vIIsIm71TggEhAJVgN3oDNyR+6SyB19QsBFAggsF6vCmCITQGBFRhioAUQCIiFQUGI+iNyRu5gjFag5cud37nKzRyQgEgJdMGI+iNyRu5gjRXMQSC0BBFZqS8fAmyOAwLKTD27o/L6h4ws1X6jtXGkKeyF35C6J3CGwDhBgE/dE4sd1j+teIsGjUwg4SACB5WBRGFJ0Agis6AyDtIDAQmAFyUncx5A7chd3poK0R+78zh0CC4EV5DpRqWMQWAisSmWLdiGQNgIIrLRVjPEGIoDACoQp8kHc0Pl9Q8cXar5QR76IhGiA3JG7ELGJ7RTyR/5iC1MZDZE7cldGXDgUApkmgMDKdHn9nRwCy07tEVgILDtJK+yF3JE7cpdHgE3crcYBkYBIsBq4A52RO3KXRO7oEwIuEkBguVgVxhSZAAIrMsJADSASEAmBghLzQeSO3MUcqUDNkTu/c5ebPSIBkRDoghHzQeSO3MUcKZqDQGoJILBSWzoG3hwBBJadfHBD5/cNHV+o+UJt50pT2Au5I3dJ5A6BdYAAm7gnEj+ue1z3EgkenULAQQIILAeLwpCiE0BgRWcYpAUEFgIrSE7iPobckbu4MxWkPXLnd+4QWAisINeJSh2DwEJgVSpbtAuBtBFAYKWtYow3EAEEViBMkQ/ihs7vGzq+UPOFOvJFJEQD5I7chYhNbKeQP/IXW5jKaIjckbsy4sKhEMg0AQRWpsvr7+QQWHZqj8BCYNlJWmEv5I7ckbs8AmzibjUOiAREgtXAHeiM3JG7JHJHnxBwkQACy8WqMKbIBBBYkREGagCRgEgIFJSYDyJ35C7mSAVqjtz5nbvc7BEJiIRAF4yYDyJ35C7mSNEcBFJLAIGV2tIx8OYIILDs5IMbOr9v6PhCzRdqO1eawl7IHblLIncIrAME2MQ9kfhx3eO6l0jw6BQCDhJAYDlYFIYUnQACKzrDIC0gsBBYQXIS9zHkjtzFnakg7ZE7v3OHwEJgBblOVOoYBBYCq1LZol0IpI0AAittFWO8gQggsAJhinwQN3R+39DxhZov1JEvIiEaIHfkLkRsYjuF/JG/2MJURkPkjtyVERcOhUCmCSCwMl1efyeHwLJTewQWAstO0gp7IXfkjtzlEWATd6txQCQgEqwG7kBn5I7cJZE7+oSAiwQQWC5WhTFFJoDAiowwUAOIBERCoKDEfBC5I3cxRypQc+TO79zlZo9IQCQEumDEfBC5I3cxR4rmIJBaAgis1JaOgTdHAIFlJx/c0Pl9Q8cXar5Q27nSFPZC7shdErlDYB0gwCbuicSP6x7XvUSCR6cQcJAAAsvBojCk6AQQWNEZBmkBgYXACpKTuI8hd+Qu7kwFaY/c+Z07BBYCK8h1olLHILAQWJXKFu1CIG0EEFhpqxjjDUQAgRUIU+SDuKHz+4aOL9R8oY58EQnRALkjdyFiE9sp5I/8xRamMhoid+SujLhwKAQyTQCBleny+js5BJad2iOwEFh2klbYC7kjd+QujwCbuFuNAyIBkWA1cAc6I3fkLonc0ScEXCSAwHKxKowpMgEEVmSEgRpAJCASAgUl5oPIHbmLOVKBmiN3fucuN3tEAiIh0AUj5oPIHbmLOVI0B4HUEkBgpbZ0DLw5AggsO/nghs7vGzq+UPOF2s6VprAXckfuksgdAusAATZxTyR+XPe47iUSPDqFgIMEEFgOFoUhRSeAwIrOMEgLCCwEVpCcxH0MuSN3cWcqSHvkzu/cIbAQWEGuE5U6BoGFwKpUtmgXAmkjgMBKW8UYbyACCKxAmCIfxA2d3zd0fKHmC3Xki0iIBsgduQsRm9hOIX/kL7YwldEQuSN3ZcSFQyGQaQIIrEyX19/JIbDs1B6BhcCyk7TCXsgduSN3eQTYxN1qHBAJiASrgTvQGbkjd0nkjj4h4CIBBJaLVWFMkQkgsCIjDNQAIgGRECgoMR9E7shdzJEK1By58zt3udkjEhAJgS4YMR9E7shdzJGiOQiklgACK7WlY+DNEUBg2ckHN3R+39DxhZov1HauNIW9kDtyl0TuEFgHCLCJeyLx47rHdS+R4NEpBBwkgMBysCgMKToBBFZ0hkFaQGAhsILkJO5jyB25iztTQdojd37nDoGFwApynajUMQgsBFalskW7EEgbAQRW2irGeAMRQGAFwhT5IG7o/L6h4ws1X6gjX0RCNEDuyF2I2MR2Cvkjf7GFqYyGyB25KyMuHAqBTBNAYGW6vP5ODoFlp/YILASWnaQV9kLuyB25yyPAJu5W44BIQCRYDdyBzsgduUsid/QJARcJILBcrApjikwAgRUZYaAGEAmIhEBBifkgckfuYo5UoObInd+5y80ekYBICHTBiPkgckfuYo4UzUEgtQQQWKktHQNvjgACy04+uKHz+4aOL9R8obZzpSnshdyRuyRyh8A6QIBN3BOJH9c9rnuJBI9OIeAgAQSWg0VhSNEJILCiMwzSAgILgRUkJ3EfQ+7IXdyZCtIeufM7dwgsBFaQ60SljkFgIbAqlS3ahUDaCCCw0lYxxhuIAAIrEKbIB3FD5/cNHV+o+UId+SISogFyR+5CxCa2U8gf+YstTGU0RO7IXRlx4VAIZJoAAivT5fV3cggsO7VHYCGw7CStsBdyR+7IXR4BNnG3GgdEAiLBauAOdEbuyF0SuaNPCLhIAIHlYlUYU2QCCKzICAM1gEhAJAQKSswHkTtyF3OkAjVH7vzOXW72iAREQqALRswHkTtyF3OkaA4CqSWAwEpt6Rh4cwQQWHbywQ2d3zd0fKHmC7WdK01hL+SO3CWROwTWAQJs4p5I/Ljucd1LJHh0CgEHCSCwHCwKQ4pOAIEVnWGQFhBYCKwgOYn7GHJH7uLOVJD2yJ3fuUNgIbCCXCcqdQwCC4FVqWzRLgTSRgCBlbaKMd5ABBBYgTBFPogbOr9v6PhCzRfqyBeREA2QO3IXIjaxnUL+yF9sYSqjIXJH7sqIC4dCINMEEFiZLq+/k0Ng2ak9AguBZSdphb2QO3JH7vIIsIm71TggEhAJVgN3oDNyR+6SyB19QsBFAggsF6vCmCITQGBFRhioAUQCIiFQUGI+iNyRu5gjFag5cud37nKzRyQgEgJdMGI+iNyRu5gjRXMQSC0BBFZqS8fAmyOAwLKTD27o/L6h4ws1X6jtXGkKeyF35C6J3CGwDhBgE/dE4sd1j+teIsGjUwg4SACB5WBRGFJ0Agis6AyDtIDAQmAFyUncx5A7chd3poK0R+78zh0CC4EV5DpRqWMQWAisSmWLdiGQNgIIrLRVjPEGIoDACoQp8kHc0Pl9Q8cXar5QR76IhGiA3JG7ELGJ7RTyR/5iC1MZDZE7cldGXDgUApkmgMDKdHn9nRwCy07tEVgILDtJK+yF3JE7cpdHgE3crcYBkYBIsBq4A52RO3KXRO7oEwIuEkBguVgVxhSZAAIrMsJADSASEAmBghLzQeSO3MUcqUDNkTu/c5ebPSIBkRDoghHzQeSO3MUcKZqDQGoJILBSWzoG3hwBBJadfHBD5/cNHV+o+UJt50pT2Au5I3dJ5A6BdYAAm7gnEj+ue1z3EgkenULAQQIILAeLwpCiE0BgRWcYpAUEFgIrSE7iPobckbu4MxWkPXLnd+4QWAisINeJSh2DwEJgVSpbtAuBtBFAYKWtYow3EAEEViBMkQ/ihs7vGzq+UPOFOvJFJEQD5I7chYhNbKeQP/IXW5jKaIjckbsy4sKhEMg0AQRWpsvr7+QQWHZqj8BCYNlJWmEv5I7ckbs8AmzibjUOiAREgtXAHeiM3JG7JHJHnxBwkQACy8WqMKbIBBBYkREGagCRgEgIFJSYDyJ35C7mSAVqjtz5nbvc7BEJiIRAF4yYDyJ35C7mSNEcBFJLAIGV2tIx8OYIILDs5IMbOr9v6PhCzRdqO1eawl7IHblLIncIrAME2MQ9kfhx3eO6l0jw6BQCDhJAYDlYFIYUnQACKzrDIC0gsBBYQXIS9zHkjtzFnakg7ZE7v3OHwEJgBblOVOoYBBYCq1LZol0IpI0AAittFWO8gQggsAJhinwQN3R+39DxhZov1JEvIiEaIHfkLkRsYjuF/JG/2MJURkPkjtyVERcOhUCmCSCwMl1efyeHwLJTewQWAstO0gp7IXfkjtzlEWATd6txQCQgEqwG7kBn5I7cJZE7+oSAiwQQWC5WhTFFJoDAiowwUAOIBERCoKDEfBC5I3cxRypQc+TO79zlZo9IQCQEumDEfBC5YJ7N4QAAIABJREFUI3cxR4rmIJBaAgis1JaOgTdHAIFlJx/c0Pl9Q8cXar5Q27nSFPZC7shdErlDYB0gwCbuicSP6x7XvUSCR6cQcJAAAsvBovg0pJ07d8qSJUtk7ty5smzZMmnZsqX07NlThg0bJjU1NVJVVRUKBwIrFLayT0JgIbDKDk0MJ5A7chdDjMpugtz5nTsEFgKr7ItGjCcgsBBYMcaJpiCQagIIrFSXL92DV3k1depUGTdunLRp00a6dOkiu3fvluXLl5vfT548Wa655hpp0aJF2RNFYJWNLNQJ3ND5fUPHF2q+UIe6cEQ8idyRu4gRinQ6+SN/kQIU8mRyR+5CRofTIJA5AgiszJU0PRNauHChDBkyRHr06CGzZs2Sjh07yv79++XVV1+V4cOHy8aNG6W+vl7OO++8sieFwCobWagTEFgIrFDBiXgSuSN3ESMU6nRy53fucrNHJCASQl1AIp5E7shdxAhxOgQyQwCBlZlSpmsiW7ZskcGDB5vVVosXL5bu3bsXTODpp5+WSy65RAYNGmRWabVq1aqsCSKwysIV+mBu6Py+oeMLNV+oQ188IpxI7shdhPhEPpX8kb/IIQrRALkjdyFiwykQyCQBBFYmy+r+pFauXCl9+vSRXr16mdVX+shg/mfTpk1y+eWXy4cffigPP/ywWZ1VzgeBVQ6t8McisBBY4dMT/kxyR+7Cpyf8meTO79zlZo9IQCSEv4qEP5Pckbvw6eFMCGSLAAIrW/VMzWweeeQR6d+/v4wfP978ygmn3AR27NghI0eOlNmzZ8tLL71U9mOECCw7UeCGzu8bOr5Q84XazpWmsBdyR+6SyB0C6wAB3kKYSPy47nHdSyR4dAoBBwkgsBwsig9DmjFjhtx0000yffp0I6oa+0yaNMls8P7QQw9JXV1dWVgQWGXhCn0wAguBFTo8EU4kd+QuQnxCn0ru/M4dAguBFfriEcOJCCwEVgwxogkIZIIAAisTZUzfJILIqSDHNDVzBJadTHBD5/cNHV+o+UJt50pT2Au5I3dJ5A6BhcAidyJyWEIUWPmXEHi6hYB7BBBY7tXEixEFkVNBjkFg/S8Bbui4oUviwkHuyB25S4AAN3IJQP+4S657XPeSCCC5I3dJ5I4+IeAiAQSWi1XxYExB5FSQY0oJrLPOOssDmkwRAhCAAAQgAAEIQAACEIBANAKvvvpqtAY4GwIVJoDAqjBgmm+cgG7Ofs0118h9990nQ4cObfSgnMBauHChXHrppWWj7NatW9nncAIEIAABCEAAAhCAAAQgAAEfCSCwfKx6uuaMwEpXvTIz2kq/hTAzoJgIBCAAAQhAAAIQgAAEIAABCEAAAoLAIgSJEFi5cqX06dNHevXqJbNmzZI2bdoUjOPtt982bx7ctWuXPPzww9KxY8dExkmnEIAABCAAAQhAAAIQgAAEIAABCCRPAIGVfA28HMGWLVtk8ODBsnz5clm8eLF07969gMPTTz8tl1xyiQwaNEimTp0qrVq18pITk4YABCAAAQhAAAIQgAAEIAABCEBAWIFFCJIjoHtbDRkyRHr06CEzZ86UU089Vfbv3y/67PXw4cNlw4YNosfoz/lAAAIQgAAEIAABCEAAAhCAAAQg4C8BVmD5W/vEZ759+3aZPHmy+aWPEHbp0kV2795tVmXp7/XPdaP3Fi1aJD5WBgABCEAAAhCAAAQgAAEIQAACEIBAcgQQWMmxp2cR2blzpyxZskTmzp0ry5Ytk5YtW0rPnj1l2LBhUlNTI1VVVXCCAAQgAAEIQAACEIAABCAAAQhAwHMCCCzPA8D0IQABCEAAAhCAAAQgAAEIQAACEICA6wQQWK5XiPFBAAIQgAAEIAABCEAAAhCAAAQgAAHPCSCwPA8A04cABCAAAQhAAAIQgAAEIAABCEAAAq4TQGC5XiHGBwEIQAACEIAABCAAAQhAAAIQgAAEPCeAwPI8AEwfAhCAAAQgAAEIQAACEIAABCAAAQi4TgCB5XqFGB8EIAABCEAAAhCAAAQgAAEIQAACEPCcAALL8wAwfQhAAAIQgAAEIAABCEAAAhCAAAQg4DoBBJbrFWJ8EEghgb1798rYsWNlypQpTY5+6NChMmPGDGnduvXBY/bt2ycvvPCC3HvvvfLcc8/J7t275bzzzpOrrrpKLrzwQmnVqlUKaTDkShPYs2ePjB8/XlauXCn19fVSXV3daJdh87Vu3Tq56667ZOnSpbJ27Vrp2rWr9OvXTwYPHizt27ev9PRo32ECr7/+uvTv31/GjBkjdXV1jY707bffNj/71a9+1eRMHnrooUPO37lzpyxZskTmzp0ry5Ytk5YtW0rPnj1l2LBhUlNTI1VVVQ6TYWhxEti/f7/84Q9/MFnIXYeOPfbYknngmhdnFfxsSzO0YsUKuf/+++XZZ5+V9evXS8eOHaVXr14yfPhwOeOMM+Swww4rgMM1z8+sMGsI2CKAwLJFmn4g4BGB999/30inxx9/PLDAUumlN3H6hWjbtm1y7rnnmhu21157zfz+1ltvNb+OOuooj0gy1VIEVF7dd999Jhtf/vKXmxRYYfOl+bvmmmvMF/jOnTtLhw4d5I033jBf4nv37i133323dOrUqdQw+XkGCWgOrr/+enn66afNtaspgaVitU+fPvLOO+8EFlgqr6ZOnSrjxo2TNm3aSJcuXYzQX758ufn95MmTTS5btGiRQbJMKZ+AyqtHHnlErrvuOnnvvffMdUgFwtatW00e9NPY349c88hRVAL696v+Q+OkSZPM9zD9xxv9R5tNmzbJqlWrmrwWcc2LSp7zIQCB5gggsMgHBCAQOwG9ub/88svlhBNOMP9i3LZt25J96AoDvQE87rjjZNasWXLWWWeZc958800ZMWKEvPjiizJnzhyz2oEPBJSAfqHWG/nbb7/dAKmtrW1SYIXJl35J15WC+q/O+iX+iiuuMMJg+/btcscdd8iECROMwFDRkL+SkOpkm4AKhd/85jdGKKxevdpMtjmB9fOf/1y+/e1vy/Tp02XkyJGB4CxcuFCGDBkiPXr0MNdDFRba76uvvmok/8aNG03WdYUqn2wTyK3y+/DDD00W/vEf/9GsvsvPgwr24gxyzct2LmzMTuX8JZdcIp/73OfMKuRu3bqZ1Va6Kus//uM/zDVw165dotcrvVblPlzzbFSHPiDgLwEElr+1Z+YQqBgB/VdhXZ2iN/f6L3eHH354s33paoNRo0bJzJkz5YknnpDvfOc7BcfnvsCfdtppZhl7u3btKjZ2GnafgP6r8PPPP28e23rllVfkU5/6lOzYsaPJFVhh87Vo0SLp27evEagqqfIfYdXVDyoSnnnmGVm8eLF0797dfXCMMDIBXUX105/+VO655x7TlorLv/71r80KLH2UWlfI6M3gBRdcUHIMW7ZsMY+n6nW0sWzlbioHDRp0SC5LNs4BqSOg8vymm26SadOmGQFa/LhWLg8XXXSREVy6Qo9rXurK7NyAVUyNHj3a/ONNY9/LVKDqP1CqaP/hD39Y8F2Pa55z5WRAEMgUAQRWpsrJZCDgBgF93EFXSumjXbqCpdQnt2LriCOOMKsKdOVW/kf/5fmGG24we3/84he/OLg6q1S7/DybBHRlwVe+8hVzo3bttdfKP/3TP5n/6uq9xvbACpOv/C/vTYmHBx980KzKKmdlTTYr4sesVJKqQJg9e7acffbZZuXfSy+9ZPZfa2oF1kcffSQ333yzEZ36SLXuF1Pqk3v8RveYyQmJ/HN0ZaCucNXr4sMPP2xWZ/HJJgHNz2233SaPPfaY+cebxlbc6b58l156acH1j2teNvNgc1Yq0v/5n//Z7Puo2dNHV4s/ub+L8/c05Zpns0r0BQE/CSCw/Kw7s4ZAxQjov8rpo1X6S2/8//a3v5kVC/qIwznnnGNu+L/3ve8V7GWVW7GlX8L12E984hOHjE9Xcul+MM09qlOxSdGwUwR01dVTTz1lsnTyySebL9jFN3D5Aw6TL/3yPnDgQNmwYYM8+uijoqv/gnx5dwoUg4mVgAqsO++80+wDc/7555sVeaWuSznZpAPRcxcsWGCuYbqXkW7Irqv7ijdkz/0DgIox/VW84iZfpKlA4zHCWMucusZ0hbI+5nXqqaceFPhc81JXxlQOWMW8rrbPF1hc81JZSgYNgVQRQGClqlwMFgLuE8hfLXXKKaeYNyedeeaZoo995TZk/9a3vnVwXxedUW6/BF3doKsadCVW8UdX1gwYMEAmTpxo3nDIBwI5AqUEVph85VYwaB9NrXIp1S8Vyj6BUgJLr3/6xkrds0ivgfpLV0zlNkFWQj/60Y/MI9S5fdRyj4w1t7KvVL/ZJ88MlYD+g5HmRVf56d+LKjz1kX2ueeSj0gTyH1PVRwn1sWf9cM2rNHnahwAEEFhkAAIQiJVA/uuTr776avP4g761Rj9vvfWW2Qtm/vz5oj/TL976VsEgcirIMbFOhMZSQ6CUSAqSneJjSrWpcIIckxqIDDQUgVIiKbdCQR931eudSnhduaWbIOvjN7qPmm4Er9dEfYmFrrYq1aYONMgxoSbESaki8MILL5iVqLpqWTfSzj2iyjUvVWVM3WBVnOpqUn0Tqm7srtevE0880cyDa17qysmAIZA6Agis1JWMAUPAbQJ6U6+rCfRtbbrR8ac//emCAf/lL38xj2bp27SefPJJ8xhNmC/bblNgdDYJlBJJYfJVqk0Els0Ku9tXKZGkUkEfi9YNtnWVjF4X8z+5Dbj18WrdU+34448PJKdK9esuMUYWF4GXX35Zhg0bZt7Uq/tNXnbZZQcfN+WaFxdl2ikmoPJKv7vpiwX0M2/ePPMYdO7DNY/MQAAClSaAwKo0YdqHAAQKCOiXH12VpY87TJ482by9JsyXbbBCIEeglGwKk69SbSKwyJ8SiCqSdI9AFfq6Gktl1rnnnhuozaj9Ur30EtC/QxsaGuTGG28UXfGsK/t0FVa+HOWal976ujxyfQRas6XySleV3nvvvfKNb3zjkH36mpsD1zyXK8zYIJAOAgisdNSJUUIgUwSKv1znlpwXv4o5f9K5c3LSK1NAmEwkAqVkU5h85R6F1YE19mbMfIF10kknmUco2rVrF2kenJw+AlFFUmMbsutbDvXRnObe4prrV1c76AsM+PhBIF8g6Izvuusu88Zf3WMt/8M1z4882JylXqumTZsmU6dONW+K1uuTrrwqfslEqTFxzStFiJ9DAAKlCCCwShHi5xCAQNkE9AuKfnKbEhc3oI/K6L8Y5zZkD/PGpLIHxQmZJVBKYIXJF28hzGxcYp1YKYGlq2U++OADcy0sfnxQB5J76YVugpx7oyBvIYy1RJlpbPv27WbVsv7q3LlzswKBa15myu7ERPSlE/oItP5Djb71VCX75z//+UbHxjXPiZIxCAhkmgACK9PlZXIQsE8g9watpl4Bv3fvXvP44JQpU8zr5HXj4twb3/Ttg42tdtm2bZtcd9118uyzz8ovfvELOeuss+xPjB6dJVBKYIXJ165du2T06NHm8Rx9tOuCCy44ZP65lTLNvS3OWWgMLBYCzQms999/X6666ip5/PHHRTfb7tGjxyF95lb6qTBVcaViYuXKldKnTx/p1auXeVurPqqT/8mdoxlt6g2ZsUyORpwhoH8H/uAHPzCPbPXu3dvsq3baaac1OT6uec6ULvUD0X1L9fvXz372M/O4s67AOu644xqdF9e81JebCUAgFQQQWKkoE4OEQHoIPPfcc3LxxRcf8maa3AzWrFljNpvVm6/HHnvM/Cte/uuYn3jiCfnOd75TMOHXX3/dPCahX9jvv/9+HtVKTxysjLSUwAqbr0WLFknfvn1lxIgR5ku7vj0u99m6dat5g5w+qrN48WLp3r27lbnSiVsEmhNYKusnTJhg9rTSt6/q/85fhaUrFVTY603hlVdeKXfffbd5K6vKLH0lva6iaSxbuY3fBw0adEgu3aLDaOIgoCuv9MUo+lKU7373u0aq59741lT7XPPiIE8b7777rgwdOtTIK/37TvcvLRbq+ZS45pEZCEDABgEElg3K9AEBjwjkbuz1McGrr77afOFp3769IfCHP/xBbrjhBrOiRYWAbgR6+OGHm5/pJsa6Gkv/ZU/39dBXM+veCvqGJRUIS5cuPbhiyyOcTDUAgVICK2y+9LEJ/fKuK//0pnHAgAFGYukN5R133GGEhP5cf9bU47IBhs8hKSZQ6hHCnHx/6623CjK0b98+UVl/yy23mNmryNJHc3If3dtqyJAhZtXWzJkz5dRTTxUVXvr2Vr2R3LBhg+gxja3qSjFOht4IgVwWvv71r5tHt4rf7NsUtDB/p3LNI4I5AiqjdHWxytNrr73WfGdTwV7qwzWvFCF+DgEIRCWAwIpKkPMhAIFDCLzxxhty/fXXG1F17LHHyplnnim6L5auKNCPrkbQX/lfhnRzWt0UVP9cH5fQt3G1bNlSXnvtNfP7xs4BPQSUQBCBFTZfuVfVr1692jze1aFDB9F86yM6+iiPrprp1KkThfCUQCmBlf/Kec2MZqhjx44mP5pb/d96k6irVvM3Q87f70hXPHTp0kV2795trqH6e90HSTd6b2xfLU9Lkclp597Y9tRTT5WcX21trRGh1dXV5liueSWRcUAzBHJ/r+rffaU++f+QwzWvFC1+DgEIRCWAwIpKkPMhAIFGCegNmK7C0n1ddP8XFVk9e/aUYcOGmTfXFL81SRvRVQl6rO7zoY8i6g2brkrQfWQuvPDCgke4wA6BHIEgAitKvtatW2dWBeoqQO2ra9eu0q9fP/OYV251IdXwk0ApgZWjUpwhFVnf+ta3zGqqz3zmM43C08fAlixZIrrBu66mUaFf6hrqZxWyO+vcfmjvvPNOyUkWCyyueSWRcUAzBH7+85/Lt7/97UCMGluJzDUvEDoOggAEQhBAYIWAxikQgAAEIAABCEAAAhCAAAQgAAEIQAAC9gggsOyxpicIQAACEIAABCAAAQhAAAIQgAAEIACBEAQQWCGgcQoEIAABCEAAAhCAAAQgAAEIQAACEICAPQIILHus6QkCEIAABCAAAQhAAAIQgAAEIAABCEAgBAEEVghonAIBCEAAAhCAAAQgAAEIQAACEIAABCBgjwACyx5reoIABCAAAQhAAAIQgAAEIAABCEAAAhAIQQCBFQIap0AAAhCAAAQgAAEIQAACEIAABCAAAQjYI4DAsseaniAAAQhAAAIQgAAEIAABCEAAAhCAAARCEEBghYDGKRCAAAQgAAEIQAACEIAABCAAAQhAAAL2CCCw7LGmJwhAAAIQgAAEIAABCEAAAhCAAAQgAIEQBBBYIaBxCgQgAAEIQAACEIAABCAAAQhAAAIQgIA9Aggse6zpCQIQgAAEIAABCEAAAhCAAAQgAAEIQCAEAQRWCGicAgEIQAACEIAABCAAAQhAAAIQgAAEIGCPAALLHmt6ggAEIAABCEAAAhCAAAQgAAEIQAACEAhBAIEVAhqnQAACEIAABCAAAQhAAAIQgAAEIAABCNgjgMCyx5qeIAABCEAAAhCAAAQgAAEIQAACEIAABEIQQGCFgMYpEIAABCAAAQhAAAIQgAAEIAABCEAAAvYIILDssaYnCEAAAhCAAAQgAAEIQAACEIAABCAAgRAEEFghoHEKBCAAAQhAAAIQgAAEIAABCEAAAhCAgD0CCCx7rOkJAhCAAAQgAAEIQAACEIAABCAAAQhAIAQBBFYIaJwCAQhAAAIQgAAEIAABCEAAAhCAAAQgYI8AAssea3qCAAQgAAEIQAACEIAABCAAAQhAAAIQCEEAgRUCGqdAAAIQgAAEIAABCEAAAhCAAAQgAAEI2COAwLLHmp4gAAEIQAACEIAABCAAAQhAAAIQgAAEQhBAYIWAxikQgAAEIAABCEAAAhCAAAQgAAEIQAAC9gggsOyxpicIQAACEIAABCAAAQhAAAIQgAAEIACBEAQQWCGgcQoEIAABCEAAAhCAAAQgAAEIQAACEICAPQIILHus6QkCEIAABCAAAQhAAAIQgAAEIAABCEAgBAEEVghonAIBCEAAAhCAAAQgAAEIQAACEIAABCBgjwACyx5reoIABCAAAQhAAAIQgAAEIAABCEAAAhAIQQCBFQIap0AAAhCAAAQgAAEIQAACEIAABCAAAQjYI4DAsseaniAAAQhAAAIQgAAEIAABCEAAAhCAAARCEEBghYDGKRCAAAQgAAEIQAACEIAABCAAAQhAAAL2CCCw7LGmJwhAAAIQgAAEIAABCEAAAhCAAAQgAIEQBBBYIaBxCgQgAAEIQAACEIAABCAAAQhAAAIQgIA9Aggse6zpCQIQgAAEIAABCEAAAhCAAAQgAAEIQCAEAQRWCGicAgEIQAACEIAABCAAAQhAAAIQgAAEIGCPAALLHmt6ggAEIAABCEAAAhCAAAQgAAEIQAACEAhBAIEVAhqnQAACEIAABCAAAQhAAAIQgAAEIAABCNgjgMCyx5qeIAABCEAAAhCAAAQgAAEIQAACEIAABEIQQGCFgMYpEIAABCAAAQhAAAIQgAAEIAABCEAAAvYIILDssaYnCEAAAhCAAAQgAAEIQAACEIAABCAAgRAEEFghoHEKBCAAAQhAAAIQgAAEIAABCEAAAhCAgD0CCCx7rOkJAhCAAAQgAAEIQAACEIAABCAAAQhAIAQBBFYIaJwCAQhAAAIQgAAEIAABCEAAAhCAAAQgYI8AAssea3qCAAQgAAEIQAACEIAABCAAAQhAAAIQCEEAgRUCGqdAAAIQgAAEIAABCEAAAhCAAAQgAAEI2COAwLLHmp4gAAEIQAACEIAABCAAAQhAAAIQgAAEQhBAYIWAxikQgAAEIAABCEAAAhCAAAQgAAEIQAAC9gggsOyxpicIQAACEIAABCAAAQhAAAIQgAAEIACBEAQQWCGgcQoEIAABCEAAAhCAAAQgAAEIQAACEICAPQIILHus6QkCEIAABCAAAQhAAAIQgAAEIACB/9fenQD7XP1/HD/JkDEpa0MTZTQqo5JCqwzDLwpRthakEsqSUbK2SSlFlGQLlUS2ZGkTyRIlNFGasU3JkqYaUyT95/VuPvd/7sfne7/33u/33vvp3udnxqh7P8s5j3O+Zr6veZ/zQQCBXAgQYOUCjUsQQAABBBBAAAEEEEAAAQQQQAABBPJPgAAr/6x5EgIIIIAAAggggAACCCCAAAIIIIBALgQIsHKBxiUIIIAAAggggAACCCCAAAIIIIAAAvknQICVf9Y8CQEEEEAAAQSSCPzxxx+uX79+buLEia5Zs2bujTfecOXLl8ctC4Fdu3a5KVOmuPfee89t2rTJzqxTp45r0aKFGzx4sDvttNOKhB9zp0gMM51EAAEEECjCAgRYRXjw6ToCCCCAQLwEnnjiCTds2LCMRrVs2dJNmjTJVapUKWFDC9uX9sLWn7ycYf/8849btmyZ69Gjh9u9e/dJj+revbt74YUXXKlSpZI2w3cPTs7O9T///LO77bbb3PLly112zk/akBROYO6kgMelCCCAAAII/AcECLD+A4NEExFAAAEEioZAOMBSrydPnuy6detGgFU0pkCOevntt9+69u3bu82bN9t1jRs3dg0bNnQlSpRw27dvd2eeeaZ76qmnch1gnX766W7+/Pl230QHAVaOhoyTEUAAAQQQQCAFAQKsFPC4FAEEEEAAgXQKRAVYTZo0cTNmzHCVK1eOfFRhqzopbP1J5/zw76XqK1VX9e/f3yloevnll12nTp1csWLFcvXIqAos3ahLly5u/PjxrnTp0pH3JcDKFTcXIYAAAggggEAuBAiwcoHGJQgggAACCOSFgB9gaf8i7Wmk49VXX3V33323O+WUU056bGELfApbf/Jinuiev//+u+vVq5ebOXOm+9///md/V6hQIdeP893PP/98V6VKFbdy5UoLx+bOneuaNm1KgJVrXS5EAAEEEEAAgXQIEGClQ5F7IIAAAgggkAYBP8CaNWuWBVcrVqxwjRo1soDi7LPPJsBKg3NhuEW6K5/8AOuSSy5xAwcOdI8//rjbtm2bu/POO924ceNcmTJlTqJLdztSGRvCz1T0uBYBBBBAAIH4CxBgxX+MaCECCCCAQBER8AOs1atXu2+++cbde++91vtEVViF7Ut7YetPXk3ddAdH4QBLb3988803bQ+trKqw0t2OVLyYO6nocS0CCCCAAALxFyDAiv8Y0UIEEEAAgSIiEA6wqlevbtUvH374obv66qvd66+/7s4999xMGsm+tIfvqftEHcnuo0Dj9ttvt0sVrl111VW2UfiYMWPsDXR6C542+9Yb8W688UZXsmRJO1d7NW3ZssWNHTvWLVy40B0+fDjyvKBNUe0oW7asW79+vZsyZYpZ6Fk1a9Z0Wmb5wAMPnGQS7t/x48ft+rffftvaqs3PdTRo0MDuIeOqVauexPLZZ5+5a665xn4ue71t7+jRo27x4sVuwoQJ7qOPPkrpzXu616pVqywoWrt2rbVLYVG9evVc69atXbt27U56A6UfGGX1sVD11NChQ7P9yQkHWLNnz3Zyu/XWW60KS39PnDjRaSz8I7sBVm76GtX4PXv2uLfeesstWbIkY4lj4KV59/TTT1s7mzVr5jRny5cvf9JtTpw4YeGw+qhlups2bbJz6tSpY9WOWq57wQUXRC7Z1XlHjhxx7777rm1wr3ml+ahxu/TSS13t2rVdq1at7POaaN+wbA8KJyKAAAIIIIBAJgECLCYEAggggAACMRGICpv84EhhUe/evTN9sU4WPOVFgPXJJ59YADBkyBALpMJHz5493ahRo2xD8dGjR9t/a8+mROf5X/TD/Xnuuedss/KpU6dGjlK1atXc888/726++ebIwEHhQr9+/SxsSHSUK1fO7qGAqnjx4hmnhQOsWrVqWSikACs4unfvbu0rVapUjmaRwr8BAwbH+imzAAASTklEQVRkulf4BlHtys8Aq0aNGjZ2gwYNsoBGy1gVzvhHdgKs3PbVf47CNH0WHnzwwcg5p3PVRo3DgQMHEgZYmq8aQ216n+jQfR566CHbID88rl9++aV9BjU3sjoUjMorHPjlaJJwMgIIIIAAAghkEiDAYkIggAACCCAQE4GosElfxu+55x63aNGiyCqsggiwVH21Zs0aU1MllEKkgwcPZlSy6OeqUNq7d68tQdOh6paKFStatUpQAaWfB5VNwRD4/VGAo3BL9/Gf9dtvv7l169ZljJqer3AjXF2myqGuXbtalYwOVRGpskkblKuKRtVPkydPtkBEoYWWaXbo0CHjvn6ApWqooNrGny65CbDC7VL7mzdvbo4K+lRlFrRZ7VLgohBO4ZoqmVQxJO8RI0bYeeqTKt9KlCiR0bSzzjrLXXjhhdme2VEVWBpbjVX79u3d5s2bI6uwkgVYqfQ1aLyq+LQn3H333ZcRhAYVTwqYwvNB10VVYO3fv98q5lQJGJyj4FP9/Ouvv6wKTtVwwfxUeKfA7NRTT7Xzd+zY4e644w4z1/NV8aU/wXzasGGDW7Zsmf0+qwqwbA8KJyKAAAIIIIBAJgECLCYEAggggAACMRFIVC01b94817ZtW2ulKpoUZgRvJCyIAEvtUFikcEpL7FRppWVZ+vKv6iu/2kpf8IcPH+4uu+yyyPMUCLz00ksWCOjw+xMMi5b4qVrpoosusnvo2Ldvn9130qRJ9v9dunRx48ePz1i29csvv1hYMWfOHAuGFKjpbX3hNzl+/fXXtmRMoUOTJk3cjBkzXOXKle2efoCl/1eg1qdPH1tKqaWcQVtyMn38duk69UF986vQZLl06VJ7y6ACv6iALllwlJM2hd21ibuW1ynYUXikCjNVI+l45513XJs2bTJun1U70tXXjRs3ultuuSVjqd6wYcNsbzh/U/ljx45ZqKqlk3rxQThAUvA3ePBg+/xorqlPnTt3zlRxp0798MMP5q6QSwGg5o8q78IOqq5SxV54Pum8nTt32nJXhV9RSxhzOjacjwACCCCAAAL/ChBgMRMQQAABBBCIiUCiAMsPAurXr2/VKOedd561uiACLIVUaqsCHf9QcKUv//pyr+PRRx+1pVjhZViHDh2yShZVq6iaS8GXQppwf/QzhVs33HBDZFiksEH3UWCh0En7EtWtW9fuE4R+CiteeeUV17Fjx4R7GvkBoYKLli1b2j38AKtp06a2j5f2Rkrl0J5LaousVFmnICXRXkna60lBjc7VsjVVBAV7i+VXgKW+7tq1y0I7eahiSeFMsDQuq3ako68KnjSHXnzxRWNP9DKDZJ+Fzz//3CrVFHxqnywFcv5yUX9M/XO1tFSBcaIKtVTmAtcigAACCCCAQM4ECLBy5sXZCCCAAAII5JlAVvtVKVhRWKMwQ5VP+lKvpU0FEWBpE/eozeBVffLYY4/ZHwVH77//vm2UHj6yCgOS9ce/l56nZXTBZuXTp0+3Ddn9e6jqSoFahQoVEo6b9mjSEsGtW7daBU9wv6hN3FMZfFUJDRw40EIr+WhfLm18n+hQcNmtWzc7Lxz05WeAJWcFSH379rWm+ss+E7UjXX31lzCGw7Os5pVfgeXPE7+6LJG7lmd26tTJlnIGS0R1roIsbRCvsHTBggW22T4HAggggAACCOSfAAFW/lnzJAQQQAABBLIUyCrA0j4/euOelrj5X8KTBT55sYl7ogBLncvO8/xwIxwoJOtPGPCDDz5wqo7SEYRPP/74oy3v0mbz2jdJS878/aHC91BQpPPCbxVMd4Cl5yiEVGVSOJCKmhh///23hWkjR460X/vu+Rlg6dl+tZsq1LR0s1KlSi5RO9LVV398tdxSf8LL9gK7RHPHrwzUklaFcf7yw7D9n3/+ae7Tpk3LtBRRwaOWBeq44oorrC3XX389bxvk33UEEEAAAQTySYAAK5+geQwCCCCAAALJBJKFP6po0l5AfhWWwqCgMiRq4+hk90z25T/4vf82xFQDLD/oSjXA8kOmRx55xAK077//PmPj8WTm4d/7m7KnO8Dyg7XsbvLthyZaUqgN1XXkd4ClKiZteK8ljTqCKqxE7UhXX/15F97wPzx2iQKs7L65MWqu+OPkL6X0z9ULCq688koLu1SVpQ30E4VsOZ2PnI8AAggggAAC/y9AgMVsQAABBBBAICYCycImvwor2GC6evXqBFjXXGMjGIRPe/bsiWWA5S+Hy26AlSjAye8AS75+FVaw4b0q21Tttnz58gx/7XmWrr7GKcCSgd6IOWTIEKuETHRoGeuTTz7pzjnnnJj8y0IzEEAAAQQQKBwCBFiFYxzpBQIIIIBAIRBIFmCpi1rmpr2AVIU1aNAg9/DDD9t+WNqbp6hXYAVLCP3wRNVp2rQ7qyWEiaZO3CqwsrP3VG4/BtndpFwbuOutjTq0obrmojZ4DwdYqVZgBX1Nd4ClCkZVkp1xxhm5pbI3Eu7fv99ps3f1e+3atW7Tpk2Z7teqVSv7TKoaiwMBBBBAAAEE0iNAgJUeR+6CAAIIIIBAygLZCbD8oEFVWFOnTnWvvfZakQ2wFi1a5BQW6NDbBlWFtXv3btuEe82aNbbnlN5kqE3Tc3qkO8BK175Q6kdBVGDpuQcOHLC3J8q9UaNGbsyYMRaghgOsdPV19uzZrkOHDjZ0wRsBE41joiWEv/76q4Vuc+fOtT2rFIpVqVIlp9Mhy/OPHDlie5vpBQubN2+2c/0ln2l9GDdDAAEEEECgiAoQYBXRgafbCCCAAALxE8hOgKVWr1q1yr7U79u3zzZ2VzWWQqxkFVgrV6501113XWTHk22eHsc9sLTJud54KDcFVEuXLrW3I/qbdgdLLWvVqpXjAU93gOVvyp6dtxAeOnTIArhly5a5unXrWiBSo0YN60dBBVh6tj8XVPWm+ei/sU9LCNPV1y+++MLddNNNNtf9/cmiBjPRHM5pW3I8UbwL5s2b59q2bWs/8d9omco9uRYBBBBAAAEE/hUgwGImIIAAAgggEBOB7AZYR48etaoXvU1NQYgCA1XGRAVY2qunc+fO1sPRo0fbflnhDaZPnDhh4U///v1t76Ko+8QxwNq2bZvr2LGjVbxoKZuWt5UtW9b66i9169mzpxs1alSWb4vTsjBVbB08eNC1bt3a7pHuAEv39JeAqpJJm7SXLl36pBmo9syaNcvejqhArnfv3taHkiVL2rkFGWCpuqpbt25u/vz59iZCBUdqYzhgSkdfFVxpTykFZNWqVbMqqssvvzzyE6v50KtXL7dixYqT5rDfluwu79u+fbuFc9q4Xt5a1njXXXdlWc3nzxlVY+nFAhwIIIAAAgggkB4BAqz0OHIXBBBAAAEEUhbIboClB23cuNHeSKjlcsERFTz5FSz169d348aNswBAIZZCkp07d1qIMn36dAshdMQlwFL11DPPPOOaNm2aEdwEfVW40KdPH6c3MyrE035MwVIznfPTTz/ZsjEt69KhEGLw4MGuatWqmcZJBjLUMkPtWTRhwgTblFxHXgRY/kb8esbAgQNtLzN/iWMQKCqMUdsU3ChAVHVZcBRkgKU2LFy40KrDgjmjn4UDrHT0VeOj+alwVYfmwsiRI53e/BcEsQpvNX+119nhw4cj57CW+Cm8nTRpkv1egacqpFSZFw50/fv17dvXDR06NCMw1LXad65hw4auWLFimeaSgmWFjMOGDbPxVMDXuHHjlP9d4AYIIIAAAggg8K8AARYzAQEEEEAAgZgI5CTA0pdlBTKqqgqOqODJX1YVnNegQQNXpkwZqzYKNp/WF/nixYtbNVNcAqygvQpwtHeRAq1jx45ZpZTCpSA8UcigahdVovmHNtfu0aNHxp5EChXq1avn1H/9t65fvXq109LK4PA3Ss+LAEvPUaVQ165d3fr16+2x6l/z5s3tb7VJ1UbB7/R7BTMKcDQ+wVHQAZaqsBRYzZkzJ6NNUUv80tFXbZiueys0Cw4FWBUrVnQKydatW2c/TlaNuGPHDnf//fdb6Ol/Fq699lpXvnz5yLkVLAP0vXWtwuA2bdrY0k4dW7dudVo++Omnn9r/Z1VdF5N/bmgGAggggAAC/zkBAqz/3JDRYAQQQACBwiqQkwBLBlu2bLGqI4UEOqKCJ/086ou7b6hlUQrDVD2S6G2GBbGEsFy5cra8bu/evZFDrsBCVViqYopahqeLVKk1YMAAt3jx4qTTRkHGiBEjnP7WkVcBVtCuoIIsUcPUf21croowP7zS+QUdYKkNCoJUBRgEiYn2qPKr5XLTV12jpa1atqgxiTpUnabKLM3TRHNY16kyT3NdLz9IdtSuXdsNGTLEtWvXzpZJPvvss27s2LEZVV6JrtfnSaGjAjYOBBBAAAEEEEifAAFW+iy5EwIIIIAAAikJ5DTAOn78uBs+fLhVH+lIFGDpd3oT28yZM20PIVUcKRzR8iZVKGk5lCq6tMQqTgFWixYt3OTJk91XX33lpk2bZlVJWlJXs2ZN66uCgosvvvikJWDhQdCSPFWaLViwwPqu+yl0CSqytCxNG4Xrvv6ysLwMsNRGhSKq2NFeV6oWU0gTtEn7cCk40R5TUUccAqzwEsGsNllPpa9B/7UMUHu66c2EGkdZKbjSUkbta6Wxy2oOB/fRssTvvvvOKro+/vhjt2HDhoxQStV5TZo0cS1btrRliuHgUH3WGxeXLFmSMWa6r85V8KlAWdVZ4eWFKf3DwMUIIIAAAgggYAIEWEwEBBBAAAEEEEAAAQQQQAABBBBAAIFYCxBgxXp4aBwCCCCAAAIIIIAAAggggAACCCCAAAEWcwABBBBAAAEEEEAAAQQQQAABBBBAINYCBFixHh4ahwACCCCAAAIIIIAAAggggAACCCBAgMUcQAABBBBAAAEEEEAAAQQQQAABBBCItQABVqyHh8YhgAACCCCAAAIIIIAAAggggAACCBBgMQcQQAABBBBAAAEEEEAAAQQQQAABBGItQIAV6+GhcQgggAACCCCAAAIIIIAAAggggAACBFjMAQQQQAABBBBAAAEEEEAAAQQQQACBWAsQYMV6eGgcAggggAACCCCAAAIIIIAAAggggAABFnMAAQQQQAABBBBAAAEEEEAAAQQQQCDWAgRYsR4eGocAAggggAACCCCAAAIIIIAAAgggQIDFHEAAAQQQQAABBBBAAAEEEEAAAQQQiLUAAVash4fGIYAAAggggAACCCCAAAIIIIAAAggQYDEHEEAAAQQQQAABBBBAAAEEEEAAAQRiLUCAFevhoXEIIIAAAggggAACCCCAAAIIIIAAAgRYzAEEEEAAAQQQQAABBBBAAAEEEEAAgVgLEGDFenhoHAIIIIAAAggggAACCCCAAAIIIIAAARZzAAEEEEAAAQQQQAABBBBAAAEEEEAg1gIEWLEeHhqHAAIIIIAAAggggAACCCCAAAIIIECAxRxAAAEEEEAAAQQQQAABBBBAAAEEEIi1AAFWrIeHxiGAAAIIIIAAAggggAACCCCAAAIIEGAxBxBAAAEEEEAAAQQQQAABBBBAAAEEYi1AgBXr4aFxCCCAAAIIIIAAAggggAACCCCAAAIEWMwBBBBAAAEEEEAAAQQQQAABBBBAAIFYCxBgxXp4aBwCCCCAAAIIIIAAAggggAACCCCAAAEWcwABBBBAAAEEEEAAAQQQQAABBBBAINYCBFixHh4ahwACCCCAAAIIIIAAAggggAACCCBAgMUcQAABBBBAAAEEEEAAAQQQQAABBBCItQABVqyHh8YhgAACCCCAAAIIIIAAAggggAACCBBgMQcQQAABBBBAAAEEEEAAAQQQQAABBGItQIAV6+GhcQgggAACCCCAAAIIIIAAAggggAACBFjMAQQQQAABBBBAAAEEEEAAAQQQQACBWAsQYMV6eGgcAggggAACCCCAAAIIIIAAAggggAABFnMAAQQQQAABBBBAAAEEEEAAAQQQQCDWAgRYsR4eGocAAggggAACCCCAAAIIIIAAAgggQIDFHEAAAQQQQAABBBBAAAEEEEAAAQQQiLUAAVash4fGIYAAAggggAACCCCAAAIIIIAAAggQYDEHEEAAAQQQQAABBBBAAAEEEEAAAQRiLUCAFevhoXEIIIAAAggggAACCCCAAAIIIIAAAgRYzAEEEEAAAQQQQAABBBBAAAEEEEAAgVgLEGDFenhoHAIIIIAAAggggAACCCCAAAIIIIAAARZzAAEEEEAAAQQQQAABBBBAAAEEEEAg1gL/Bz4LVWUOwKD0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76" name="AutoShape 4" descr="data:image/png;base64,iVBORw0KGgoAAAANSUhEUgAABLAAAALmCAYAAABSJm0fAAAAAXNSR0IArs4c6QAAIABJREFUeF7s3Qu8TXX+//FPx10kiVTKNMaoqd9ERKUw4zaNREiEjBiUS9SQdJVITDFuUfzlToQmptymVMKU0FzKT/5hZkok5U44///n+/vtM/vss/bea++99lm313o8eszUWZfven6+e7Pe5/v9rnNyc3NzhQ0BBBBAAAEEEEAAAQQQQAABBBBAAAGPCpxDgOXRytAsBBBAAAEEEEAAAQQQQAABBBBAAAEjQIBFR0AAAQQQQAABBBBAAAEEEEAAAQQQ8LQAAZany0PjEEAAAQQQQAABBBBAAAEEEEAAAQQIsOgDCCCAAAIIIIAAAggggAACCCCAAAKeFiDA8nR5aBwCCCCAAAIIIIAAAggggAACCCCAAAEWfQABBBBAAAEEEEAAAQQQQAABBBBAwNMCBFieLg+NQwABBBBAAAEEEEAAAQQQQAABBBAgwKIPIIAAAggggAACCCCAAAIIIIAAAgh4WoAAy9PloXEIIIAAAggggAACCCCAAAIIIIAAAgRY9AEEEEAAAQQQQAABBBBAAAEEEEAAAU8LEGB5ujw0DgEEEEAAAQQQQAABBBBAAAEEEECAAIs+gAACCCCAAAIIIIAAAggggAACCCDgaQECLE+Xh8YhgAACCCCAAAIIIIAAAggggAACCBBg0QcQQAABBBBAAAEEEEAAAQQQQAABBDwtQIDl6fLQOAQQQAABBBBAAAEEEEAAAQQQQAABAiz6AAIIIIAAAggggAACCCCAAAIIIICApwUIsDxdHhqHAAIIIIAAAggggAACCCCAAAIIIECARR9AAAEEEEAAAQQQQAABBBBAAAEEEPC0AAGWp8tD4xBAAAEEEEAAAQQQQAABBBBAAAEECLDoAwgggAACCCCAAAIIIIAAAggggAACnhYgwPJ0eWgcAggggAACCCCAAAIIIIAAAggggAABFn0AAQQQQAABBBBAAAEEEEAAAQQQQMDTAgRYni4PjUMAAQQQQAABBBBAAAEEEEAAAQQQIMCiDyCAAAIIIIAAAggggAACCCCAAAIIeFqAAMvT5aFxCCCAAAIIIIAAAggggAACCCCAAAIEWPQBBBBAAAEEEEAAAQQQQAABBBBAAAFPCxBgebo8NA4BBBBAAAEEEEAAAQQQQAABBBBAgACLPoAAAggggAACCCCAAAIIIIAAAggg4GkBAixPl4fGIYAAAggggAACCCCAAAIIIIAAAggQYNEHEEAAAQQQQAABBBBAAAEEEEAAAQQ8LUCA5eny0DgEEEAAAQQQQAABBBBAAAEEEEAAAQIs+gACCCCAAAIIIIAAAggggAACCCCAgKcFCLA8XR4ahwACCCCAAAIIIIAAAggggAACCCBAgEUfQAABBBBAAAEEEEAAAQQQQAABBBDwtAABlqfLQ+MQQAABBBBAAAEEEEAAAQQQQAABBAiw6AMIIIAAAggggAACCCCAAAIIIIAAAp4WIMDydHloHAIIIIAAAggggAACCCCAAAIIIIAAARZ9AAEEEEAAAQQQQAABBBBAAAEEEEDA0wIEWJ4uD41DAAEEEAi6wIEDB6RTp06ycuXKArfaq1cvGTt2rJQqVSoQDHPnzpXOnTtb3svTTz8tjz/+eML7PH78uGzatEmWLl0qW7Zska1bt8rhw4fzjrnhhhukQoUKcs8990j79u09bzZ8+HB54oknLNs5Z84c0y/YUhPYvn273HXXXbJt27YCBzZv3ly0D2ofYQuWgH43fPzxx/LnP/9ZNm7cKH//+99l9+7deTdZq1YtqVq1qlx//fVSp04dqV27tlxwwQVyzjnnBAuCu0EAAQQCLkCAFfACc3sIIOC8QKKH8MjVhg4dKsOGDZOiRYvGbcD69evl5ptvtvz5+++/L/Xr13e+8ZzRcwJeC7AStUfxMumb6QZYubm5smHDBhkwYIB8+OGHSWtoJwxLepJC2IEAy3nkoARYiT4rdoNtu+fQELhPnz4ye/Zsy4I8+eSTov/EC3v086l/3uk/VtvAgQNl1KhRUrx48bgFX7hwoXTo0CHl4/X76pVXXpEJEybkC6zs9Kx69eqZQF3D7kqVKuU7JFE/iuz4i1/8wphdeumlcS+X6PvUL99TdizZBwEEECgsAQKswpLmOgggEBgBOwGW/qZ38eLF5je98TavBViJ/qLNyIXsdV8CrP+xTfQwt27dOunatavtB9TCeDB04vNCgOX854oA6z+mdgMsDaBGjBgRdwRkly5dZNKkSVK2bFnLgn3//ffSo0cP82ee1dakSROZN2+eVKxY0fLnZ86cMdd+9tlnLX9uNRpR26yjVjXU1ppnsln9+WYnwNJrjhs3Tvr37x833CPAyqQyHIsAAggUFCDAolcggAACKQrYCbD0lMl+S06AlSJ8QHcnwEocYH311VdmSuCaNWts9wACLNtUgduRACv1AEuPWL16tTRr1syyP9x0000mgNJfzFhtn3zyibRr10527Nhh+fOLL75Y3njjDTNtz2pLFIBZHXv69GmZOXOm6Miu6CnE6XbmTAKsa6+9VnT0WI0aNSwvT4CVblU4DgEEELAWIMCiZyCAAAIpCtgNsPS31fob6XgPBQRYKcIHdHcCrMQB1h//+Edp1apVStUnwEqJK1A7E2ClF2AlcksWQNn5jCZa0+3zzz830wc3b95coC/+6le/MtP0Lrzwwryfvf7666KjwpwIr/SkmQRYenyiJQMIsAL19cLNIICABwQIsDxQBJqAAAL+ErAbYOld3XnnnTJ16lQpX758gZskwPJX3bPV2jAFWKkaJlpbRwNiXQC9W7durizG7MQUwlQ92D88Anan/yUSSeUcydbBWrBggVkcP3ZLNv0vsv8jjzwiOmW2SJEiBc7x7rvvSsOGDS1vJXb9rGQjMnVh9kGDBplArEqVKmYdyrNnz4p+XvXFD2qiL4GIDr8yDbASLRlAgBWezyx3igAChSNAgFU4zlwFAQQCJJBKgKW3He83zwRYAeoUGdwKAVZ8PH2zmD7Aaggcu91xxx0yffp0y3A4g3LYPpQAyzYVO6YhkEr4FO/0qZ5D16DS0URWW7yF3JOtfxU5V4sWLcxIKqtf5ujnu3fv3pbXjf3zc8mSJdK2bVvLfXU638svv2zeNJho27Vrl1mUftasWWa3TAMsPUe8JQMIsNLo/ByCAAIIJBAgwKJ7IIAAAikKpBpgxXtTEQFWivAB3Z0AK70AK9kac9nuLgRY2RYO9/lTDZ+stFI9R6J1sOIt5J5s/atIu6pXr26m1P/85z/P19QTJ07IQw89JJMnTy5wC7HHJBvtpSO8Hn300bgLqkdfQEdlvfnmm+baP/rRj8zIrAoVKuTtYncR98gB8ZYMIMAK9+eYu0cAAecFCLCcN+WMCCAQcIFUAyzlsHpTkRMB1qlTp2Tr1q3mbUx6vg8//FC+/fZbUwGd1nD11VfLDTfcILqOSK1atcx0itgtnfuJPoe+vvy1116Td955p8C5ky3+O3bsWHnwwQcLHJfoQSTReivJHmAOHTok7733nvzpT3+Sv/71r8YuMpVEfXQh3kaNGsmvf/1rM/0k3mvjIw1OVMPokQNHjx41ixjrYr9r164113z//felfv36ZmpLp06dTA1jt3ghzddff21+469rwVhtumaUjmq46KKLUv40JmqPnizS7pRPLGL66M0332x5aLRXorfzJbpusgWVvfB5ib7PRJ89K+dELpH9ddrlF198ITNmzJAVK1aYaVM6rapx48ZmWtWtt94qpUqVKsCodZ8/f74JGfStj/pAXrduXWndurV07Ngx38O9ndofPHhQPvjgA/NZ+/jjj2Xjxo15h6XzWbNzTd0n1c9TolF+0SNzNPDQ7wtdPFy/Q9Q1U6NE95Rq+GR1rlTPkWgtqnjf5XbWv4q0Tb+vbr/99nxN3b9/v9x9992WL2mIXf8qUa30pFOmTDHfi6lsf//732XMmDHy/PPPZxRg6TWtlgwgwEqlGuyLAAIIJBcgwEpuxB4IIIBAPoF4DwX6MKMPhvv27SsgZvVgnUmAdfLkSRMa6WLVdl8hfsstt8ioUaPkxhtvzBfMZBpgvfLKK7Jt2zbRMCp2U5NVq1aZEC12S7Tmir7Ratq0aVKuXLl8hyVaE0l31Gs1bdq0wLX0IUlDRH3AiQR8ybq1TlF77LHHTPAXL8hKFsjog9nbb78tQ4YMMeFi9JZugKW111EG+sBltdWrV8+EF1dddVWyW7T8eRADLC99XrIZYOnoFv2Ma6gcb4Fr7df6WY28Uc6OjX5/vfjii+a7I9mmnzXtmzqixs4i2/odocGafpdVrlw52emT/jwbAZbeR/SUM6tGaPit3y+6llOy4DvpTYiYEUGdO3e23NXu6MNUz5HoO9nquzzZiKjYxltNQ0w0git23axkAZb+uaHBvQa2mW7JFrXXtbisttgpjwRYmVaC4xFAAIH8AgRY9AgEEEAgRYF4DwX6kKdrc+hvc60e3GLfVJRugPXvf//brAu0aNGiFFsuZsSAPmTpiIrIQ1amAZb+hV3PG+9NcfF+K57owSXedJNED1jxRgjo6I/+/fub0T+pbvog9MILL5gRUlaj1xLVUNdn0pFXGjZZ9Yd0AiwN8HSUjK4XY3VODSV0hEi8BZHt3H/QAiwvfl60P+nm5Ags7advvfWWCXGTbRpi6YO+BhCDBw82axMl2zQY1f30s2m1ad/UkVvaN+2G6tHnyTR4jZzLyQBLR621adNGxo8fb+ueNDTWxc5jp8kls7X6earhk1PniDcqVs+v3y333HNP3qXsrn8VOcDqFxOJRnDFhkGJphtGrqGj5h544AFp0KCBnHvuuenQm2MSBViPP/64/PnPf7b8MyV2yQACrLRLwIEIIICApQABFh0DAQQQSFEgUYClC8hOnDgxb3HY6FPHvqkonQAr2dQxO7eir0TXB4Nf/vKXZncnAqw6deqYN1TpSKzYLfYtUpGfJ7uu1eL3u3fvNtNNdGqSnet8+umn5i11mzZtskNjuY9V6BfZMVEN1Tneb+n1+HQCLL2ehh/qELslamcqNx+kAMurn5dsBFip1Fj31c+lTp+yE3hFzq0P7jqKxupNchpede3a1bJv2m2bLvStIy8zGYnlZIBlt93R+9kdHZXs3G4FWInWwYodEWV3/avIvVqNRI63cHy8X2IkCtiiTfX7UKdoa6Ck/3vNNdcUGNGbqAaJAiwNcnU0WM+ePS1PEb1kAAFWsp7OzxFAAIHUBAiwUvNibwQQQCBu4BP5y7k+NOuUGKvwQheMHTFihJQoUSLhekBW69/oX5h1tIQGZLFbs2bNzEgfnapXvHhxM/JH11TSUV9WoyF0HRIN2ypVquRIgKXn69Onj+VIjiZNmsi8efOkYsWKec3WtYh0Wp3VtMPITlbBl66jo/dqNfooNvDSqUz6MKmvTM900/BRHyj1QSh6SxRgJbtmqgFWsjAmdoRfsuvH+3lQAiwvf168EGCl0z/ijXLcsWOH6CLfVkGxfo779u1rFsrWUZ/aj3U6on72rT7HI0eONN9zViGZnTa7HWDpKCwdHavrD2ayuRVgJfolQewIqnijp3SEn06ltxr1Gj3NO9GI2nhvLfzLX/5i1mVL9MuBeO46ok5HSd92221J1zhMFGDpnzU6Vf23v/2tqEHspn9O6D7a5wmwMvkUcCwCCCBQUIAAi16BAAIIpCiQaASWLtKtf2mNt0aRjsrRKSY6vSHVEVj6F399gIh96Es0akEXzdUHS6sHxdgFdTN9q1q834xb/Sb9yy+/NCOJrBZ+j5TDKviK97p1q2voFL4ePXpYVlcDqWeeeUb0QUunmZw+fdosyqzr8CxfvtzymN/85jcmPIyellJYAZY2KF54qT/LZNH22Jv1QoAVaZPdBbatCub1z4u22ckphCl+jaW9e2y4rp8dHZWlwVPspovOa1AdO/020TpuyV78kKzhbgdY2j79jtcRqZlsbgVYiUKl2rVrm3v7yU9+Yqaf6og8HUEVu+l379/+9jfLX1BoP9GRXLolCstiR3tFfyck+i60Y66js/TP0ieeeML8eW21JQuw9M+vRH++RoLY7777Lu5LOvTPGzVkQwABBBCwL0CAZd+KPRFAAAEjkCzA0sV8dWqFjsLSKWyxm64hooss61vw4r2RLfYhUUdU6SgGXTA9drOaahfZ55tvvjEBlq6NE7vFPiBkGmBpmKNvOLMKy2If6BLtG2mnhn365j59aNIt0ait2JEB+ga07t27W46+ive6c72GrpekXrrweuym7Vm2bJl5M1tkSxRg6fpZutaYtk1H551//vmWizsne+DWBbH1QSneuldOrR0UuacgBFh++Lwk+i7Rn6X6FkL93nn44YfN6JTy5cubUZg68lFHfcZbTF37qAZMOvVPR2PqZ0y/K3TNOKtpqtqu2O8bnYaob1+L/a5L9kbIRN8B8V7GYOePoGSfJw3ao9/CmGxh8Ng1lewYRYc0dtpstY9bAZa2JdE0PZ0qqr+Aibf+VeR7+7PPPrNchF6/XydNmmTWTUw0ojZRCKhvS9RfKKSzrmG0daI1Du0EWPpW2379+lkuGRBZD+3SSy8lwEr3Q8BxCCCAgIUAARbdAgEEEEhRwE6Apb+dHj16tJnCF7vpX9x1DY0LL7zQdoAV7yEx3johkWsmejiLDX0yDbBSCcvsrmMSvQC8hlL68LNixYoCprqAtU5VimybN2+Wli1bWk4zsRpJFX3CRCO3Yq+T7C2EkaliibpYsgdunZ55//33WwYKTizaHtu2IARYfvi8OB1gRYKF6HomC2d0IWpdIyh60++uYcOGiY6estpiA6x4n5fooMLqPIkCgtjPWSpf0ck+T6kEWFajQLUtumC9nkfDQavNiZE1bgZY7777btwXQUS+k+Otf/WrX/3K/Pmmo2z1zxidXhq9RY+wmzVrlglPY7dkf67p/hqw6nd+plPE460daCfA0naoVaIlAx588EG59957zZT+2M2JfpLKZ4N9EUAAgSAIEGAFoYrcAwIIFKqAnQBLG7Rr1y7zG2ir3xJrKKEjsfQv+FZb7OiLRG9qSvfmdWSB3kuFChXMKTINsBJNKYkOy6ymqOhDjT4s6l/oo7foBZH1N/rt27c3I9eiN30AefPNN/OtT6VTOfWhwmqL91bEyL6JFibWIElHRJUsWdLsnu0AS8OFs2fPmre7xW5OLdoee94gBFh++Lyou5NTCK1GbOk1EoXF8Y5J9PmJDrDsrGWXzvdTJg/2TgZYsd+R0feSKOTJpP2Ra7gZYNl5WYaO1LN682xk7UINT3UK9+LFiwt0Af0+03Wi4k1BtHpboVU/0qmoOuX7ueeekw8//DCdrmaOiX3Biv43uwFWoumwOhpNR1vrepMEWGmXhwMRQACBfAIEWHQIBBBAIEUBuwGW/pZe36gV701FunaV1WgibU7sg2W8tZ9SbHq+3WNHF2QaYOnJ4wUH//Vf/yWvvvqqXHnllebNZ7FTjjSo0pFRGupF/8Y++rf18c7dqFEjEwRccsklefeX6KE92fQkXfxd33S4Zs2aAryxCwtnO8BKVN/77rvPhGnR06Ey6Q+RY4MQYPnl81IYAVaq19B+YLdfJ1ovKZO+qGtq6T+66HuqW2EFWImmv/k9wDp27Jg88MAD5s+v2E2/A2fMmGGCUav1ryIBp/75pyP59J/YTUfY6fd9vBG18da/itcXdB02ncKqf8bon6m6nmGqW+wbNu0GWHqdREsG3HLLLaKjk62WE3Cin6R6n+yPAAII+F2AAMvvFaT9CCBQ6AJ2AyxtmL4pSUMZqzAkUcNjAyydzqMLzjq5xa5R40SAlegv/ZHgyMpPR0XpiCmr39hHjov3unWrtxUm8oo36sROgBM7IsPug36iuiULjOIdq7/d14fFX/7yl052i4Qj8fRCyfwSNSZVr3QXcffL5yXVcCmdfp3qNbR+duuUbt9N1mGjR14m2zf254UVYCX6rnMimHBzBJaaxvslgP4yQgNiDaFiR1fFrlsY75cOWl99g1+3bt0KjKjVa8e+YCTVPnDkyBEzguq9994zI5+0P8dbBy5y7thRX6kEWMmm3cZrvxP9JFUb9kcAAQT8LkCA5fcK0n4EECh0gVQCLG1cogeReI33a4CVaESGLmysa8bootH6cBTZIg89NWvWtJxSog/tGlINGDDAckSA1cNOOg/6fguwtL2J3kCZ7gcjWShBgFXD0DoR+KYaLqXTr1O9BgHWfz45iaYQBj3ASrTIvr7BdebMmQXWt4qsf6XrO+oWz0hHzer0equ3xNpZ/yrV7zb9rI4fP978uRMvyIp9+2UqAVaie03UVgKsVCvJ/ggggIAIARa9AAEEEEhRINUASxcf1984L1q0yPaVYkOCeKOPYn/jbfsCFjs68UCup403fUunizz66KPmbXrvvPNOXguiH3qsfmMf7zg9Qbw3nWUyhTCRgxtTCHWqp05r3LZtm2V5NdTQULBo0aKZlD/v2CAEWH75vKQaLnktwEr0YgW76xg50mmjTsIIrP9gxFskXfeIXc8vtg6J1sHSP3d0dHHsFjsaNt4vNHT9vquvvtq8hTB2y1a/0WmGo0aNMr8ksdpi/yxJNcDSKZMakukvWuxuBFh2pdgPAQQQ+I8AARa9AQEEEEhRINUAS0+v0+D0L+bJpjFEmhIbYCVaVPm1116TNm3apHgXBXd3KsCK9wZA/Q23rgemrx2Pdohe78TqoUEfLPQYfTiK9Yv3prNMFnGPt1i8isVObbI71SpRcRK560LH+kYvvY7eq9Xm9FTCIARYfvm8+D3AOnHihBlVOXny5AJds169ejJ//ny54oorMv5uSuUEQQmwEi0SH+/tiNFOiV6qofslC0+SvcHSqiaxb6jUfey+cTZyvkTrn2lttb/1799frrvuulS6hdk30fd17FqKqQZYev5///vf5nv67bffttW2ZDWwdRJ2QgABBEImQIAVsoJzuwggkLlAOgFWqg8DsQFWvFBI70bX2NI3HZ133nkZ3ZxTAZYuWKt/ide3VMVutWrVKrDAbvQUwHi/sbc6Ts+t67BosBW7JfLSxYMnTpwo5557rqXXkiVLpG3btpY/i71etgOsSGCmQUGiUXxOTiUMQoDll8+L3wOsZAHFSy+9ZKaJpbMYe7pfZkEJsBIFKFZvXo31Srb+op11plIJn+KNBl69erU0a9bMdjkTtStSW33joIY/2rdKlChh+9yJ2hL7y5B0AixtSCpLBhBg2S4dOyKAAAJ5AgRYdAYEEEAgRYF0Aiy9xEcffWRGYenUjGRbbIClU3W6d+8uS5cutTz0qaeeksGDByd9I51Oc/jiiy/Mb8Uvuugieeyxx/LO9/3338d97flVV11lpkDqtI9kW7Lf/EcfH/12wsh/t/vQlGj6ZCIvffjTxYetHqr27t1rDKzeDqnXW7ZsmdStWzfvFgorwNI3Deq1OnXqFLf/6PQYHZ2Q6VTCIARYfvm8BCHA+stf/iKtW7e2nFJWtWpVefHFF0WnCScLsXSK17p162TMmDFmmpeOPkxnC0qAdfToUenbt6+88sorlgwauOiUtfPPP7/Az9VS31CqU4uttnhTr2P3TbQOVuy+setfRX6eaCpi7Dms/jyI3ie2ttdff715W6W+yCLZ21i//vpr80sADcisNvXSX4ZE+mm6AVYqSwYQYKXzCecYBBAIuwABVth7APePAAIpC6QbYOlDhf5lWxczT7ZZLZSd7De7+rpufbPTL37xC6lcuXJekKGjvzSY0XPqa8aXL19uLh/7l+dko8TuuOMO89p0XWT37Nmz5rXgv//9700QpMFK9Bbv7VOx92213ondh6Z4D0yRa0yfPt1ykWD9uT5Y61sd9Z7Kly8vp06dMuux6MNzxCe2rVYjtwozwEq2hoveky6s3LBhw2TdK+HPgxBg6Q364fMShAAr2feGBsb6OdM3zmlwooGLhgQaph86dEg+//xzWbt2rXmj5l//+lfTNzN5UUBQAix1SDQaVH9+2223yaBBg+SGG26Q4sWLi35HaGCkb3XVtQjjTVkfOnSoDBs2LGnY/eWXX5rv9ug1C+N9eVi9DVb3TdY/os+XbP2reLXV7z5dFP7WW2+VK6+80nyn5+TkGA895oMPPjB/dunILavNKtBLN8DS89tdMoAAK6M/qjgYAQRCKkCAFdLCc9sIIJC+QLoBll4x0V+Ko1tk9QCnD3u6FpQuzOvEZvWX53iLXye6ntW6J3bvUxel1oXdo0dn2H1oil47y6p9uvC5/sY93qi1VAz1AUnrHjsqpDADLG1vsjVWWrVqZR5cdXRduluyACvV80b3j1S9Ej38JnpDnLbRD5+XIARYav3JJ59Ihw4dTKjtxEaA9T+KTvdhPaeuTTZjxgzRUbXJtlTCJ6s/ByLnj/dij9jrW/15EL2P099NkXPrOoMa1EX/OZRJgGXXjQArWQ/k5wgggEBBAQIsegUCCCCQokAmAZaOOtApcjrVK9EW7wFux44dZlqJ/oY3083qL8+JpgPFu57Vg4vdv8DrfTRt2jTfqRMtDB29o501XPSBWkd+bNq0KW0uHUHy3HPPmQXoixQpku88qQYyVo1IdcSI3rdOH4o3umL06NHy4IMPFmirXQCnHxLdCrD0fr3+eQlKgKXfaxoUa7+zM0U6WV8kwPqPkAYpOn1cv2sy3TSI13X8dERcsimdqYRPyd6Ga3dUbbLvdKe/m/QedUS09tvYtbQyCbD0vHb+LCXAyrRHczwCCIRRgAArjFXnnhFAICOBTAIsvfCuXbvMdIdEDySJHuB0OqCud6W/Nc5ks/rL88mTJ82IKF0PxO4W7zfvyX7rrm8lnDdvnpnOF7slOzaVN5x9/PHH5q1V6TwAanilDzi9e/e2nG7jRoCl4aDWXxeit9rijRazW0+nHxLdDLD0nr38eQlKgKXOGmLpVK0+ffrItm3b7HY3y/3sXGdoAAAgAElEQVQIsPKzaCioU/QyGU1ao0YNGTdunOjIRbvhlbbCTviUbDq3nVG1dtbl0vWlNLy3WqMw1Q53wQUXmDBPR15ZrRuYaYBl589SAqxUq8b+CCCAgAgBFr0AAQQQSFEg0wBLH/SmTZtmRvTE25I9wOlfjtesWWNGBr333nsp3UFkTRodyaWL4MZuOrJHQxtdFNzOFi/ASvQmOD1v5A17VovvZnKsVZt1OqE+vOnaMN9++62d2zKjFHSRe30DYrwHPjcCLG28jizr2LFj3KBA264hYMWKFW3da/ROQQuw9N68+nkJUoAV6UPaf3ThcX0zaqqjsTR81dFG+t2Y7jTYVEc0pjtNNVHAkY1gQvuwroml07wja4XZ+XBrUKMB/IABA9L6PrATPsVb/yrSPl1jUBeU19HH8bZk619FjtN66Z95+ueOBll2v88jx6uHrhV5//33y+WXXx63PZkGWHriZFNrs9FP7PQJ9kEAAQT8LECA5efq0XYEEHBFINMASxu9b98+85doXezcaksWYEWO0cXU//nPf5rfkusrwnfu3Clbt27NN71MAxh9MNTFvXWh95/97GdJ39ikIdt///d/mzc26ZvB/v73v+d7GNVFg3/0ox9Jo0aNzBvGrEZRffPNN+a35W+99ZblPWqYpCGW1ZbJsYk6ha4pow8/f/rTn8xDYLSVjlBQq8g9XXbZZWYh4ESbWwGW1kffQKYPpfG2dKcSBjHA8urnJYgBVnRooZ8x/bzpd4iGWVu2bMnrrhqk16xZU6pVq2amEeuIzCpVqiRdWDzZl35QA6zIfevC5BqMvPvuu5au+l2sL9rQX07od5l+V5933nnJ2OL+3M6U7kTrX0VOnOylCsnWv7JqoAZj2sd0irgu0K59TEf/RYda+r3+k5/8ROrUqWM81OXcc89N6uFEgKVv5NXvYV0032ojwEpaBnZAAAEECggQYNEpEEAAAQQQQAABBBBAAAEEEEAAAQQ8LUCA5eny0DgEEEAAAQQQQAABBBBAAAEEEEAAAQIs+gACCCCAAAIIIIAAAggggAACCCCAgKcFCLA8XR4ahwACCCCAAAIIIIAAAggggAACCCBAgEUfQAABBBBAAAEEEEAAAQQQQAABBBDwtAABlqfLQ+MQQAABBBBAAAEEEEAAAQQQQAABBAiw6AMIIIAAAggggAACCCCAAAIIIIAAAp4WIMDydHloHAIIIIAAAggggAACCCCAAAIIIIAAARZ9AAEEEEAAAQQQQAABBBBAAAEEEEDA0wIEWJ4uD41DAAEEEEAAAQQQQAABBBBAAAEEECDAog8ggAACCCCAAAIIIIAAAggggAACCHhagADL0+WhcQgggAACCCCAAAIIIIAAAggggAACBFj0AQQQQAABBBBAAAEEEEAAAQQQQAABTwsQYHm6PDQOAQQQQAABBBBAAAEEEEAAAQQQQIAAiz6AAAIIIIAAAggggAACCCCAAAIIIOBpAQIsT5eHxiGAAAIIIIAAAggggAACCCCAAAIIEGDRBxBAAAEEEEAAAQQQQAABBBBAAAEEPC1AgOXp8tA4BBBAAAEEEEAAAQQQQAABBBBAAAECLPoAAggggAACCCCAAAIIIIAAAggggICnBQiwPF0eGocAAggggAACCCCAAAIIIIAAAgggQIBFH0AAAQQQQAABBBBAAAEEEEAAAQQQ8LQAAZany0PjEEAAAQQQQAABBBBAAAEEEEAAAQQIsOgDCCCAAAIIIIAAAggggAACCCCAAAKeFiDA8nR5aBwCCCCAAAIIIIAAAggggAACCCCAAAEWfQABBBBAAAEEEEAAAQQQQAABBBBAwNMCBFieLg+NQwABBBBAAAEEEEAAAQQQQAABBBAgwKIPIIAAAggggAACCCCAAAIIIIAAAgh4WoAAy9PloXEIIIAAAggggAACCCCAAAIIIIAAAgRY9AEEEEAAAQQQQAABBBBAAAEEEEAAAU8LEGB5ujw0DgEEEEAAAQQQQAABBBBAAAEEEECAAIs+gAACCCCAAAIIIIAAAggggAACCCDgaQECLE+Xh8YhgAACCCCAAAIIIIAAAggggAACCBBg0QcQQAABBBBAAAEEEEAAAQQQQMDzAkdO5Mo3R3IdbeePLsxx9HycLHsCBFjZs+XMCCCAAAIIIIAAAggggAACCCDggMCqv56W59446cCZ8p+iWBGR5zuVkqurEGQ5juvwCQmwHAbldAgggAACCCCAAAIIIIAAAggg4JzAD2dEWow5KmfOOnfO6DPVuDhHJncrlZ2Tc1bHBAiwHKP03olyc3Pls88+k2nTpsmKFStk+/btcsEFF0jjxo3lvvvuk4YNG0pOTsGU+ezZs7Ju3Tp58cUXZe3atfLDDz9I/fr1pUePHnLbbbdJiRIlLG92165dMmHChLxr1apVS9q3by/du3eXihUrWh5z8uRJWb58uWnj+vXrpVixYknb5z1pWoQAAggggAACCCCAAAIIIJAtgW+P5Mqd449l6/RyQZlzZFH/0hmf/+DBg9K3b1955513bJ1Ln5/btGlj9h03bpyMGTNGmjdvLs8991zcZ2jd98MPP5TWrVtLly5d5KmnnpKSJUuac+zcuVN69+4t//jHPyyvf/7550udOnWkadOm0qJFCylfvrytdnplJwIsr1TC4XZoeLVw4ULp06ePfPvtt1KjRg2pWrWqHDp0SDZu3GiuNnToUPPPueeem3f1M2fOyJw5c6Rfv35y+PBhueGGG0yotHXrVvPvVsfowfpz/aBs2rTJXOuyyy6THTt2yO7du6VZs2YyceJEqV69er671PBq9OjR8sQTT0jZsmWlZs2aJizT9um/jxw50pyzaNGiDutwOgQQQAABBBBAAAEEEEAAAb8IhCnAijyr9+rVK+6zcLoBVnS9q1WrJsOGDZNGjRrJOeec44uuQIDlizKl3shPPvlEOnToIMeOHZNJkybJrbfeakZbabD10UcfmYBKwyYNqzp16pR3AR0Fpf9euXJlc1zt2rXNz/7v//2/0r9/f3n33XflpZdeMueObPv37xf9cK1Zs0bGjh0rXbt2NR+0o0ePmgRZPxSaQmtYVarUf4ZlLliwQHr27CkNGjQw19KALbp9e/fulblz55rRX2wIIIAAAggggAACCCCAAALhFPBjgLVs2TK5/vrrbRcsMgJLD6hSpYoZkXXjjTdaHp8swNKDpkyZIhpSRW86YOTzzz83P1u8eHHS69hufCHtSIBVSNCFfRkNkh588EF5/vnnZeDAgQUS1VWrVkm7du3MsEMNj3TEk46IGjx4sIwfP15ee+21vKGMkbZHQrErr7xSpk+fnjfccMmSJdK2bVsTcGlIFT3FUEd8aVi2evVq0Q9w3bp1zel0aKVOLdTRVtH/PXKtSPu6detW4JyFbcn1EEAAAQQQQAABBBBAAAEE3BMIU4BVqVIl2bdvn1la5/e//73ov8du6QZYkfOcOnVKpk6dKqNGjTIzpnTgyYUXXuhegW1emQDLJpSfdjtx4oSMGDFCFi1aZIImqxFMuh7WXXfdZUZa6SinChUqmOl+d999txQvXtz8t0suuSTfbetorgceeMCscfXGG2+Y0Vna8YcMGWJGXmnopHNpY7dZs2aZUVkvvPCCCdN027x5s7Rs2VKaNGmSF6BFH6ejurQtes158+aZ0VlsCCCAAAIIIIAAAggggAAC4RMIU4Clz/JbtmwxI6R0gIkuCxS7rE6mAZb2IJ3xpINNPvjgA5kxY4YJsry+EWB5vUJZap+OptIRWD/+8Y/zAiwdDaWdVoOtP/zhD1K6dMFF7IYPH27WrIpMPdSRVLpw3J49e+TVV18VHZ0Vu+m0xJtvvtlMM9SgS6cR6vpcOg3xySefNP/Ezrk9fvy4Cbs0FX7//feZRpilfsBpEUAAAQQQQAABBBBAAAGvC4QpwNKF3a+66irz4rXvv//erCcdOyjFiQBLl+95+eWXzZI/GmQNGjRIihQp4umuQIDl6fJkp3HaUTVIeuihh+Txxx83AZJ21D/+8Y/SqlUrExzpUEIdiRW76ciszp07y9NPP22OjYza0v3ijZSyGu0VmeIYPSor9lqxYVl2NDgrAggggAACCCCAAAIIIICAlwXCFmDdcccd5vlaR2DddNNNoqGWzp6KbE4EWHouXeO6Y8eO5o2EuvyQLi3k5Y0Ay8vVyVLb1q1bZ6b06QgrXUj95z//ublSbDhldfnYfazCqdjjrPaxE07Z2SdLRJwWAQQQQAABBBBAAAEEEEDAIwJ+DLCS0cUu8h5ZxF3DqjZt2pjldJ566inznK7rTesAlMhUQqcCrMh59E2EOtKrfPnyyZrt6s8JsFzlL/yLb9iwwQxF1LcK6psHNG2NTN8LWoCl62yxIYAAAggggAACCCCAAAIIJBeIvIE++Z6Fv0cYAyxV3rFjh9x///1myZ6XXnpJGjZsaPAJsAq/D3LFQhTQaYMrV66UAQMGyJdffmmmEOoorOjF4IIUYEVCuY8++qgQlbkUAggggAACCCCAAAIIIOBPAQKsgmtAp1pJXSO6b9++8s4770jsCKtk54odgaX763P8kiVLzAis66+/3kwlvOyyywiwkmHyc/8KnD592gw7fPDBB81NaKfXBdRzcnLy3dTq1avNIu6PPPKI6PQ9qwXcIiHXyJEjzX4ahnXq1Mmcx+rNhfrfI1MIq1SpIrNnzzbDEnVx9t69e5tRYLq4u9UWmUKo0xx1YflUtkiApR94NgQQQAABBBBAAAEEEEAAAf8K+HEElhMBllYseiqhPjsPGTJEtm3bJq1btzYvVNNphiVLljTF3blzp3nO1k2ftatVq5aw6KtWrZJu3bqZF7zp2w/LlCnj6U7CFEJPlyfzxh09elQ0bNJ/atSoYTqxDjuMfeufXilIbyEkwMq873AGBBBAAAEEEEAAAQQQQMALAmEOsNRfpxLqy9b0f8ePHy8XXHBBxgHWmTNnRF+qpiO/dLF4HeVllRN4of6RNhBgeakaDrfl8OHD8vDDD8uLL75oRlb94Q9/kCuvvDLuVSJvFNS3D1qNptLz9enTR9asWSNvvPGG6BDTU6dOmQRYpyRqetu0adMC54+Mtop+46CuT9WyZUtp0qSJTJo0qcDbDiIju/T88d5umIiLAMvhzsTpEEAAAQQQQAABBBBAAAGXBMIeYOnMIh3Rpc/e1atXl7vvvlsGDRqU0QisvXv3Sr9+/eSTTz6R6dOny8033+xSde1flgDLvpWv9tSRV5qiTp48We68804TMF166aUJ7+HkyZPmGE10X3vtNfPmg+hNO7ZOPdQQTDt45A0FOie3bdu2JrEdPXq0lChRIu+wQ4cOmQ+FTk/UD1zdunXNz3RucPfu3c2or+j/HjlQwzAdxqjDGWPPaacQBFh2lNgHAQQQQAABBBBAAAEEEPC+QNgDLK2QTiV85plnZObMmVKpUiXZt29f2gGWDhTRrGDMmDFy2223mWfucuXKeb4jEGB5vkTpNVDXjerZs6f88pe/NOtNXXTRRbZOtH79erOmVeXKlc1aWXXq1DHDCPWthRpQrVixQubMmZO37pWedP/+/WYdKx2ZpUFZ586dTYilIZp+IIYNG2Z+rj8rVapUXjsibWzQoIEJzX784x+bRep04XUNvfRNC7qP/jzVjQArVTH2RwABBBBAAAEEEEAAAQS8KUCA9T91iUwl3LJli/n3VNfAOnHihHzxxRdmaaHFixeLrlM9ceJEs0C8HzYCLD9UKcU2fvPNN6Yjv/XWW0mPbN68uZkuWKFCBbOvLviunXno0KGiUwZvuOEGKVasmGzdutX8u/53/efcc8/Nd+4NGzbIfffdZxaT07W29M0I+uHSaYk6fVE/FDrUMXqLXp+rbNmyUrNmTfnhhx/MqCz9d123Sxegi35TYtIb+t8dCLDsSrEfAggggAACCCCAAAIIIOBtAQKs/6lP9FTCI0eOxA2w/vGPfyQtqC7w/txzz5lnfq+vfRW5GQKspGX13w6R9aW++uqrpI2PDbD0gLNnz8q6devM2llr1641oVL9+vWlR48eZnhh9BTB6Avs2rXLjNrSUVr65sFatWpJ+/btzVTBihUrWrZFpy0uX75cpk2bJjr6S8Oyxo0bmzBMF5uPfVNi0hsiwLJLxH4IIIAAAggggAACCCCAgC8ECLD+UyYdRaVTCWfMmJFygKUjrvQ5/dZbbzWztXTgiJ82Aiw/VYu22hZgBJZtKnZEAAEEEEAAAQQQQAABBDwt4JcAy9OIAWgcAVYAisgtFBQgwKJXIIAAAggggAACCCCAAALBECDACkYdM70LAqxMBTnekwIEWJ4sC41CAAEEEEAAAQQQQAABBFIWyHaAVbSIyMqH86/znHIjOSDrAgRYWSfmAm4IEGC5oc41EUAAAQQQQAABBBBAAIHsCPSdeVw+/ffZrJz81muLyu9alMjKuTmpcwIEWM5ZciYPCRBgeagYNAUBBBBAAAEEEEAAAQQQyFBg73e5MvXPp2TPN86GWD+/vIg88KviGbaOwwtDgACrMJS5RqELEGAVOjkXRAABBBBAAAEEEEAAAQQQQCBrAgRYWaPlxG4KEGC5qc+1EUAAAQQQQAABBBBAAAEEEHBWgADLWU/O5hEBAiyPFIJmIIAAAggggAACCCCAAAIIIOCAAAGWA4icwnsCBFjeqwktQgABBBBAAAEEEEAAAQQQQCBdAQKsdOU4ztMCBFieLg+NQwABBBBAAAEEEEAAAQQQQCAlAQKslLjY2S8CBFh+qRTtRAABBBBAAAEEEEAAAQQQQCC5AAFWciP28KEAAZYPi0aTEUAAAQQQQAABBBBAAAEEEIgjQIBF1wikAAFWIMvKTSGAAAIIIIAAAggggAACCIRUgAArpIUP+m0TYAW9wtwfAggggAACCCCAAAIIIIBAmAQIsMJU7RDdKwFWiIrNrSKAAAIIIIAAAggggAACCARegAAr8CUO5w0SYIWz7tw1AggggAACCCCAAAIIIIBAMAUIsIJZ19DfFQFW6LsAAAgggAACCCCAAAIIIIAAAgESIMAKUDG5lf8IEGDRGxBAAAEEEEAAAQQQQAABBBAIjgABVnBqyZ1ECRBg0R0QQAABBBBAAAEEEEAAAQQQCI4AAVZwasmdEGDRBxBAAAEEEEAAAQQQQAABBBAIpAABViDLyk0xAos+gAACCCCAAAIIIIAAAggggEBwBAiwglNL7iRKgACL7oAAAggggAACCCCAAAIIIIBAcAQIsIJTS+6EAIs+gAACCCCAAAIIIIAAAggggEAgBQiwAllWbooRWPQBBBBAAAEEEEAAAQQQQAABBIIjQIAVnFpyJ1ECBFh0BwQQQAABBBBAAAEEEEAgYAIHReRLh+/paofPx+myJkCAlTVaTuymAAGWm/pcGwEEEEAAAQQQQAABBBBwWGCmiPzG4XPq6YqLyNsiclMWzs0pHRUgwHKUk5N5RYAAyyuVoB0IIIAAAggggAACCCCAQIYCp0SkjIj8kOF54h1eR0Q+zNK5Oa1jAgRYjlFyIi8JEGB5qRq0BQEEEEAAAQQQQAABBBDIQOArEbkkg+OTHXqxM1MTDx48KH379pV9+/bJlClTpFq1anGvfOLECXnqqadk9uzZsmzZMrn++uvNvtH/vWvXrvLYY49J6dKl455nyZIl0q9fPxk0aJAMGDAgb79x48bJmDFj4h53zTXXSL169aRVq1ZSq1YtycnJSabk+s8JsFwvAQ3IhgABVjZUOScCCCCAAAIIIIAAAggg4IJASAOsMmXKyKhRo6R169YSecaN1U83wIo+jwZlgwcPlvPPP9+F4tq/JAGWfSv29JEAAZaPikVTEUAAAQQQQAABBBBAAIFEAiENsJRER0eNHTtWqlevbimULMCKHZmlJ8nNzZXvvvtOVq1aJZMmTZKdO3eKndFebndSAiy3K8D1syJAgJUVVk6KAAIIIIAAAggggAACCBS+QEgDrEqVKpnpiJ06dTLTDa2mEqYTYEUX8LPPPpPf/e53smXLFpkwYYK0adOm8Otr84oEWDah2M1fAgRY/qoXrUUAAQQQQAABBBBAAAEE4gqENMCaPHmyzJkzRz744AMZP368CZdipxJmGmDpaKx58+aZKYQtWrSQ559/XsqWLevJzkiA5cmy0KhMBQiwMhXkeAQQQAABBBBAAAEEEEDAIwIhDbB0cfdjx45Jz5495fLLLxcNtGKnEmYaYGmF9+zZI/fff7+ZVvjyyy/LVVdd5ZHC528GAZYny0KjMhUgwMpUkOMRQAABBBBAAAEEEEAAAY8IhDjA0jWwdFSUjsBq166dPPPMM/lGSDkRYB05ckQeffRRWbx4scyYMUOaNWvmkcITYHmyEDTKWQECLGc9ORsCCCCAAAIIIIAAAggg4JqAzwKsd955JyUqHWl1/fXXm2NOnDhh1ruaPXu2RP67roOl61StXbtWRo8eLXfffXfeVEInAqzoa3p5HSxGYKXUrdjZLwIEWH6pFO1EAAEEEEAAAQQQQAABBJIIhDzAUp3169dL3759pVy5cvLiiy/mTfMjwOLTg4DPBQiwfF5Amo8AAggggAACCCCAAAIIRAR8FmDpiKkpU6ZItWrV4tbQaqSV7hzvv58+fVomTZpkRmDddttt5n81zCLA4mOCgM8FCLB8XkCajwACCCCAAAIIIIAAAggQYOVNLVSK6KmEw4YNk+7du8vSpUulX79+MmjQIBkwYEBenxk3bpyMGTOmwH+36lSHDx+Whx56SFasWCHz58+XBg0aeLLvMYXQk2WhUZkKEGBlKsjxCCCAAAIIIIAAAggggIBHBBiBlVeIDRs25AVVL730kuzcuTPjAGv79u3Sq1cvKVasWNKRY272CAIsN/W5dtYECLCyRsuJEUAAAQQQQAABBBBAAIHCFSDAyvPWqYRTp06VkSNHyq233ip16tSR4cOHpz0CKzc3V+bNmyeDBw+W9u3by4gRI6R06dKFW1+bVyPAsgnFbv4SIMDyV71oLQIIIIAAAggggAACCCAQV4AAKx/N/v375eGHH5aVK1dKpUqVzNTCdKcQfvbZZ2YE1549e2T8+PHSvHlzz3ZEAizPloaGZSJAgJWJXkCOPbBFZOtzIntWiPxwJDs3VeJ8kSrNRWo+LFKhVnauwVkRQAABBBBAAAEEEAi7AAFWgR4QmUr4r3/9y/wslQDr7NmzcvDgQVmzZo1ZGF6nIXbr1k0ee+wxKVmypGd7GwGWZ0tDwzIRIMDKRC8Ax2p49Xp9kdPHC+dmipYSabWeEKtwtLkKAggggAACCCCAQNgECLAKVDx6KmGiAMtOV7n33nvNiK4yZcrY2d21fQiwXKPnwtkUIMDKpq4Pzr22g8jOhYXb0Gp3iTReULjX5GoIIIAAAggggAACCIRBgADLssoHDhwwwdObb74ZdwRWvO5x3XXXyS233CK33367/PSnP5WcnBzP9yQCLM+XiAamI0CAlY5agI6ZUTZ70wYTMfXMDRAit4IAAggggAACCCCAgEcEfBJgeUQrsM0gwApsacN9YwRY4a6/vHSOOwAEWO64c1UEEEAAAQQQQACBYAsQYAW7vjbvjgDLJhS7+UuAAMtf9XK8tQRYjpNyQgQQQAABBBBAAAEEXBPIdoBVTEROuXZ3XNimAAGWTSh285cAAZa/6uV4awmwHCflhAgggAACCCCAAAIIuCpwg4hsylIL7hWR6Vk6N6d1TIAAyzFKTuQlAQIsL1XDhbYQYLmAziURQAABBBBAAAEEEMiiwBciMkhEPnP4Gg1EZLLD5+R0WREgwMoKKyd1W4AAy+0KuHx9AiyXC8DlEUAAAQQQQAABBBBAAAFnBQiwnPXkbB4RIMDySCHcagYBllvyXBcBBBBAAAEEEEAAAQQQyIoAAVZWWDmp2wIEWG5XwOXrE2C5XAAujwACCCCAAAIIIIAAAgg4K0CA5awnZ/OIAAGWRwrhVjMIsNyS57oIIIAAAggggAACCCCAQFYECLCywspJ3RYgwHK7Ai5fnwDL5QJweQQQQAABBBBAAAEEEEDAWQECLGc9OZtHBAiwPFIIt5pBgOWWPNdFAAEEEEAAAQQQQAABBLIiQICVFVZO6rYAAZbbFXD5+gRYLheAyyOAAAIIIIAAAggggAACzgoQYDnrydk8IkCA5ZFCuNUMAiy35LkuAggggAACCCCAAAIIIJAVAQKsrLByUrcFCLDcroDL1yfAcrkAXB4BBBBAAAEEEEAAAQQQcFaAAMtZT87mEQECLI8Uwq1mEGC5Jc91EUAAAQQQQAABBBBAAIGsCBBgZYWVk7otQIDldgVcvj4BlssF4PIIIIAAAggggAACCCCAgLMCBFjOenI2jwgQYHmkEG41gwDLLXmuiwACCCCAAAIIIIAAAghkRYAAKyusnNRtAQIstyvg8vUJsFwuAJdHAAEEEEAAAQQQQAABBJwVIMBy1pOzeUSAAMsjhXCrGQRYbslzXQQQQAABBBBAAAEEEEAgKwIEWFlh5aRuCxBguV0Bl69PgOVyAbg8AggggAACCCCAAAIIIOCsAAGWs56czSMCBFgeKYRbzSDAckue6yKAAAIIIIAAAggggAACWREgwMoKKyd1W4AAy+0KuHx9AiyXC8DlEUAAAQQQQAABBBBAAAFnBQiwnPXkbB4RIMDySCHcagYBllvyXBcBBBBAAAEEEEAAAQQQyIoAAVZWWDmp2wIEWG5XwOXrE2C5XAAujwACCCCAAAIIIIAAAgg4K0CA5awnZ/OIAAGWRwrhVjMIsNyS57oIIIAAAggggAACCGRP4ORBkWNfOnv+8lc7ez7OljUBAqys0XJiNwUIsNzU98C1CbA8UASagAACCCCAAAIIIICAgwL/PVPknd84eML/PVVOcZGWb4tcdJPz5+aMjgoQYDnKycm8IkCA5ZVKuNQOAiyX4LksAggggAACCCCAAMVj2RIAACAASURBVAJZEDhzSmRGGZGzP2Th5CJSsY7IHR9m59yc1TEBAizHKDmRlwQIsLxUDRfaQoDlAjqXRAABBBBAAAEEEEAgSwLHvhKZc0mWTi4ipS8W6Zz51MSdO3dK7969pVKlSjJx4kQpX7580jafOHFCnnrqKZk9e7Z07dpVHnvsMSldunTc45YsWSL9+vWTQYMGyYABA/L2GzdunIwZMybucddcc43Uq1dPWrVqJbVq1ZKcnJykbfPaDgRYXqsI7XFEgADLEUb/noQAy7+1o+UIIIAAAggggAACCMQKhCTAKlOmjIwaNUpat24tkWfaWIp0A6zo82hQNnjwYDn//PN91dcIsHxVLhprV4AAy65UQPcjwApoYbktBBBAAAEEEEAAgVAKhCTA0trq6KixY8dK9erVLUudLMCKHZmlJ8nNzZXvvvtOVq1aJZMmTRIdKWZntJfX+hoBltcqQnscESDAcoTRvychwPJv7Wg5AggggAACCCCAAAKxAiEJsHTq4b59+6RTp05mWqHVVMJ0Aqxozs8++0x+97vfyZYtW2TChAnSpk0b3/Q3AizflIqGpiJAgJWKVgD3JcAKYFG5JQQQQAABBBBAAIHQCoQkwJo8ebLMmTNHPvjgAxk/frwJl2KnEmYaYOlorHnz5pkphC1atJDnn39eypYt64uuRYDlizLRyFQFCLBSFQvY/gRYASsot4MAAggggAACCCAQaoGQBFjLli2TY8eOSc+ePeXyyy8XDbRipxJmGmBpP9qzZ4/cf//9Zlrhyy+/LFdddZUvuhcBli/KRCNTFSDASlUsYPsTYAWsoNwOAggggAACCCCAQKgFQhRg6RpYOipKR2C1a9dOnnnmmXwjpJwIsI4cOSKPPvqoLF68WGbMmCHNmjXzRfciwPJFmZxp5OnTp+XJJ5+UzZs3y9y5c6VChQpxT7xr1y4zH3bFihWyfft2qVq1qhm+2KtXL6lRo4blcbHH6Aevffv20r17d6lYsaLlMSdPnpTly5fLtGnTZP369VKsWDFp3Lix3HfffdKwYcO0X+1JgOVMn/HtWQiwfFs6Go4AAggggAACCCCAQAGBEAVY119/vVkHS9epWrt2rYwePVruvvvuvKmETgRYJ06cMGtszZ4921frYBFgheS7QcOrKVOmyNChQ+Wmm25KGGCtW7fOvJFg9+7dJqzS8Er/fyTImjlzpgmXoretW7dK7969ZdOmTeaYyy67THbs2GGO0zR34sSJBYY+anilH8YnnnjCJMo1a9aUH374QTZu3Gj+feTIkeacRYsWTblKBFgpkwXrAAKsYNWTu0EAAQQQQAABBBAIt0DIAiwttg7w6Nu3r5QrV05efPHFvGl+BFjh/igE/u4PHz5swqBRo0aZe23evHncAOvTTz+Vbt26yd69e2XMmDHStm1bMwpKwyZdTG7gwIFSr149mTVrllx88cXmfPv37zcjs9asWWNe96nhl4ZOR48eNecYNmyY+eBpWFWqVKk87wULFpi5vQ0aNDCv8tSgTBeU++ijj6Rfv36mDTpSrH79+inXiAArZbJgHUCAFax6cjcIIIAAAggggAAC4RYIYYClg1D0OVmfo2+77TbzvxpmEWCF+6MQ2LvXDv/222+bua0ffvih6Cs5jx8/HncE1pkzZ0zYNHz4cHnppZekR48e+d54oCGWvqng9ddfl0WLFokObdRNP0AadPXv3998qEqUKJFneujQIRNGrV69WnRBurp165qfHTx40Ewt1NFW0f89cuCqVavMfF8N02LPaadgBFh2lAK8DwFWgIvLrSGAAAIIIIAAAgiETiCEAZbWOHoqoT6r6zP00qVLzTP2oEGDZMCAAXldYdy4cWYASex/t+orOsjloYceMksGzZ8/3wwq8cPGFEI/VCnNNuqQw5tvvtlMx9M3DNx+++3mfytXrmw5AuvLL7+UTp06mavpyKdLLrkk6ZVPnTolQ4YMMSOvNHRq2rRpgWN0tJaOynrhhRfMCC7ddB2uli1bSpMmTUyqHPvaTh3VpfN89Q0M+opPHZ2VykaAlYpWAPclwApgUbklBBBAAAEEEEAAgdAKhDTA0npv2LAhL6jSgSY7d+7MOMDS5YF0FpWuQa1LDVWrVs0XXYsAyxdlSq+ROurqrbfeMuGRvoJTO+ldd90VN8DS0VC6XpWOvNLphsWLF096YR1J1aVLF/MazldffVWuvPLKAsdEgjT9gGjQpdMIFy5cKB06dDCLyus/kcApcrCOFNOwa+rUqfL++++nPI2QACtp6YK9AwFWsOvL3SGAAAIIIIAAAgiESyDEAZbOrNLnYl0W6NZbb5U6deqYWVPpjsDSZXt0kIjOrtKXro0YMUJKly7ti/5EgOWLMjnTyGQBViRU0pFSOlJL3w6oi8Xpmw90YXadJtinT598I7N0kXYdKaVbvJFSVtfVIOvBBx/MNyor9i71Q6kLvOvaW5GRYXYlCLDsSgV0PwKsgBaW20IAAQQQQAABBBAIpUCIAyytt85Qevjhh2XlypVmaSCdWphugPXZZ5+ZEVw6CGX8+PFmjWy/bARYfqmUA+1MFmDptMHOnTubebOffPKJeaXmDTfcIGXKlMl7o+C1115rQq0bb7zRtCjZOePtYyecsrNPPBYCLAc6jJ9PQYDl5+rRdgQQQAABBBBAAAEE8guEPMBSjMhUwn/961/GJpUA6+zZs2Ydan3xmi7ho9MQdb3pxx57TEqWLOmb3kaA5ZtSZd7QZGHTs88+K0OHDjUX0qmE+u+1atUy0/v0jYI6MkvDLR2yqOHWpZdeSoCVeVk4QzYECLCyoco5EUAAAQQQQAABBBBwR8BnAdY//vGPpE4TJkyQNm3ayIkTJ+Spp54yz9j6grPIy9JiTxA9lTBRgJX0wiJy7733mhFdOljFTxsBlp+qlWFbkwVYkWl9umD64sWLTVAVvUWvS/Xaa6+ZD1uyc+rxVvvYGV1lZ594JJERWB999FGGahyeqkDp7aWl8szKUu79cpJzLCfVw23tf6bsGTl04yHZ23WvHKtxrMAxtTfn77u2TurATptr098cYPT1KUof2y6V986Uct+/LzlnC/ZNJ27uTJGycui8G2Vv5a5yrHQNJ07JORBAAAEEEEAAAaldu7Z3FQiwTG0OHDhggqc333wz7giseEW87rrr5JZbbjEvd/vpT38qOTnZeVbLZiciwMqmrsfOnSxsikwh1EXZrd4MqLcTeaPg008/LY8//rjYeXNh5LpVqlQxqXL58uXNInS9e/c2bzzQxd2ttkiAtWDBArP4fCobAVYqWs7tq+FVjXtrSM7JwvkyPFvirGz/P9sLhFgEWM7VlDPZF9Dwqsb2eyXn7En7B2Ww59mcErK9xv8hxMrAkEMRQAABBBBA4D8CBFhf0h08LkCA5fECOdm8ZAHW6tWrzdTB6LcFxl7/3XfflYYNG0okwOIthE5WKADn6iAiCwv5PjTbXBBzTaYQFnIRuJwRWNtBZGchfwCq3SXSOPYDQD0QQAABBBBAAIGACfhkBFbA1D13OwRYnitJ9hqULMDShdvbtWsn1apVMyOlLrzwwgKNiYzA0ld4PvLII3Lq1CkZMmSI6PTDVatWSdOmTQscExltpWtoDRw40Px88+bN0rJlS2nSpInlaK/IyC49f7y3GyaSYhH37PWjhGcuKyJHXLh2LgGWC+pcMlZgRlmRH1z4APSM/QBQGgQQQAABBBBAIGAC2Q6wcoqJ9DgVMLTg3Q4BVvBqGveOkgVYulB73759Rde30jWwdDRW9Hbo0CHzus2lS5eafxo3bmx+vGTJEmnbtq30799fRo8eLSVKlMg7LHKMju7SBenq1q1rfqYjt7p37y4bN27M998jB2oYpmGavhkh9px2SkaAZUcpC/uck4Vz2jklAZYdJfbJtgAj/7ItzPkRQAABBBBAIMwCy24Q2bcpOwI17hVpOD075+asjgkQYDlG6f0TJQuw9A4iwdGPf/xj0bci1K9f3yzupuGWvoFw2LBhcs8995ifnXfeeeam9+/fb6Yd6is5dSRW586dTYgVfYzVtERd26pnz57SoEEDGT9+vOg1c3NzRRde16Bsz549ovvoz1PdCLBSFXNofwIshyA5jS8FCLB8WTYajQACCCCAAAI+ETj8hcjGQSLffeZsgy9uIHLzZGfPydmyIkCAlRVWb57UToClr+acOXOmmep3+PBhqVWrllSoUEF27Nghu3fvNoHW9OnTpUaN/G++2rBhg9x3332ybds287PLLrss7xgdyTVx4kSpXr16PhgNuHQqov5TtmxZqVmzpvzwww9mVJb+u/53Xei9aNGiKYMSYKVM5swBBFjOOHIWfwoQYPmzbrQaAQQQQAABBBBAwBcCBFi+KJMzjbQTYOmVdBSUroelQdUf//hHE1zVq1fPjKzq2LGjCbSstl27dpmRWStWrBC9loZf7du3N1MFK1asaHnMyZMnZfny5TJt2jRZv369FCtWzExN1DBMF4tP99WeBFjO9JmUz0KAlTIZBwRIgAArQMXkVhBAAAEEEEAAAQS8JkCA5bWK0B5HBAiwHGFM/SQEWKmbcURwBAiwglNL7gQBBBBAAAEEEEDAcwIEWJ4rCQ1yQoAAywnFNM5BgJUGGocERoAAKzCl5EYQQAABBBBAAAEEvCdAgOW9mtAiBwQIsBxATOcUBFjpqHFMUAQIsIJSSe4DAQQQQAABBBBAwIMCBFgeLApNylyAACtzw7TOQICVFhsHBUSAACsgheQ2EEAAAQQQQAABBLwoQIDlxarQpowFCLAyJkzvBARY6blxVDAECLCCUUfuAgEEEEAAAQQQQMCTAgRYniwLjcpUgAArU8E0jyfAShOOwwIhQIAViDJyEwgggAACCCCAAALeFCDA8mZdaFWGAgRYGQKmezgBVrpyHBcEAQKsIFSRe0AAAQQQQAABBBDwqAABlkcLQ7MyEyDAyswv7aMJsNKm48AACBBgBaCI3AICCCCAAAIIIICAVwUIsLxaGdqVkQABVkZ86R9MgJW+HUf6X4AAy/815A4QQAABBBBAAAEEPCtAgOXZ0tCwTAQIsDLRy+BYAqwM8DjU9wIEWL4vITeAAAIIIIAAAggg4F0BAizv1oaWZSBAgJUBXiaHEmBlosexfhcgwPJ7BWk/AggggAACCCCAgIcFCLA8XByalr4AAVb6dhkdSYCVER8H+1yAAMvnBaT5CCCAAAIIIIAAAl4WIMDycnVoW9oCBFhp02V2IAFWZn4c7W8BAix/14/WI4AAAggggAACCHhagADL0+WhcekKEGClK5fhcQRYGQJyuK8FCLB8XT4ajwACCCCAAAIIIOBtAQIsb9eH1qUpQICVJlymhxFgZSrI8X4WIMDyc/VoOwIIIIAAAggggIDHBQiwPF4gmpeeAAFWem4ZH0WAlTEhJ/CxAAGWj4tH0xFAAAEEEEAAAQS8LuDbACs3N1cOHTokp0+flpycHClXrpz53+ht165dMmHCBPnb3/4mxYoVk1/84hdyzz33SMWKFb1eF9qXoQABVoaA6R5OgJWuHMcFQYAAKwhV5B4QQAABBBBAAAEEPCrg2wBr+/btctddd8m2bdtk5MiRMnjwYClSpEge8/r166V79+6i+0Vv9erVkxkzZshVV13l0ZLQLCcECLCcUEzjHARYaaBxSGAECLACU0puBAEEEEAAAQQQQMB7Ar4NsObOnSudO3c2QdSiRYvk6quvztM9evSo9O3bV1555RVL8TvvvFOmTp0q5cuX915FaJEjAgRYjjCmfhICrNTNOCI4AgRYwakld4IAAggggAACCCDgOQFfBlhnzpyRxx9/XJ599lnp1auXjB07VkqVKpWHu3nzZmnZsqV89dVX0qJFCxkzZoxceOGFsmzZMnnooYfk8OHD8tprr0mbNm08VxAa5IwAAZYzjimfhQArZTIOCJAAAVaAismtIIAAAggggAACCHhNwJcBlgZQffr0kdmzZ8uUKVNMiBW9zZo1S7p27Sply5aVpUuXSuPGjc2PT548aaYajh8/XgYOHCijRo2S4sWLe60mtMcBAQIsBxDTOQUBVjpqHBMUAQKsoFSS+0AAAQQQQAABBBDwoIAvA6wDBw5Ip06dZOXKlbJgwQKzFlZkix6d1ahRI9GphpdccknezyPhVrt27WTatGlm8Xe24AkQYLlUUwIsl+C5rCcECLA8UQYagQACCCCAAAIIIBBMAd8HWKtWrZKmTZvmVef777+XHj16yOLFi83//uEPf5DSpUvn/Xz16tXSrFkzad68uQm3KlSoEMzKhvyuCLBc6gAEWC7Bc1lPCBBgeaIMNAIBBBBAAAEEEEAgmAK+DLCiQ6qZM2fKPffck1ed2LcTPvLII/kqt3DhQunQoQMBVjD7c95dEWC5VGACLJfguawnBAiwPFEGGoEAAggggAACCCAQTAFfBljR0wQ1vJowYYKcd955pkLTp083I690e/311+X222/Pq1xubq6MGDHCLADfpUsXmTRpklkniy14AgRYLtWUAMsleC7rCQECLE+UgUYggAACCCCAAAIIBFPAlwGWlmLFihXSsWNH80ZBXZBd3zb4+eefmzcS6iisevXqyfz58+WKK67Iq5y+lVADrzVr1oiOzBo+fLgUKVIkmJUN+V0RYLnUAQiwXILnsp4QIMDyRBloBAIIIIAAAggggEAwBXwbYB06dEj69esnuii71aajrJ588sl8AZWuedW5c2eze+zorGCWN7x3RYDlUu0JsFyC57KeECDA8kQZaAQCCCCAAAIIIIBAMAV8G2BpOXbv3i19+vQxo7GitzvvvNNMK7zooovy/vOuXbtMeLV+/Xpp0qSJCb4uvvjiYFaVuxICLJc6AQGWS/Bc1hMCBFieKAONQAABBBBAAAEEEAimgK8DLC3J8ePH5b333pMtW7aYCl133XXSoEEDKVGiRF7FTp48KWPGjDH76damTRvp2bNnXsgRzNKG+64IsFyqPwGWS/Bc1hMCBFieKAONQAABBBBAAAEEEAimgO8DrGCWhbvKVIAAK1PBNI8nwEoTjsMCIUCAFYgychMIIIAAAggggAAC3hQgwPJmXWhVhgIEWBkCpns4AVa6chwXBAECrCBUkXtAAAEEEEAAAQQQ8KiAZwMsnfan0wJPnDiRFbqSJUtKrVq18k01zMqFOKkrAgRYrrCLEGC5BM9lPSFAgOWJMtAIBBBAAAEEEEAAgWAKeDbAOnDggHTq1ElWrlyZFfnmzZuLvpWwQoUKWTk/J3VXgADLJX8CLJfguawnBAiwPFEGGoEAAggggAACCCAQTAECLAKsQPZsAiyXykqA5RI8l/WEAAGWJ8pAIxBAAAEEEEAAAQSCKeDZAOvIkSMyZ84c+f777y3lT506JStWrJBNmzZJ586d5ZprrklYoY0bN8qyZcukXr160qJFC6lYsaI5rkyZMsGsbMjvigDLpQ5AgOUSPJf1hAABlifKQCMQQAABBBBAAAEEging2QArGfdf/vIXad26tdntjTfekNq1ayc8ZO/evdKjRw959913ZcqUKdKxY0eJhBzJrsXP/SdAgOVSzQiwXILnsp4QIMDyRBloBAIIIIAAAggggEAwBXwZYOXm5sqIESPk8ccfN6OpZs+eLeXLl09aoSVLlkjbtm3l2muvlYULF0qNGjWSHsMO/hQgwHKpbgRYLsFzWU8IEGB5ogw0AgEEEEAAAQQQQCCYAr4MsA4fPix9+vQxwVWvXr1k7NixUqpUqaQV+vLLL83C8O+884688MILMnDgwKTHsIM/BQiwXKobAZZL8FzWEwIEWJ4oA41AAAEEEEAAAQQQCKaALwOs6DcUphJgHT9+3IRWU6dOlS5dusikSZOkbNmywaxsyO+KAMulDkCA5RI8l/WEAAGWJ8pAIxBAAAEEEEAAAQSCKeD7ACuVICo6wGrevLnMnTtXKvAWwkD2bAIsl8pKgOUSPJf1hAABlifKQCMQQAABBBBAAAEEgingywDrxIkT8tBDD8nkyZPlqquukkWLFsnVV1+dtELffPONGXn11ltvpbR2VtITs4PnBAiwXCoJAZZL8FzWEwIEWJ4oQygbcWCLyNbnRPasEPnhSHYISpwvUqW5SM2HRSrUys41OCsCCCCAAAIIIJBAwJcBlt5PZEF2/f/333+/jB49Ws4999y4t6oLv8+fP1969+4tuoaWTiUcNWqUFC9enA4SQAECLJeKSoDlEjyX9YQAAZYnyhC6Rmh49Xp9kdPHC+fWi5YSabWeEKtwtLkKAggggAACCEQJ+DbA2r9/v1nAfenSpeZ2OnbsKEOHDpWf/exnkpOTk6/IBw8elFdeeUWeeeYZ+fbbb826V7oAfKtWregMARUgwHKpsARYLsFzWU8IEGB5ogyha8TaDiI7FxbubVe7S6TxgsK9JldDAAEEEEAAgdAL+DbA0sq9++670rNnT9m+fXteIatWrSrVq1fPC7E06NqyZUu+QtsZsRX6nuFzAAIslwpIgOUSPJf1hAABlifKELpGzCibvWmDiTB75oaOmhtGAAEEEEAAAXcFfB1gKd3HH38s/fv3l/Xr19uSHDJkiBmpxdsHbXH5dicCLJdKR4DlEjyX9YQAAZYnyhC6RtDvQldybhgBBBBAAIGwCvg+wNLC6dsFly9fLlOnTpW1a9cWqKWOyrr99tvlN7/5jdSsWbPAFMOwFj/I902A5VJ1CbBcgueynhAgSPBEGULXCPpd6ErODSOAAAIIIBBWgUAEWNHF0zDr2LFjef9J18MqV64coVXIejgBlksFJ8ByCZ7LekKAIMETZQhdI+h3oSs5N4wAAggggEBYBQIXYIW1kNx3fgECLJd6BAGWS/Bc1hMCBAmeKEPoGkG/C13JuWEEEEAAAQTCKkCAFdbKB/y+CbBcKjABlkvwXNYTAgQJnihD6BpBvwtdyblhBBBAAAEEwirg+wDr7Nmz8s9//tMs4q7/a3fTaYWdO3eWMmXK2D2E/XwkQIDlUrEIsFyC57KeECBI8EQZQtcI+l3oSs4NI4AAAgggEFYBXwdYGlg99thjMmvWrJTr17x5c5k7d65UqFAh5WM5wPsCBFgu1YgAyyV4LusJAYIET5QhdI2g34Wu5NwwAggggAACYRXwbYD19ddfS69eveT1119Pq3YEWGmx+eYgAiyXSkWA5RI8l/WEAEGCJ8oQukbQ70JXcm4YAQQQQACBsAr4NsCaPn269OjRw9TtggsukN69e0ujRo2kZMmScsUVV0ipUqUS1pS3Ewa7yxNguVRfAiyX4LmsJwQIEjxRhtA1gn4XupJzwwgggAACCIRVwJcB1rFjx+SBBx6QadOmSdWqVWXmzJnSsGHDsNaQ+7YQIMByqVsQYLkEz2U9IUCQ4IkyhK4R9LvQlZwbRgABBBBAIKwCvgywDhw4IJ06dZKVK1dKly5dZNKkSVK2bNmw1pD7JsDyTh8gwPJOLWhJ4QsQJBS+OVcUod/RCxBAAAEEEEAgJAK+DLAOHjxogqsVK1aYdbDGjh2bdMpgSOrJbf6vACOwXOoKBFguwXNZTwgQJHiiDKFrBP0udCXnhhFAAAEEEAirgC8DrFOnTsmQIUNMcMUIrLB23cT3TYDlUr8gwHIJnst6QoAgwRNlCF0j6HehKzk3jAACCCCAQFgFfBlgabH07YMaXlWpUkUWLVokV199dVhryH1bCBBgudQtCLBcgueynhAgSPBEGULXCPpd6ErODSOAAAIIIBBWAd8GWIcOHZJ+/frJrFmzZOTIkTJ48GApUqRIWOvIfccIEGC51CUIsFyC57KeECBI8EQZQtcI+l3oSs4NI4AAAgggEFYB3wZYWrBPP/1UunXrJnv37uVNhGHtwXHumwDLpQ5BgOUSPJf1hABBgifKELpG0O9CV3JuGAEEEEAAgbAK+DLA0kXcdcTVnj17ZPfu3bJ9+3apWrWqVK9eXXJycmzV8vLLL5fRo0dL+fLlbe3PTv4SIMByqV4EWC7Bc1lPCBAkeKIMoWsE/S50JeeGEUAAAQQQCKuALwOsAwcOSKdOnWTlypVp16158+Yyd+5cqVChQtrn4EDvChBguVQbAiyX4LmsJwQIEjxRhtA1gn4XupJzwwgggAACCIRVgACLACuQfZ8Ay6WyEmC5BM9lPSFAkOCJMoSuEfS70JWcG0YAAQQQQCCsAr4MsMJaLO7bvgABln0rR/ckwHKUk5P5TIAgwWcFC0hz6XcBKSS3gQACCCCAAALJBAiwkgnxc18KEGC5VDYCLJfguaxsEZHnRGSFiBzJksf5ItJcRB4WkVoW1yBIyBI8p00oQL+jgyCAAAIIIIBASAQIsEJS6LDdJgGWSxUnwHIJPuSX1fCq/v8Plo4XkkMpEVlvEWIRJBRSAbhMPgH6HR0CAQQQQAABBEIiQIAVkkKH7TYJsFyqOAGWS/Ahv2wHEVlYyAZ3iciCmGsSJBRyEbicEaDf0REQQAABBBBAICQCvgywDh48KIMHD5Y9e/akXabLL79cRo8eLeXLl0/7HBzoXQECLJdqQ4DlEnzIL1s2i9MGE9HmEmCFvOd54/YJsLxRB1qBAAIIIIAAAlkX8GWAdeDAAenUqZOsXLkybaDmzZvL3LlzpQJvIUzb0MsHEmC5VB0CLJfgQ35Z+l3IO0DIb58AK+QdgNtHAAEEEEAgPAIEWARYgeztBFgulZUgwSX4kF+WfhfyDhDy2yfACnkH4PYRQAABBBAIj4AvA6yzZ8/K999/L/q/djbd7+WXX5ZHH31UOnfuLCNGjJCyZctKuXLlJCcnx84p2MdnAgRYLhWMIMEl+JBfln4X8g4Q8tsnwAp5B+D2EUAAAQQQCI+ALwOsdMqj62b16tVLFi1aJOPGjZP+/ftLJORI53wc420BAiyX6kOQ4BJ8yC9Lvwt5Bwj57RNghbwDcPsIIIAAAgiERyA0AZaWKQK9NQAAIABJREFUdNWqVdKuXTupUqWKLFiwQH7+85+Hp9Ihu1MCLJcKTpDgEnzIL0u/C3kHCPntE2CFvANw+wgggAACCIRHIFQB1jfffCNdunSRt956S4YPH26mFDIKK5idnQDLpboSJLgEH/LL0u9C3gFCfvsEWCHvANw+AggggAAC4REIVYB1/PhxGThwoEydOtWMxJo2bZpZB4steAIEWC7VlCDBJfiQX5Z+F/IOEPLbJ8AKeQfg9hFAAAEEEAiPQGgDrObNm8vcuXOlAm8hDGRvJ8ByqawECS7Bh/yy9LuQd4CQ3z4BVsg7ALePAAIIIIBAeARCFWB98cUX0rFjR9m0aRMjsALexwmwXCowQYJL8CG/LP0u5B0g5LdPgBXyDsDtI4AAAgggEB6BUARYp0+flk8//VSeffZZmT9/vqnu448/Lk8++aQUKVIkPNUO0Z0SYLlUbIIEl+BDfln6Xcg7QMhvnwAr5B2A20cAAQQQQCA8Ar4MsA4cOCCdOnWSlStXplWpqlWryuLFi6VOnTppHe/XgzTI09Bu8+bNCadPHj16VF5//XWZPXu2rF+/Xg4fPiy1atWS9u3bS/fu3aVixYqWBLt27ZIJEybIihUrZPv27baOOXnypCxfvtysR6bXKlasmDRu3Fjuu+8+adiwoeTk5KTFTYCVFlvmBxEkZG7IGVIXoN+lbsYRwREgwApOLbkTBBBAAAEEEEgoELoAS8OrF154Qe64445QvYFQw6spU6bI0KFD5aabboobYH399dfSr18/WbRokZQtW1Zq1qwpJUqUkB07dsju3bvl2muvlRdffFFuvPHGfB1r69at0rt3bzM9s0aNGnLZZZflHdOsWTOZOHGiVK9ePd8xGl6NHj1annjiibxr/fDDD7Jx40bz7yNHjjTnLFq0aMofYwKslMmcOYAgwRlHzpKaAP0uNS/2DpYAAVaw6sndIIAAAggggEBcgdAEWDqa59e//rV06NBBLr/88lB1CR1BpWHQqFGjzH3HW8A+MkJL9/3tb38rI0aMyBttpaOyxowZI8OGDZPbb79dXn75ZalUqZI53/79+6VXr16yZs0aGTt2rHTt2tWETtHH9O3b14RVpUqVyrNfsGCB9OzZUxo0aCCTJk0SDRdzc3Plo48+MiHa3r17TdBWv379lOtFgJUymTMHECQ448hZUhOg36Xmxd7BEiDAClY9uRsEEEAAAQQQCFaART3tCWgg9fbbb8ujjz4qH374oQmcjh8/HncElo6wuvvuu+XMmTNmrbArrrgi34UOHTpkgqVZs2bJqlWrpGnTpubnS5YskbZt20r//v1NSKUjtiJb5JjVq1fLsmXLpG7duuZHBw8eNNMRdbRV9H+PHKfnb9eunXTr1q3AOe3cPQGWHaUs7EOQkAVUTplUgH6XlIgdAixAgBXg4nJrCCCAAAIIIBAt4MsRWJTQnoCuKXXzzTeb6Xj333+/GTml/1u5cmXLKYS6NtbAgQPl6quvNtMso0dLRa44fPhwM+Vvzpw5Zh2yU6dOyZAhQ8zIq+hQK7qFGnjpqCw9p55fN71Wy5YtpUmTJmb0lbYxetNRXRqmHTt2TObNm2dGZ6WyEWClouXgvgQJDmJyKtsC9DvbVOwYQAECrAAWlVtCAAEEEEAAASsBAqwA9wsddfXWW2+Z8EinTerC6nfddVfcACsZhY7M0rc36tscIwGWjqTq0qWL7NmzR1599VW58sorC5wmEqTpNEMNujQYW7hwoZnOqYvK6z+RwClysI4U07Br6tSp8v7776c8jZAAK1k1s/RzgoQswXLahAL0OzpImAUIsMJcfe4dAQQQQACBUAkEJsDat2+f/OlPf5J169bJl19+mVfECy64QBo1amTWv6pSpUqoFm6P7cmZBlhffPGFdOzYUXRaoC7yriO1ItMO9VrxRkpZXVeDrAcffDDfqKzY9saO9krlk0mAlYqWg/sSJDiIyalsC9DvbFOxYwAFCLACWFRuCQEEEEAAAQSsBHwfYH377bdmjaTJkyeLLlYeb4tMoxs8eLBoqBXGLZMASxdkVzt11jcZ6mLuulC7nXNa7WMnnLKzT7w6EmC51MMJElyCD/ll6Xch7wAhv30CrJB3AG4fAQQQQACB8Aj4OsD6+uuvzdvvXn/9ddsVa9WqlZmWdtFFF9k+Jig72gmbrO5Vwyt9M6H+E+tn55xuBlj6RkO2whOoXad24V0s6kqbP9qc77q1N9dxpx216W9uwNPv6Hdu9DuvXJPvO69UgnYggAAC/heoXdudv8v7X447KCwB3wZYukaSjgiaOHGisapRo4YJs371q1+Zt+1Ftl27dsmaNWtkxowZZrSQbn379jWjtqwWKS8seDeuYydsim2XjnDTda905FWLFi3MguvRC6rbOScBlhvVdueaBAkECW70PPod/c6NfueVaxJgeaUStAMBBBDwvwABlv9rGPQ78G2AtXbtWrnjjjvMtEFdRFwDKX27Xrxt7969JvCaPXu2eePd0qVLpXHjxkGvb777sxM2RR+g61vpQupqdeedd5oF2C+99NJ859T1xvRthLrNnTtXLrnkkgKmkevqGmTqX758eTMKrnfv3jJlyhQTPFptkSmECxYsMIvPp7KFcQrh51+flfkbfpBNn5+R46dyU+GyvW+ZkudInR8XkY43FpOfXJRT8Dimctm2ZEcHBeh3DmJyqpQEtojIcyKyQkSOpHSk/Z3PF5HmIvKwiNSyOIwphPYt2RMBBBBAAAEEfC3gywBL34anazBpwHHttdeaN9rpCKxkWyRI2bZtmzzyyCPm+CJFiiQ7LDA/TyXA2rBhg9x3332iVv369ZMRI0aY4C924y2E3ugeGl71n3lcTp4unPaUKCoyvmupgiEWQULhFICr5Beg39Ej3BDQ8Kr+/w+WjhfSxUuJyHqLEIsAq5AKwGUQQAABBBBAwG0BXwZYOuqqT58+ZjSPjhAaNWqUFC9ePKnlqVOnZMiQIWYkkY7a0ulwVqFM0hP5dAc7AVZubq68/fbbcu+994pOH9TgqmfPnlKiRAnLu442XbVqlTRt2rTAfpHRVi+88IKpl26bN2+Wli1bSpMmTSzrEBnZpeeP93bDRGUI2wis4ctOyjv/KKT06n/hG/2sqDzeOqZfECT49NvB582m3/m8gD5tfgcRWVjIbdfByAtirkmAVchF4HIIIIAAAggg4JaALwOsAwcOmGlrK1eulKefftqs0WR3i0xLa968uZnyVqFCBbuH+n4/OwHWunXrpGvXrmZq5oQJE6RDhw6Sk2MxVSxKY8mSJdK2bVvp37+/mcoZHXYdOnTIjOBavXq1LFu2TOrWrWuO1JFb3bt3l40bN+b775HTahjWrl076datW4Fz2ilE2AKs235/LGvTBhN5rx16bv4f/z/23gXKiurM239tQSSKfNgh8YZEZwiai8KIaGJCx4B0JpGJBoNoQ5SgICooOhIiAwSIYHAAg6LC4P8TsQVvSBKYsb3EaCRClCBmzRCWiQHGKIYgI4jI/fu/ezh4zqG7T52qOrt21X7OWiwDXbUvz/tLceph1y5EQpB4ckzcBMhd3ERpLwgBXZRcqccGm+u/+AlxBFaQanEMBCAAAQhAAAIZIIDAQmAdjPGmTZvMflS66b3uTXXZZZdJTgQ1l/X883R124ABA4zE0rcX3nHHHeZxT21Xf5a/cb7ubaWru3r06CEzZ86UU089VXQFmL45UKXXhg0bRI/Rn5f78U1g9Zy8vVxEsRyPwCrCOKQye4/FUqwsN4LAynJ13Z0buXO3NowMAhCAAAQgAIFMEkilwPrwww/lhhtukLlz5zYqRpqqlL65UB9h00farrrqKvnpT38qn/jEJzJZ2MYmVWoFlq5IU/kU5PPQQw8d3Lxdj8/fM0v3I+vQoYO88cYbohvB9+7d27wtslOnTgVNq+CaPHmy+aWPcnbp0kV2795tVmXp7/XPdaP3Fi1aBBlSwTEIrLKRhToBgYXAChWcuE9CJMRNlPaCECB3QShxDAQgAAEIQAACEIiNQCoFls5eV/PcdNNN0rFjR3n88celW7duJaHoyh59LE2lij5KOGbMmEArjEo2nJIDmhNY+XtZBZlOscDSc9atW2ceO1y6dKloX127dpV+/fqZRwXbt2/faLM7d+6UJUuWGBm5bNkyadmypXk7pG4gX1NTU/LxxabGisAKUsXoxyCwEFjRUxRDC4iEGCDSRNkEyF3ZyDgBAhCAAAQgAAEIRCGQWoGVL6N0hY+upjrttNMaZaGPpemm4TfeeKORJOVIryhwOTc5AggsO+wRWAgsO0kr0QsiwYkyeDcIcuddyZkwBCAAAQhAAALJEkitwNqzZ49MmzbNvFVQP/rI2YUXXmh+nXDCCQep6tvsdIWP/tKNyfWjby28+eabQz2almy56D0oAQRWUFLRjkNgIbCiJSimsxEJMYGkmbIIkLuycHEwBCAAAQhAAAIQiEogtQJLJ657KOljgLr6KuhH98667bbb5Kijit6eFrQBjksFAQSWnTIhsBBYdpJWohdEghNl8G4Q5M67kjNhCEAAAhCAAASSJZBqgaXodA+lJ554QiZOnGj2XWrqoxuLjxs3Tvr27WvekMcn2wQQWHbqi8BCYNlJGgKrWQK8/TKZGCKwkuFOrxCAAAQgAAEIeEsg9QIrVzndhPz3v/+9rFixQvSxwf/8z/+Uz3/+8+ZxwnPOOUe++MUvyhFHHHGw0H/961/NY4etW7f2tvhZnjgCy051EVgILDtJQ2AhsJxIWuEgEFgOFoUhQQACEIAABCCQZQKZEVhBi6Qbuv/mN78xb8ubNWuWVFdXBz2V41JEAIFlp1gILASWnaQhsBBYTiQNgZVPgJV/DoaSIUEAAhCAAASyTcArgbVv3z7zuOEtt9xi3lhYX1+PwMpovhFYdgqLwEJg2UkaAguB5UTSEFgILAeDyJAgAAEIQAAC/hBIpcDSxwV1A/e2bdtKVVVVoGrpXlm62fuPf/xj8zbC2tpaBFYgcuk8CIFlp24ILASWnaQhsBBYTiQNgYXAcjCIDAkCEIAABCDgD4HUCKwdO3bIvHnz5IEHHjD7XOU+PXv2lGHDhsmFF17Y5Obs7733nowdO1buueeeg+ddddVVMmPGDDn66KP9qbZHM0Vg2Sk2AguBZSdpCCwElhNJQ2AhsBwMIkOCAAQgAAEI+EMgFQJr06ZNcvPNN8v8+fObrMzAgQNl2rRp0r59+4Jj1q9fL9ddd50sXbrU/Llu3D5q1CjTHhu4ZzfoCCw7tUVgIbDsJA2BhcByImkILASWg0FkSBCAAAQgAAF/CDgvsPTRvzFjxhg5Vepz7bXXytSpU+Woo44yh7788stmddbq1avN7zt27Ch33HGH9O3bN/Cjh6X65OduEkBg2akLAguBZSdpCCwElhNJQ2AhsBwMIkOCAAQgAAEI+EPAeYH129/+Vi666CJ555135Nhjj5XRo0fLZZddZlZP6absr7/+utx5552yZMkSU7U5c+bI97//fVm0aJHZrF1XYOnnzDPPNG8d/PKXvyw5ueFPmf2bKQLLTs0RWAgsO0lDYCGwnEgaAguB5WAQGRIEIAABCEDAHwLOC6wpU6bIrbfeah79u++++4y8KhZQuj+Wrrz60Y9+JF/96lflS1/6ktx7771ms3b9XHzxxWa/K12BxccPAggsO3VGYCGw7CQNgYXAciJpCCwEloNBZEgQgAAEIAABfwg4LbBUTI0cOVJmz55tJNT9998v7dq1a7Q6b731llx++eXy61//uuDnumIrJ8D8KSszRWDZyQACC4FlJ2kILASWE0lDYCGwHAwiQ4IABCAAAQj4Q8BpgbVlyxbRzdl1A/bx48ebX009/rdr1y7zeKGutNKPrti67bbbZMiQIU2+ndCfMvs3UwSWnZojsBBYdpKGwEJgOZE0BBYCy8EgMiQIQAACEICAPwScFlibN2+Wuro6aWhokIkTJ8rYsWObrcykSZNk3Lhx5lFBfYTwG9/4Bvtd+ZPlgpkisOwUHoGFwLKTNAQWAsuJpCGwEFgOBpEhQQACEIAABPwhkEmBVVtbK/X19VJdXe1PJZkpAiuBDCCwEFgJxO7QLg9LaBT7i/qdk9BAhhQPJCEevnWbULmF3PmWNOYLAQhAAAIQgMABAggsopBJAqzAslNWBBYCy07SSvSCSHCiDN4Ngtx5V3ImDAEIQAACEIBAsgQQWMnyp/cKEUBgVQhsUbMILASWnaQhsJolwAqsZGKIwEqGO71CAAIQgAAEIOAtgdQIrG9+85vSo0ePZgv14osvyr//+7/L6aefLv369ZPWrVs3eXzbtm1lwIABcvTRR3tb/CxPHIFlp7oILASWnaQhsBBYTiStcBAILAeLwpAgAAEIQAACEMgygdQIrLiLwD5ZcRN1qz0Elp16ILAQWHaShsBCYDmRNARWPgFW/jkYSoYEAQhAAAIQyDYBBBYbvWcy4QgsO2VFYCGw7CQNgYXAciJpCCwEloNBZEgQgAAEIAABfwg4LbB27twpq1atko8++ij2ihx55JHStWtXadWqVext02DyBBBYdmqAwEJg2UkaAguB5UTSEFgILAeDyJAgAAEIQAAC/hBwWmD5UwZmGjcBBFbcRBtvD4GFwLKTNAQWAsuJpCGwEFgOBpEhQQACEIAABPwhgMDyp9ZezRSBZafcCCwElp2kIbAQWE4kDYGFwHIwiAwJAhCAAAQg4A8BBJY/tfZqpggsO+VGYCGw7CQNgYXAciJpCCwEloNBZEgQgAAEIAABfwggsPyptVczRWDZKTcCC4FlJ2kILASWE0lDYCGwHAwiQ4IABCAAAQj4QwCB5U+tvZopAstOuRFYCCw7SUNgIbCcSBoCC4HlYBAZEgQgAAEIQMAfAggsf2rt1UwRWHbKjcBCYNlJGgILgeVE0hBYCCwHg8iQIAABCEAAAv4QQGD5U2uvZorAslNuBBYCy07SEFgILCeShsBCYDkYRIYEAQhAAAIQ8IcAAsufWns1UwSWnXIjsBBYdpKGwEJgOZE0BBYCy8EgMiQIQAACEICAPwQQWP7U2quZIrDslBuBhcCykzQEFgLLiaQhsBBYDgaRIUEAAhCAAAT8IYDA8qfWXs0UgWWn3AgsBJadpCGwEFhOJA2BhcByMIgMCQIQgAAEIOAPAWcF1t69e+XJJ5+UP/3pT9K2bVsZMGCAHH300f5UhplGIoDAioQv8MkILARW4LBU8sDDKtl4M23vL/rZnIQGMqR4IAnx8K3bhMot5M63pDFfCEAAAhCAAAQOEHBWYO3YsUNGjhwps2fPNv+9/fbb5YgjjjDD3rlzp6xatUo++ugj+cIXviCf/OQnKSgECgggsOwEAoGFwLKTtBK9IBKcKIN3gyB33pWcCUMAAhCAAAQgkCwBZwXW5s2bpa6uThoaGmTixIkyduzYg6Tyf/bSSy/JeeedlyxFeneOAALLTkkQWAgsO0lDYDVLgBVYycQQgZUMd3qFAAQgAAEIQMBbAggsb0uf7YkjsOzUF4GFwLKTNAQWAsuJpBUOAoHlYFEYEgQgAAEIQAACWSbgrMDasmWLDBw4UJYuXXrII4SswMpyJOOZGwIrHo6lWkFgIbBKZcTKzxEJVjDTSREBckckIAABCEAAAhCAgFUCzgqsXbt2yejRo2XGjBly5plnyvz58+WLX/yigYPAspqRVHaGwLJTNgQWAstO0kr0gkhwogzeDYLceVdyJgwBCEAAAhCAQLIEnBVYiuW5556Tiy++WLZt2ybHHnusfPe735UzzjhDTjjhBLOp+4oVK+T666+Xk046qWyKvNmwbGSpOgGBZadcCCwElp2kIbCaJcAeWMnEEIGVDHd6hQAEIAABCEDAWwJOC6w9e/bItGnTzEqsuD+1tbVSX18v1dXVcTdNew4QQGDZKQICC4FlJ2kILASWE0krHAQCy8GiMCQIQAACEIAABLJMwGmBpeBVYv385z83K65eeeWV2GqBwIoNpZMNIbDslAWBhcCykzQEFgLLiaQhsPIJsPLPwVAmNKTNq0Re+4nIhqUiuz+ozCBa/R+Rk2pFuvxApLprZfqg1XQRIHfpqhejhUBMBJwXWLl57tu3T3Rj9zfffFM2btwot912m3mE8J577pHTTz+9bBxHHnmkdO3aVVq1alX2uZzgPgEElp0aIbAQWHaShsBCYDmRNAQWAsvBICY8JJUIPztPZM8OOwNp0Vrk28uQWHZou9sLuXO3NowMAhUmkBqBlc+BTdwrnIoMNI/AslNEBBYCy07SEFgILCeShsBCYDkYxISH9Fx/kT89YncQf3epSM+FdvukN7cIkDu36sFoIGCRQCoF1s6dO2XVqlXy0UcfyRe+8AX55Cc/aREZXaWBAALLTpUQWAgsO0lDYCGwnEgaAguB5WAQEx7S/21TuccGm5saj7AmXPiEuyd3CReA7iGQHIFUCqzmcH3wwQeigiv3adGihRxzzDGSExrJoaZnmwQQWHZoI7AQWHaShsBCYDmRNAQWAsvBICY8pDkJvc0AgZVw4RPuntwlXAC6h0ByBDIhsPSRwgULFsicOXPk97///SE0O3fuLFdeeaUMHjxY2rdvnxxterZGAIFlBzUCC4FlJ2kILASWE0lDYCGwHAxiwkNCJCRcAE+7J3eeFp5pQ0Ak1QJr//790tDQIDfeeKOsXbu2ZD1VZN15552ibyBkRVZJXKk+AIFlp3wILASWnaQhsBBYTiQNgYXAcjCICQ8JkZBwATztntx5WnimDYGUC6wXXnhBrrjiClm/fv3BWuqbBfNXWenP8uVWx44dZd68eVJTU0P9M0wAgWWnuAgsBJadpCGwEFhOJA2BhcByMIgJDwmRkHABPO2e3HlaeKYNgRQLrL/85S8ycOBAef7556VNmzZy7bXXyg033CDHH398QV11ldbbb78td911l9xzzz2ybds2Of/882X+/Ply4oknkoGMEkBg2SksAguBZSdpCCwElhNJQ2AhsBwMYsJDQiQkXABPuyd3nhaeaUMgxQKrvr5eBgwYYGr4wAMPGJlVVVXVZE337dtnpJXuhaWfuXPnmj2x+GSTAALLTl0RWAgsO0lDYCGwnEgaAguB5WAQEx4SIiHhAnjaPbnztPBMGwIpFVgfffSR3HzzzWZF1cUXXyz333+/tGvXrmQ9t2zZYqTVk08+aVZsTZs2TY488siS53FA+gggsOzUDIGFwLKTNAQWAsuJpCGwEFgOBjHhISESEi6Ap92TO08Lz7QhkFKBpSJKV1wtXbpUxo8fb34F2ZRdHyecMGGC+fWtb33LrMgKIr4ISvoIILDs1AyBhcCykzQEFgLLiaQhsBBYDgYx4SEhEhIugKfdkztPC8+0IZBSgbV582apq6szbyCcOHGijB07NnAtJ02aJOPGjTNvItTHEKurqwOfy4HpIYDAslMrBBYCy07SEFgILCeShsBCYDkYxISHhEhIuACedk/uPC0804ZASgUWK7CIbikCCKxShOL5OQILgRVPkiK2cljE88Oevr/oRL5QhyWZzvPIXTrrxqjjJcB1L16etBaMALkLxomjIJBBAoft1+fqUvbZtWuXjB49WmbMmMEeWCmrna3hIrDskEZgIbDsJK1EL4gEJ8rg3SDInXclZ8KNEEAkEIskCJC7JKjTJwScIJBKgaXk8t9CqHtZ6SOFze2DxVsIncibtUEgsOygRmAhsOwkDYHVLIEhqft3KCdiE3kQCKzICGkgAwQQCRkoYgqnQO5SWDSGDIF4CKRWYP3lL38xG7k///zz0qZNGxkzZowMGjRIPvWpTx1C5p133pGf/vSn5q2F27Ztk/PPP99s4H7iiSfGQ5FWnCOAwLJTEgQWAstO0hBYCCwnklY4CASWg0VhSNYJIBKsI6dDESF3xAAC3hJIrcDSir3wwgtyxRVXyPr16w8WsGvXrtK+ffuDv9+0aZOsWrXq4O87duwo8+bNk5qaGm+L7sPEEVh2qozAQmDZSRoCC4HlRNIQWPkEWPnnYCgTGBIiIQHodInAIgMQ8JdAqgWWbt+lbyK88cYbZe3atSWr2LlzZ7nzzjvNGwibe9ywZEMc4DwBBJadEiGwEFh2kobAQmA5kTQEFgLLwSAmPCQEVsIF8LR7cudp4Zk2BFL6FsLiwukqq/vvv18eeOCBRkWWiqsrr7xSBg8eXLA6iwBklwACy05tEVgILDtJQ2AhsJxIGgILgeVgEBMeEiIh4QJ42j2587TwTBsCGRFYuULqiqytW7eafa42bNggJ598stkf65hjjmHFlWdpR2DZKTgCC4FlJ2kILASWE0lDYCGwHAxiwkNCJCRcAE+7J3eeFp5pQyBjAouCQiBHAIFlJwsILASWnaQhsBBYTiQNgYXAcjCICQ8JkZBwATztntx5WnimDQEEFhnIKAEElp3CIrAQWHaShsBCYDmRNAQWAsvBICY8JERCwgXwtHty52nhmTYEEFhkIKMEEFh2CovAQmDZSRoCC4HlRNIQWAgsB4OY8JAQCQkXwNPuyZ2nhWfaEEBgkYGMEkBg2SksAguB9cd398mCl3fLij/ulR279lckeEcfeZh0O/VwuexLLeXvP111aB+HVaTb0o0WT5cv1KWZZekIcpelajKXsAS47oUlx3lRCJC7KPQ4FwKpJnDYft35nA8EMkYAgWWnoAgsvwWWyqsR83bIzj128taqhcjMK1ofKrEQCXYKQC+FBMgdiYCACCKBFCRBgNwlQZ0+IeAEAQSWE2VgEHETQGDFTbTx9hBYfgusSYt3yq/+y5K9OoD6a59rIWMvaoVIyCcwhH+HsnPFK+oFgZUIdjp1jAAiwbGCeDIccudJoZkmBA4lgMAiFZkkgMCyU1YElt8C68J//bBijw02l2By53fu7FzdAvSCwAoAiUMyTwCRkPkSOzlBcudkWRgUBGwQQGDZoEyNIja3AAAgAElEQVQf1gkgsOwgRyT4LRJ6Tt5uJ2hFvZA7v3OXSOga6xSB5UwpGEiCBBAJCcL3uGty53HxmbrvBBBYvicgo/NHYNkpLCLBb5GAwCqqP1+o7Vx4XOkFgeVKJRhHkgS47iVJ39++yZ2/tWfm3hNAYHkfgWwCQGDZqSsCC4FlJ2mFvZA7v3OXROYa7ROB5UwpGEiCBBAJCcL3uGty53HxmbrvBFIpsD744AN56KGH5P3335e2bdvKgAED5Oijj/a9lsw/jwACy04cEAl+iwRWYBXVny/Udi48rvSCwHKlEowjSQJc95Kk72/f5M7f2jNz7wmkUmBt3rxZ6urqpKGhQWpra6W+vl6qq6u9LyYAPiaAwLKTBgQWAstO0gp7IXd+5y6JzDXaJwLLmVIwkAQJIBIShO9x1+TO4+Izdd8JpFJgbdu2Ta677jqZP38+Asv3BDcxfwSWnWAgEvwWCazAKqo/X6jtXHhc6QWB5UolGEeSBLjuJUnf377Jnb+1Z+beE0ilwNq/f7/MmDFDbr75ZjnzzDPlkUcekc6dO3tfTAB8TACBZScNCCwElp2kFfZC7vzOnc7+j+/ukwUv75YVf9wrO3btr0gMjz7yMOl26uFy2Zdayt9/uurQPhBYFeFOoykjgEhIWcEyMlxyl5FCMg0IlE8glQJLp7lu3Tqz99WyZcvkiSeekO985zvlz54zMksAgWWntIgEv0UCK7CK6s8XaisXHpVXI+btkJ17rHQnrVqIzLyi9aESC4FlpwD04jYBrntu1yeroyN3Wa0s84JASQKpFVg6s4ULF8qQIUOkR48eMnfuXDnuuONKTpgD/CCAwLJTZwQWAstO0gp7IXd+527S4p3yq/+yZK8OoP7a51rI2ItaFYJHYCXxf3/6dI0AIsG1ivgxHnLnR52ZJQQaIZBKgbVv3z7zBsJdu3aZRwl/8pOfyLBhw+Rf/uVfpFWroi+YTZS9qqrKvMFQ/8unkIDyfeGFF2TmzJny3HPPie451rNnTxk8eLBcdNFF0rp160aR6aq4u+66S5YuXSpr166Vrl27Sr9+/cx57du3b/ScnTt3ypIlS4yA1NV0LVu2NH1pPWtqakLXB4FlJ9WIBL9FAiuwiurPF2orF54L//XDij022NwEuN75fb2zEu40dsJ1L41VS/+YyV36a8gMIBCSQCoFVv5bCEPOm83fmwC3Z88emTZtmowePdocce655xphtXr1annvvfdk4MCB5ufFQuq1116Ta665RlasWGH2I+vQoYO88cYbsn79eundu7fcfffd0qlTp4JeVV5NnTpVxo0bJ23atJEuXbrI7t27Zfny5eb3kydPNm22aNGi7DIjsMpGFuoEbuj8vqFDYCGwQl04Ip5E7shdxAhxepwEEAlx0qStoATIXVBSHAeBzBFAYFVXZ66oUSakK64uvvhi+dznPmdWU3Xr1k1UBm3cuFFGjRpl3vx45513yogRI8yf62fTpk0ydOhQefbZZ82KuCuuuMJIp+3bt8sdd9whEyZMkOuvv97IqvzVW/mPgM6aNUs6duwoukH/q6++KsOHDzd91tfXy3nnnVf2lBBYZSMLdQICC4EVKjgRTyJ35C5ihEKdTu78zl2o0PhwEiLBhyq7N0dy515NGBEELBFIpcD64IMP5KGHHjKPEYb96OODugn80UcfHbaJzJ23d+9eGTt2rEyZMqXRjfFXrVoll156qXz2s581Iqtdu3aGwaJFi6Rv375Gaqmkyn+Mc+vWrUZGPfPMM7J48WLp3r27OWfLli3m0UJdbZX/5zmoTz/9tFxyySUyaNCgQ9oMAh6BFYRS9GO4ofP7ho6VMEX15wt19ItKgBbIHbkLEBMOsUWA654t0vSTT4DckQcIeEsglQLL22pVeOI7duyQkSNHyuzZs+Wll146ZOXTW2+9JZdffrnZe+zhhx+WU0891fxvfdxQV16pdLrgggsOGeWDDz5oVmVNnz7dtK+flStXSp8+faRXr16iq6/0kcH8j67q0r4+/PBD05euzirng8Aqh1b4YxFYCKzw6Ql/Jrkjd+HTE/5Mcud37sInJ+NnIhIyXmBHp0fuHC0Mw4JA5QkgsCrPODU96ON7t912m1mFdc8995j9p3IiSCfx29/+1mziro/06abruopNV1LpvlgbNmyQRx99VE477bRD5qubs3/lK18xjxmq6NLHCB955BHp37+/jB8/3vzK70cbKCXTSkFFYJUiFM/PuaHz+4aOlTBF9ecLdTwXlhKtkDtyZyVodBKMANe9YJw4Kl4C5C5enrQGgRQRyIzA0s3Hdc+kP//5z6KPwh155JHmLXhB30qYoppVdKhr1qwxj+0pS30L4Te+8Q2zn9Xvfvc7GTNmjLz88ssyZ84cI5/0o5u060op/TS1UkrfSKiPHh533HFmT6vq6mojsm666aaCVVnFE5s0aZLZ4F0fF62rqytr3gissnCFPhiBhcAKHZ4IJ5I7chchPqFPJXd+5y50cLJ+IiIh6xV2c37kzs26MCoIWCCQeoGlb8a77777jFRRmZL71NbWHpQlxW/W08fYbr/9djniiCMsIE5fF+vWrZNbb71VFixYUDD4s88+23A7//zzD66YakxOFc+4sWOCyKkgxzRFF4FlJ3fc0Pl9Q8dKmKL684XayoWH3JE7K0Gjk2AEuO4F48RR8RIgd/HypDUIpIhAqgXWG2+8Yd5up3svFX/yBZb+TB9100fYHnvsMTnnnHOMnDnllFNSVCo7Q922bZt5c6DuS7V7927p0qWLWYG1evVqUVn4ve99T3784x9Lhw4dzIAQWHbqUqoXbui4oSuVkUr8nNyRu0rkqlSb5I7clcoIP7dIAJFgETZdHSRA7ggDBLwlkFqBlS+ktHpf/epXzeNu+njatGnTzAbjucfVctXNvdlOJU2Yx9KynhLdd2rUqFFy9913y9VXX232w2rfvr2Z9vbt2+Xee++ViRMnyte//nWz0funP/1p5wXWq6++mvWymfmNajh07zEbE59a+4eCbs7qdpaNbg/pY+WrKwvHsbJbMuM4y4+85eCSO3KXxP/RyB25SyJ3Lvb5ibWfkOPmHSdtX2orVR9WVWSIe9vsla1f2iobr9goH3b+8JA+zuLv24pwp9HmCZC7yiXkrLOS+S5fuRnRctYIpFZgLVq0SPr27WveXqf7KQ0YMMDsd9XciqC//e1vZsPxp556Sn74wx+KPqJ2+OGHZ62moeeT26T9H/7hH8wm7bpnVf5HH8XUDdcnT55sfj548GB5++23D+5PpcLwhBNOOKT/XE1OOukkmT9/vrRr184IMN0kXh//1JVxjX1yjxAuXLjQ7KFVzif3CCECqxxq5R+LwCpkthKBVX6IQpxB7shdiNhEPoXc+Z27yAGKuQGVV52/31mqdlZGXBUPd1+rfbL2/1t7iMRCJMRcWJoLRIDcBcIU6iAEVihsnGSRQCoF1q5du2T06NFGXF155ZVmxdBRRx1lsDUnsHRzd33D3pQpU+SSSy45+CY9i7yd7koFlIrApt4MqIN/5plnpHfv3pLbR0xXZvEWwuTLyiM1RTVgabmVUJI7cmclaEWdkDtyl0TunOtT36XziOVR6b8lLiR/lqnTXWME+J5HLiDgLYFUCix9fFClydKlS2XevHlmX6bcp9SeTLlVPcV7ZHmbgLyJlyOwrr32WvOoZlVV1UGZqI9oXnDBBYegzK22mj59uhFf+lm5cqX06dNHevXqZfbb0pV0+Z/cyi6VlU293bC5mrGJu51Es4l7Eech++2Ad6QXRAI3cklEkdyRuyRy51yf+rXpgwRGVfzXHCIhgSLQpZA7QgABbwmkUmBt3rzZPLbW0NBgNnDPlyYIrPBZzkml0047zTzqd+KJJxY0lv8IYb6Myj3OOWLECJk6dap5lDP32bp1qwwfPtys3Fq8eLF0797d/EglpD6CuHz58oI/z52X269s0KBBh7QZZIYIrCCUoh+DwEJgRU9R+S2QO3JXfmqin0Hu/M5d9ATF3MJhMbcXtDkEVlBSHFdJAgisStKlbQg4TSD1Aqt4f6SgjxDqCq7GVv44Xa0KD654E/cJEybI8ccfb3rVn+nG9zfffLOcccYZ5n9/5jOfMT/btGmT2cfq2WefLdiPTB8v1Dcaajv6c33ks3Xr1gdnobUbMmSI9OjRQ2bOnGk23t+/f7/ovlUqvTZs2CB6jP683A8Cq1xi4Y7nhs7vGzpWwhTVny/U4S4kZZ5F7shdmZHJ5uEIrGzWlVkFI8Dft8E4cRQEMkgglQLro48+MiLlnnvuMY+x6WNpOWERdBP33B5ORxxxRAbLGn5K7777rpFHjz32mHmsr0uXLmZF1RtvvCHr16+Xzp07y5w5cw6RSi+//LIMGzZMVq9ebY7p0KHDwXN0zyzdp6xTp04FA1PBpRvC669cX7t37zarsvT3+ue60XuLFi3KnhACq2xkoU5AYCGwQgUn4knkjtxFjFCo08md37kLFZpKnoTAqiRd2nadAALL9QoxPghUjEAqBZbSuP/+++Wqq66S8847r2A1UFMCS1f26B5PuvJKP7qCSB9D5HMoARVLP/vZz8xjhMuWLZNt27bJueeeK9/+9rfNY3/t27dvFNu6devkrrvuMnuTaR26du0q/fr1a/acnTt3ypIlS8yG+tpXy5YtpWfPnkaG1dTUmD22wnwQWGGolX8ON3R+39CxEqao/nyhLv8iEuIMckfuQsQme6cgsLJXU2YUnAB/3wZnxZEQyBiB1AoslSX6xjyVHldffbXcfvvtcuyxxzb6FkKVV88//7x8//vfN6uIiqVXxmrKdEQOrsjT2vvw4YaOG7okck7uyB25S4AAexAlAN3BLhFYDhaFIVkjgMCyhpqOIOAagdQKLBUTCxYsMI+Y6QqhL37xi2alzyc/+Umz55LKrDFjxohuPK6Pw+kqHz1OH02777775LLLLjsoOVwrCuOJToAVWNEZBmmBFVhFlHgLYZDYRD6G3JG7yCEK0QC58zt3ISJT2VMQWJXlS+tuE0BguV0fRgeBChJIrcBSJiqnVEbdeuutRk4F+ehKLd0/K8y+SkHa5xg3CCCw7NSBGzq/b+hYgVVUf75QW7nwkDtyZyVorneCwHK9QoyvkgT4+7aSdGkbAk4TSLXAUrK6EmvFihXyox/9SBoaGpqErSu09JiLLroo9L5KTleSwRUQQGDZCQQCC4FlJ2mFvZA7ckfu8ghwI5dEHJLvE4GVfA0YQXIEuO4lx56eIZAwgdQLrBy/ffv2yX//93+bPbH0v7mPPjKoG5CfccYZrLpKOGw2u0dg2aGNSEAk2EkaAqtZzjy6aiWGXO/8vt5ZCVk5nSCwyqHFsVkjgMDKWkWZDwQCE8iMwAo8Yw70ggACy06ZuaHz+4aOR7mK6s8XaisXHnJH7qwEzfVOEFiuV4jxVZIAf99Wki5tQ8BpApkRWLt27ZI//elP8uabb8qaNWtk79690qFDB+nUqZN89rOflbZt2zpdCAYXLwEEVrw8m2oNgYXAspO0wl7IHbkjd3kEuJFLIg7J94nASr4GjCA5Alz3kmNPzxBImEDqBdamTZtk9uzZMmPGDHnvvfcaxamPEV588cVy0003mUcJc3IjYfZ0X0ECCKwKws1rGpGASLCTNARWs5x5hNBKDLne+X29sxKycjpBYJVDi2OzRgCBlbWKMh8IBCaQaoG1cuVKue6668wm7kE+xx57rEyfPl3q6urYDysIsBQfg8CyUzxu6Py+oeNRrqL684XayoWH3JE7K0FzvRMElusVYnyVJMDft5WkS9sQcJpAagXWunXrZMCAAWbT9tynZ8+eUlNTI3/3d38nJ5xwgnmk8M9//rM8++yzByWXrsa677775LLLLmMlltPRjDY4BFY0fkHPRmAhsIJmJc7jyB25izNPQdsid37nLmhOrB2HwLKGmo4cJIDAcrAoDAkCdgikVmDpI4P6SKB+evfuLVOmTJGuXbs2KqX0DYXPPfec3HLLLbJ69Wo5/fTTZeHCheZxQj7ZJIDAslNXbuj8vqFjJUxR/flCbeXCQ+7InZWgud4JAsv1CjG+ShLg79tK0qVtCDhNIJUCa9u2bebRwfnz55clo375y1+aVVvvvPOOTJo0ScaMGcMqLKfjGX5wCKzw7Mo5E4GFwConL3EdS+7IXVxZKqcdcud37srJipVjEVhWMNOJowQQWI4WhmFBoPIEUimwNm/ebPaxamhokIEDB8qsWbNEHw0s9dm+fbtcf/318sADD5R1Xql2+bl7BBBYdmrCDZ3fN3SshCmqP1+orVx4yB25sxI01ztBYLleoeyOb5WI/ERElorIBxWa5v8RkVoR+YGIdG2kD/6+rRB4moWA+wRSL7CGDh1q3kDYunXrQLR15dW4ceOktrZW6uvrpbq6OtB5HJQuAggsO/VCYCGw7CStsBdyR+7IXR4BbuSSiEPyfSKwkq+BjyNQeXXe/y+WdliavN7e6XbHxRKL656lAtANBNwjkEqBtWvXLhk9erQRV+WswFL8CCz3QliJESGwKkH10DYRCYgEO0lDYDXLecj+JMqQWJ+swCpCz41cYllMtGMEVqL4ve28v4g8Ynn2l4rIQq57lqnTHQScJZBKgaU0Fy1aJH379jV7YD322GPy+c9/viTk/fv3y4QJE8yva6+9VqZNmyZHHnlkyfM4IH0EEFh2aobAQmDZSRoCC4H1MQEEFjdySVx3nOsTgeVcSbwYkO7YUqnHBpsDWPzvNIh7L+LGJCHQGIHUCqytW7fK8OHD5cEHH5TJkyfLqFGj5PDDD2+2yu+//75cddVV8vjjj8vcuXNl8ODBpCKjBBBYdgqLwEJg2UkaAguBhcA6SIAbuSQuO+71icByryY+jIjc+VBl5ggBpwmkVmAp1TVr1sigQYNk48aNMm/ePKmpqWkW9osvvij9+/eX0047zbzB8MQTT3S6OAwuPAEEVnh25ZyJwEJglZOXuI4ld+QuriyV0w658zt35WTFyrGIBCuY6aSIALkjEhCAQMIEnBVYW7ZsMauqNmzY0Cyi9evXy9q1a6Vz587SsWPHwMf26tXLrNw65phjEi4B3VeCAAKrElQPbZMbOr9v6HiUq6j+PNJg5cJD7sidlaC53gkiwfUKZXN85C6bdWVWEEgRAWcF1ubNm6Wurk4aGhoqgpO3EFYEqzONIrDslAKBhcCyk7TCXsgduSN3eQQQp0nEIfk+EQnJ18DHEZA7H6vOnCHgFAEEVnW1UwVhMPEQQGDFw7FUK4gEREKpjFTi5+SO3FUiV6XaJHd+565UPqz/HJFgHTkdigi5IwYQgEDCBJwVWAlzofuUE0Bg2SkgN3R+39DxKFdR/VkJY+XCQ+7InZWgud4JIsH1CmVzfOQum3VlVhBIEQEEVoqKxVCDE0BgBWcV5UgEFgIrSn7CnkvuyF3Y7EQ5j9z5nbso2anIuYiEimCl0RIEyB0RgQAEEiaAwEq4AHRfGQIIrMpwLW6VGzq/b+hYCVNUf1ZgWbnwkDtyZyVorneCSHC9QtkcH7nLZl2ZFQRSRACBlaJiMdTgBBBYwVlFORKBhcCKkp+w55I7chc2O1HOI3d+5y5KdipyLiKhIlhptAQBckdEIACBhAmkXmDt2bNHVq1aJS+99JLs2rUrMM62bdvKgAED5Oijjw58DgemhwACy06tuKHz+4aOlTBF9WcFlpULD7kjd1aC5noniATXK5TN8ZG7bNaVWUEgRQRSLbB+97vfyYgRI2TZsmVlI6+trZX6+nqp5i2EZbNLwwkILDtVQmAhsOwkrbAXckfuyF0eAcRpEnFIvk9EQvI18HEE5M7HqjNnCDhFILUCa82aNTJo0CBZsWJFKKAIrFDYUnMSAstOqRAJiAQ7SUNgNct5yP4kypBYn6zAKkKPwEosi4l2jEhIFL+3nZM7b0vPxCHgCoFUCqy9e/fKhAkTZNKkSYbj2WefbWTWF77wBTnllFOkdevWJflWVVWJPkao/+WTPQIILDs1RWAhsOwkDYGFwPqYAAILgZXEdce5PhEJzpXEiwGROy/KzCQh4DKBVAqs999/X6666ip5/PHH5cwzz5QFCxbI6aef7jJnxmaZAALLDnAEFgLLTtIQWAgsBNZBAsUL7liBlcRlKPk+EQnJ18DHEZA7H6vOnCHgFIFUCqzNmzdLXV2dNDQ0yNChQ2XGjBmBVl05RZ7BVJQAAquieA82jsBCYNlJGgILgYXAQmAlcbVxuE9EgsPFyfDQyF2Gi8vUIJAOAqkUWNu2bZPrrrtO5s+fj8BKR86sjxKBZQc5AguBZSdpCCwEFgILgZXE1cbhPhEJDhcnw0MjdxkuLlODQDoIpFJgKdq7775bhg8fLl/72tfM2wRPOOGEdBBnlFYIILCsYBYEFgLLTtIQWAgsBBYCK4mrjcN9IhIcLk6Gh0buMlxcpgaBdBBIrcDauHGj2Qdr6dKlMmfOHPO/c9IiHegZZSUJILAqSffjthFYCCw7SUNgIbAQWAisJK42DveJSHC4OBkeGrnLcHGZGgTSQSC1AkvxvvjiizJkyBD56KOPZN68eVJTU5MO6oyy4gQQWBVHbDpAYCGw7CQNgYXAQmAhsJK42jjcJyLB4eJkeGjkLsPFZWoQSAeBVAssRfzLX/5SBgwYIEcccYR06tRJqqqqApE/+eSTZerUqdKuXbtAx3NQugggsOzUC4GFwLKTNAQWAguBhcBK4mrjcJ+IBIeLk+GhkbsMF5epQSAdBFItsJYvXy4jRoyQV155pWzatbW1Zu+s6urqss/lBPcJILDs1AiBhcCykzQEFgILgYXASuJq43CfiASHi5PhoZG7DBeXqUEgHQRSK7Bef/116d+/v6xZsyYUaQRWKGypOQmBZadUCCwElp2kIbAQWAgsBFYSVxuH+0QkOFycDA+N3GW4uEwNAukgkEqBtXfvXpkwYYJMmjTJUFYZNXToUDn77LOldevWgcjro4Zt27YN/MhhoEY5yBkCCCw7pUBgIbDsJA2BhcBCYCGwkrjaONwnIsHh4mR4aOQuw8VlahBIB4FUCqz333/fvHXw8ccfl3POOUcWLFggp5xySjqIM0orBBBYVjCziXsx5iH77YB3pJeek7cnMhLEKeI0ieCRO79zl0Tmmu0TkeBcSbwYELnzosxMEgIuE0ilwNq8ebPU1dVJQ0ODWXk1Y8aMwCuvXC4GY4uPAAIrPpbNtcQNnd83dAisovrPSeibPeLUygWP653f1zsrISunk4QuN1L87zRc98qpWvqPJXfpryEzgEDKCaRSYG3btk2uu+46mT9/PgIr5QGs1PARWJUiW9guN3R+39AhsBBYdq40hb2QO3KXRO6c6xOR4FxJvBgQufOizEwSAi4TSKXAUqD333+/eYyQRwhdjldyY0Ng2WGPwEJg2Uka4rRZzqzAshJDrnd+X++shKycThAJ5dDi2LgIkLu4SNIOBCAQkkBqBdamTZvM6qsnn3xSpk6dKjfddJMcfvjhITFwWtYIILDsVJQbOr9v6FgJU1R/HqWxcuEhd+TOStBc7wSR4HqFsjk+cpfNujIrCKSIQGoFljJes2aNDBo0SDZu3Cjz5s2TmpqaFKFnqJUkgMCqJN2P20ZgIbDsJK2wF3JH7shdHgHEaRJxSL5PRELyNfBxBOTOx6ozZwg4RSCVAmvLli0yatQo2bBhg6xfv17Wrl0rHTt2lE6dOklVVVUgwCeffLJZudWuXbtAx3NQugggsOzUC5GASLCTNARWs5x5hNBKDLne+X29sxKycjpBJJRDi2PjIkDu4iJJOxCAQEgCqRRY+W8hDDlvqa2tlfr6eqmurg7bBOc5TACBZac43ND5fUPHo1xF9WcljJULD7kjd1aC5noniATXK5TN8ZG7bNaVWUEgRQQQWAisFMU1+FARWMFZRTkSgYXAipKfsOeSO3IXNjtRziN3fucuSnYqci4ioSJYabQEAXJHRCAAgYQJpFJgJcyM7lNAAIFlp0jc0Pl9Q8dKmKL6swLLyoWH3JE7K0FzvRNEgusVyub4yF0268qsIJAiAgisFBWLoQYngMAKzirKkQgsBFaU/IQ9l9yRu7DZiXIeufM7d1GyU5FzEQkVwUqjJQiQOyICAQgkTACBlXAB6L4yBBBYleFa3Co3dH7f0LESpqj+rMCycuEhd+TOStBc7wSR4HqFsjk+cpfNujIrCKSIAAIrRcViqMEJILCCs4pyJAILgRUlP2HPJXfkLmx2opxH7vzOXZTsVORcREJFsNJoCQLkjohAAAIJE0ilwNqyZYuMGjVKNmzYEBrfySefLFOnTpV27dqFboMT3SWAwLJTG27o/L6hYyVMUf1ZgWXlwkPuyJ2VoLneCSLB9Qplc3zkLpt1ZVYQSBGBVAqszZs3S11dnTQ0NIRGXVtbK/X19VLNWwhDM3T5RASWneogsBBYdpJW2Au5I3fkLo8A4jSJOCTfJyIh+Rr4OAJy52PVmTMEnCKAwEJgORXIuAaDwIqLZPPtIBIQCXaShsBqlvOQ/UmUIbE+WYFVhB6BlVgWE+0YkZAofm87J3felp6JQ8AVAqkUWPv27ZP3339f9L9BPnrcv/3bv8mYMWNkwIABctttt0mbNm2kbdu2UlVVFaQJjkkZAQSWnYIhsBBYdpKGwEJgfUwAgYXASuK641yfiATnSuLFgMidF2VmkhBwmUAqBVYYoLpv1tChQ+Wxxx6TO++8U0aMGCE5yRGmPc5xmwACy059EFgILDtJQ2AhsBBYBwkUL7hjBVYSl6Hk+0QkJF8DH0dA7nysOnOGgFMEvBFYSv3pp5+WSy65RE466SRZuHChnHHGGU4Vg8HERwCBFR/L5lpCYCGw7CQNgYXAQmAhsJK42jjcJyLB4eJkeGjkLsPFZWoQSAcBrwTW3/72Nxk4cKA89dRTMmnSJPNIIauw0hHUcs8Zc6oAACAASURBVEeJwCqXWLjjEVgIrHDJiXYWuSN30RIU7mxy53fuwqWmgmchEioIl6abJEDuCAcEIJAwAa8E1o4dO2TkyJEye/ZssxJr7ty5Zh8sPtkjgMCyU1Nu6Py+oWMvoqL68yiXlQsPuSN3VoLmeieIBNcrlM3xkbts1pVZQSBFBLwVWLW1tVJfXy/VvIUwRXENPlQEVnBWUY5EYCGwouQn7LnkjtyFzU6U88id37mLkp2KnItIqAhWGi1BgNwREQhAIGECXgmsP//5z3LZZZfJihUrWIGVcPAq3T0Cq9KE/7d9buj8vqFjJUxR/VmBZeXCQ+7InZWgud4JIsH1CmVzfOQum3VlVhBIEQEvBNaePXtkzZo1MmXKFFmwYIEpz9ixY2X8+PFy+OGHp6hcDDUoAQRWUFLRjkNgIbCiJSjc2eSO3IVLTrSzyJ3fuYuWngqcjUioAFSaLEmA3JVExAEQgEBlCaRSYG3evFnq6uqkoaEhFJ2OHTvK448/Lt26dQt1Pie5TwCBZadG3ND5fUPHSpii+rMCy8qFh9yROytBc70TRILrFcrm+MhdNuvKrCCQIgLeCSyVV9OnT5eLL76YNxCmKKjlDhWBVS6xcMcjsBBY4ZIT7SxyR+6iJSjc2eTO79yFS00Fz0IkVBAuTTdJgNwRDghAIGEC3gismpoa+eY3vyn9+/eXk08+OWHsdF9pAgisShP+3/a5ofP7ho6VMEX1ZwWWlQsPuSN3VoLmeieIBNcrlM3xkbts1pVZQSBFBFIpsFLEl6EmRACBZQc8AguBZSdphb2QO3JH7vIIIE6TiEPyfSISkq+BjyMgdz5WnTlDwCkCCCynysFg4iKAwIqLZPPtIBIQCXaShsBqlvOQ/UmUIbE+WYFVhB6BlVgWE+0YkZAofm87J3felp6JQ8AVAggsVyrBOGIlgMCKFWeTjSGwEFh2kobAQmB9TACBhcBK4rrjXJ+IBOdK4sWAyJ0XZWaSEHCZAALL5eowttAEEFih0ZV1IgILgVVWYGI6mNyRu5iiVFYz5M7v3JUVFhsHIxJsUKaPYgLkjkxAAAIJE3BaYG3ZskVGjRolGzZsiB2TbuQ+depUadeuXext02DyBBBYdmrADZ3fN3SshCmqP49yWbnwkDtyZyVorneCSHC9QtkcH7nLZl2ZFQRSRMBpgbV582apq6uThoaG2JHW1tZKfX29VFdXx942DSZPAIFlpwYILASWnaQV9kLuyB25yyOAOE0iDsn3iUhIvgY+joDc+Vh15gwBpwggsBBYTgUyrsEgsOIi2Xw7iAREgp2kIbCa5cwm7lZiyPXO7+udlZCV0wkioRxaHBsXAXIXF0nagQAEQhJwWmCFnFPBadu3b5dHH31UfvKTn8jatWsP/uy73/2uzJ49m0cI44DsYBsILDtF4YbO7xs6HuUqqj8rYaxceMgdubMSNNc7QSS4XqFsjo/cZbOuzAoCKSKQWYG1Y8cOefLJJ+X222+X3//+9wdLcvbZZ8v48eOlV69e0qpVqxSViqGWQwCBVQ6t8McisBBY4dMT/kxyR+7Cpyf8meTO79yFT06FzkQkVAgszTZLgNwREAhAIGECmRNYO3fulCVLlpgVV6+88kqBuPrBD34gF154IeIq4dDZ6B6BZYOyCDd0ft/QsRKmqP6swLJy4SF35M5K0FzvBJHgeoWyOT5yl826MisIpIhAZgRWU+Kqc+fOouKqX79+ctRRR6WoNAw1CgEEVhR6wc9FYCGwgqclviPJHbmLL03BWyJ3fucueFIsHYlIsASabgoIkDsCAQEIJEwg9QJLxdWzzz4rEyZMKFhxpeJq+PDhcuWVVyKuEg5ZEt0jsOxQ54bO7xs6VsIU1Z8VWFYuPOSO3FkJmuudIBJcr1A2x0fusllXZgWBFBFIrcDas2ePPP/88zJp0iT59a9/fRB5x44d5YYbbpDBgwfLMccck6JSuDtUZa17iY0dO1ZeeuklOe+88xod7Lp16+Suu+6SpUuXmg3zu3btala+aS3at2/f6Dm5lXNz586VZcuWScuWLaVnz54ybNgwqampkaqqqlBgEFihsJV9EgILgVV2aGI4gdyRuxhiVHYT5M7v3JUdmEqfgEioNGHab4wAuSMXEIBAwgRSJ7D27dsnL7zwgtnjqqGh4SC+Y489VkaOHClDhw5tUpYkzDq13f/sZz+TgQMHyrZt25oUWK+99ppcc801smLFCtHVbx06dJA33nhD1q9fL71795a7775bOnXqVMBA5dXUqVNl3Lhx0qZNG+nSpYvs3r1bli9fbn4/efJk02aLFi3KZofAKhtZqBO4ofP7ho6VMEX1ZwVWqOtIuSeRO3JXbmYyeTwiIZNldX5S5M75EjFACGSdQGoEloqr3/zmN0Zc6SbtuY+KK5Uc119/vRx//PFZr5f1+a1Zs0YGDRpkxJR+GluBtWnTJiMO9VHOGTNmyBVXXGGk0/bt2+WOO+4wj3dqfVRWtW7d+uAcFi5cKEOGDJEePXrIrFmzRFfP7d+/X1599VXz+OfGjRulvr6+yRVfzcFAYNmJCgILgWUnaYW9kDtyR+7yCCBOk4hD8n0iEpKvgY8jIHc+Vp05Q8ApAs4LLBVXv/vd78xqnCeffPIgPF2ho9JERcfJJ5/sFNSsDEYF1KhRo2TlypXSrl07eeqppxoVWIsWLZK+ffvKiBEjjKRq1arVQQRbt241NXrmmWdk8eLF0r17d/OzLVu2mEcLdbVV/p/nTnz66aflkksuMfKsuM0gfBFYQShFPwaRgEiInqLyWyB35K781EQ/g9z5nbvoCYq5BURCzEBpLhABchcIEwdBAAKVI+C0wPrggw/klltukfvuu69AXOkKn5tvvlk+85nPVI6M5y3rSijdl0o5z5kzxzwOqI/6Fa/A2rVrl4wePdqsvFLpdMEFFxxC7sEHHzSrsqZPn24e89SPSrE+ffpIr169zOorFZL5H13Vdfnll8uHH34oDz/8sFmdVc4HgVUOrfDHckPn9w0dj3IV1Z+VMOEvJmWcSe7IXRlxye6hiITs1tblmZE7l6vD2CDgBQGnBdbmzZulrq7u4F5X3/ve94wsOe200yQnKLyoUgKT1Mf4dAWU8tdHAKdMmdKowNKVVLo/1oYNG+TRRx81tSn+6ObsX/nKV8yKORVd+hjhI488Iv3795fx48ebX8X13LFjh5Fds2fPbnbj+KbQILDshAaBhcCyk7TCXsgduSN3eQQQp0nEIfk+EQnJ18DHEZA7H6vOnCHgFIFUCaw4ydXW1pr9laqrq+NsNhNtvfvuu0Y26dsHdRXWcccdZ9722NgKLN2kXVdK6aeplVL6RsJLL73UtJNjriLrpptuKliVVQwv1+dDDz1kRFo5HwRWObTCH4tIQCSET0/4M8kduQufnvBnkju/cxc+ORU6E5FQIbA02ywBckdAIACBhAkgsBBYBRFUaTVt2jS59957Zd68eVJTU2N+3pTAakxOFWe6sWOCyKkgxzT1/x8Elp0rCzd0ft/Q8ShXUf1ZCWPlwkPuyJ2VoLneCSLB9Qplc3zkLpt1ZVYQSBEBpwWWPp6mm4jr42lxf3Tjd90cXDcn5/Mxgdzm6WPGjDH7X+nbBNMssPRRSB8+oxoOfXTTxryn1v6hoJuzup1lo9tD+lj56srCcazslsw4zvIjbzm45I7cJfF/NHJH7pLInWt98vetX3/fupI/cpf93J11VjLf5V3JOONwn4DTAst9fNkaoW7UrvtZqdzTvafy5V5aV2AhsCqbUQRWId+VCKzKBu5A6+SO3FkJWlEn5M7v3CWRueb6RCRkXyS4ljkdD7nLfu4QWC7+P48x5RNAYJEHQ2D79u1mtdvzzz8vCxculDPOOKOATFMC6+233z64P5Xub3XCCSccQjT3COFJJ50k8+fPN2JMBdk111xj3jCp+2019sn1qePRPbTK+fAIYTm0wh/LI4RF7IbsDw8zhWfyKFdR0XiE0EqKyR25sxK0Zjr547v7ZMHLu2XFH/fKjl2Vue4ffeRh0u3Uw+WyL7WUv/901aGj4VGupGNgvX9yl4ecv2+t548OIeAKAQSWK5VIeBw5ybR69epAI5k4caKMHTtWeAthIFwVP4gbOm7oKh6yRjogd+SO3CVAoNiXcCNntQgqEUbM2yE799jptlULkZlXtD5UYiGw7BTAkV7IHX/fOhJFhgGBxAkgsBIvgRsDePPNN+WHP/yh/M///E+jA9K3DarkOvfcc+WYY46RCy+8UIYPHy67du2S0aNHi75VUPfPuuCCCw45P7faavr06TJy5Ejz85UrV0qfPn2kV69eMmvWLGnTpk3BebmVXdp+U283bI4cK7Ds5IoVWEWcWYFlJXjkjtxZCVpRJ+TO79zlZj9p8U751X9ZslcHOv3a51rI2ItaFRYAgZXEZSCxPskdAiux8NExBBwjgMByrCCuDqepRwh1vIsWLZK+ffvKiBEjzMb4rVp9/CVr69atRnQ988wzsnjxYunevbuZoq7cGjx4sCxfvrzgz3Pzz20mP2jQoEPaDMIIgRWEUvRjuKHz+4aOFVh8oY5+FSm/BXJH7spPTXxnXPivH1bsscHmRsnft37/fUvuuO7FdxWjJQikmwACK931szb65gTWpk2bzD5Wzz77rFmJNWDAACOxdF+tO+64QyZMmGB+rj9r3br1wTHr3lZDhgyRHj16yMyZM+XUU0+V/fv3i268rtJL3z6px+jPy/0gsMolFu54vlD7/YUakcAX6nBXjmhnkTtyFy1B0c4mf+QvWoLCnU3uyF245HAWBLJHAIGVvZpWZEbNCSzt8OWXX5Zhw4aJ7qHVuXNn6dChg+hbDfXRw969e8vdd98tnTp1KhibCq7JkyebX/oIYZcuXWT37t1mVZb+Xv9cN3pv0aJF2XNCYJWNLNQJCCwEVqjgRDyJ3JG7iBEKdTq58zt3udkjEhAJoS4gEU8id+QuYoQ4HQKZIYDAykwpKzuRUgJLe1+3bp3cddddsnTpUrNfVteuXaVfv37mUcH27ds3OsCdO3fKkiVLZO7cubJs2TJp2bKl9OzZ08iwmpoaqapq5M07AaaKwAoAKYZDuKHz+4aOL9R8oY7hMlJ2E+SO3JUdmhhPIH/kL8Y4BW6K3JG7wGHhQAhknAACK+MF9nV6CCw7lUdgIbDsJK2wF3JH7shdHgHeQmg1DogERILVwB3ojNyRuyRyR58QcJEAAsvFqjCmyAQQWJERBmoAkYBICBSUmA8id+Qu5kgFao7c+Z273OwRCYiEQBeMmA8id+Qu5kjRHARSSwCBldrSMfDmCCCw7OSDGzq/b+j4Qs0XajtXmsJeyB25SyJ3CKwDBPaTvyTyx3WP3CWRO/qEgIsEEFguVoUxRSaAwIqMMFADCCwEVqCgxHwQuSN3MUcqUHPkzu/cIbAQWIEuFBU6CIGFwKpQtGgWAqkjgMBKXckYcBACCKwglKIfww2d3zd0fKHmC3X0q0j5LZA7cld+auI7g/yRv/jSFLwlckfugqeFIyGQbQIIrGzX19vZIbDslB6BhcCyk7TCXsgduSN3eQTYxN1qHBAJiASrgTvQGbkjd0nkjj4h4CIBBJaLVWFMkQkgsCIjDNQAIgGRECgoMR9E7shdzJEK1By58zt3udkjEhAJgS4YMR9E7shdzJGiOQiklgACK7WlY+DNEUBg2ckHN3R+39DxhZov1HauNIW9kDtyl0TuEFgHCLCJeyLx47rHdS+R4NEpBBwkgMBysCgMKToBBFZ0hkFaQGAhsILkJO5jyB25iztTQdojd37nDoGFwApynajUMQgsBFalskW7EEgbAQRW2irGeAMRQGAFwhT5IG7o/L6h4ws1X6gjX0RCNEDuyF2I2MR2Cvkjf7GFqYyGyB25KyMuHAqBTBNAYGW6vP5ODoFlp/YILASWnaQV9kLuyB25yyPAJu5W44BIQCRYDdyBzsgduUsid/QJARcJILBcrApjikwAgRUZYaAGEAmIhEBBifkgckfuYo5UoObInd+5y80ekYBICHTBiPkgckfuYo4UzUEgtQQQWKktHQNvjgACy04+uKHz+4aOL9R8obZzpSnshdyRuyRyh8A6QIBN3BOJH9c9rnuJBI9OIeAgAQSWg0VhSNEJILCiMwzSAgILgRUkJ3EfQ+7IXdyZCtIeufM7dwgsBFaQ60SljkFgIbAqlS3ahUDaCCCw0lYxxhuIAAIrEKbIB3FD5/cNHV+o+UId+SISogFyR+5CxCa2U8gf+YstTGU0RO7IXRlx4VAIZJoAAivT5fV3cggsO7VHYCGw7CStsBdyR+7IXR4BNnG3GgdEAiLBauAOdEbuyF0SuaNPCLhIAIHlYlUYU2QCCKzICAM1gEhAJAQKSswHkTtyF3OkAjVH7vzOXW72iAREQqALRswHkTtyF3OkaA4CqSWAwEpt6Rh4cwQQWHbywQ2d3zd0fKHmC7WdK01hL+SO3CWROwTWAQJs4p5I/Ljucd1LJHh0CgEHCSCwHCwKQ4pOAIEVnWGQFhBYCKwgOYn7GHJH7uLOVJD2yJ3fuUNgIbCCXCcqdQwCC4FVqWzRLgTSRgCBlbaKMd5ABBBYgTBFPogbOr9v6PhCzRfqyBeREA2QO3IXIjaxnUL+yF9sYSqjIXJH7sqIC4dCINMEEFiZLq+/k0Ng2ak9AguBZSdphb2QO3JH7vIIsIm71TggEhAJVgN3oDNyR+6SyB19QsBFAggsF6vCmCITQGBFRhioAUQCIiFQUGI+iNyRu5gjFag5cud37nKzRyQgEgJdMGI+iNyRu5gjRXMQSC0BBFZqS8fAmyOAwLKTD27o/L6h4ws1X6jtXGkKeyF35C6J3CGwDhBgE/dE4sd1j+teIsGjUwg4SACB5WBRGFJ0Agis6AyDtIDAQmAFyUncx5A7chd3poK0R+78zh0CC4EV5DpRqWMQWAisSmWLdiGQNgIIrLRVjPEGIoDACoQp8kHc0Pl9Q8cXar5QR76IhGiA3JG7ELGJ7RTyR/5iC1MZDZE7cldGXDgUApkmgMDKdHn9nRwCy07tEVgILDtJK+yF3JE7cpdHgE3crcYBkYBIsBq4A52RO3KXRO7oEwIuEkBguVgVxhSZAAIrMsJADSASEAmBghLzQeSO3MUcqUDNkTu/c5ebPSIBkRDoghHzQeSO3MUcKZqDQGoJILBSWzoG3hwBBJadfHBD5/cNHV+o+UJt50pT2Au5I3dJ5A6BdYAAm7gnEj+ue1z3EgkenULAQQIILAeLwpCiE0BgRWcYpAUEFgIrSE7iPobckbu4MxWkPXLnd+4QWAisINeJSh2DwEJgVSpbtAuBtBFAYKWtYow3EAEEViBMkQ/ihs7vGzq+UPOFOvJFJEQD5I7chYhNbKeQP/IXW5jKaIjckbsy4sKhEMg0AQRWpsvr7+QQWHZqj8BCYNlJWmEv5I7ckbs8AmzibjUOiAREgtXAHeiM3JG7JHJHnxBwkQACy8WqMKbIBBBYkREGagCRgEgIFJSYDyJ35C7mSAVqjtz5nbvc7BEJiIRAF4yYDyJ35C7mSNEcBFJLAIGV2tIx8OYIILDs5IMbOr9v6PhCzRdqO1eawl7IHblLIncIrAME2MQ9kfhx3eO6l0jw6BQCDhJAYDlYFIYUnQACKzrDIC0gsBBYQXIS9zHkjtzFnakg7ZE7v3OHwEJgBblOVOoYBBYCq1LZol0IpI0AAittFWO8gQggsAJhinwQN3R+39DxhZov1JEvIiEaIHfkLkRsYjuF/JG/2MJURkPkjtyVERcOhUCmCSCwMl1efyeHwLJTewQWAstO0gp7IXfkjtzlEWATd6txQCQgEqwG7kBn5I7cJZE7+oSAiwQQWC5WhTFFJoDAiowwUAOIBERCoKDEfBC5I3cxRypQc+TO79zlZo9IQCQEumDEfBC5I3cxR4rmIJBaAgis1JaOgTdHAIFlJx/c0Pl9Q8cXar5Q27nSFPZC7shdErlDYB0gwCbuicSP6x7XvUSCR6cQcJAAAsvBojCk6AQQWNEZBmkBgYXACpKTuI8hd+Qu7kwFaY/c+Z07BBYCK8h1olLHILAQWJXKFu1CIG0EEFhpqxjjDUQAgRUIU+SDuKHz+4aOL9R8oY58EQnRALkjdyFiE9sp5I/8xRamMhoid+SujLhwKAQyTQCBleny+js5BJad2iOwEFh2klbYC7kjd+QujwCbuFuNAyIBkWA1cAc6I3fkLonc0ScEXCSAwHKxKowpMgEEVmSEgRpAJCASAgUl5oPIHbmLOVKBmiN3fucuN3tEAiIh0AUj5oPIHbmLOVI0B4HUEkBgpbZ0DLw5AggsO/nghs7vGzq+UPOF2s6VprAXckfuksgdAusAATZxTyR+XPe47iUSPDqFgIMEEFgOFoUhRSeAwIrOMEgLCCwEVpCcxH0MuSN3cWcqSHvkzu/cIbAQWEGuE5U6BoGFwKpUtmgXAmkjgMBKW8UYbyACCKxAmCIfxA2d3zd0fKHmC3Xki0iIBsgduQsRm9hOIX/kL7YwldEQuSN3ZcSFQyGQaQIIrEyX19/JIbDs1B6BhcCyk7TCXsgduSN3eQTYxN1qHBAJiASrgTvQGbkjd0nkjj4h4CIBBJaLVWFMkQkgsCIjDNQAIgGRECgoMR9E7shdzJEK1By58zt3udkjEhAJgS4YMR9E7shdzJGiOQiklgACK7WlY+DNEUBg2ckHN3R+39DxhZov1HauNIW9kDtyl0TuEFgHCLCJeyLx47rHdS+R4NEpBBwkgMBysCgMKToBBFZ0hkFaQGAhsILkJO5jyB25iztTQdojd37nDoGFwApynajUMQgsBFalskW7EEgbAQRW2irGeAMRQGAFwhT5IG7o/L6h4ws1X6gjX0RCNEDuyF2I2MR2Cvkjf7GFqYyGyB25KyMuHAqBTBNAYGW6vP5ODoFlp/YILASWnaQV9kLuyB25yyPAJu5W44BIQCRYDdyBzsgduUsid/QJARcJILBcrApjikwAgRUZYaAGEAmIhEBBifkgckfuYo5UoObInd+5y80ekYBICHTBiPkgckfuYo4UzUEgtQQQWKktHQNvjgACy04+uKHz+4aOL9R8obZzpSnshdyRuyRyh8A6QIBN3BOJH9c9rnuJBI9OIeAgAQSWg0VhSNEJILCiMwzSAgILgRUkJ3EfQ+7IXdyZCtIeufM7dwgsBFaQ60SljkFgIbAqlS3ahUDaCCCw0lYxxhuIAAIrEKbIB3FD5/cNHV+o+UId+SISogFyR+5CxCa2U8gf+YstTGU0RO7IXRlx4VAIZJoAAivT5fV3cggsO7VHYCGw7CStsBdyR+7IXR4BNnG3GgdEAiLBauAOdEbuyF0SuaNPCLhIAIHlYlUYU2QCCKzICAM1gEhAJAQKSswHkTtyF3OkAjVH7vzOXW72iAREQqALRswHkTtyF3OkaA4CqSWAwEpt6Rh4cwQQWHbywQ2d3zd0fKHmC7WdK01hL+SO3CWROwTWAQJs4p5I/Ljucd1LJHh0CgEHCSCwHCwKQ4pOAIEVnWGQFhBYCKwgOYn7GHJH7uLOVJD2yJ3fuUNgIbCCXCcqdQwCC4FVqWzRLgTSRgCBlbaKMd5ABBBYgTBFPogbOr9v6PhCzRfqyBeREA2QO3IXIjaxnUL+yF9sYSqjIXJH7sqIC4dCINMEEFiZLq+/k0Ng2ak9AguBZSdphb2QO3JH7vIIsIm71TggEhAJVgN3oDNyR+6SyB19QsBFAggsF6vCmCITQGBFRhioAUQCIiFQUGI+iNyRu5gjFag5cud37nKzRyQgEgJdMGI+iNyRu5gjRXMQSC0BBFZqS8fAmyOAwLKTD27o/L6h4ws1X6jtXGkKeyF35C6J3CGwDhBgE/dE4sd1j+teIsGjUwg4SACB5WBRGFJ0Agis6AyDtIDAQmAFyUncx5A7chd3poK0R+78zh0CC4EV5DpRqWMQWAisSmWLdiGQNgIIrLRVjPEGIoDACoQp8kHc0Pl9Q8cXar5QR76IhGiA3JG7ELGJ7RTyR/5iC1MZDZE7cldGXDgUApkmgMDKdHn9nRwCy07tEVgILDtJK+yF3JE7cpdHgE3crcYBkYBIsBq4A52RO3KXRO7oEwIuEkBguVgVxhSZAAIrMsJADSASEAmBghLzQeSO3MUcqUDNkTu/c5ebPSIBkRDoghHzQeSO3MUcKZqDQGoJILBSWzoG3hwBBJadfHBD5/cNHV+o+UJt50pT2Au5I3dJ5A6BdYAAm7gnEj+ue1z3EgkenULAQQIILAeLwpCiE0BgRWcYpAUEFgIrSE7iPobckbu4MxWkPXLnd+4QWAisINeJSh2DwEJgVSpbtAuBtBFAYKWtYow3EAEEViBMkQ/ihs7vGzq+UPOFOvJFJEQD5I7chYhNbKeQP/IXW5jKaIjckbsy4sKhEMg0AQRWpsvr7+QQWHZqj8BCYNlJWmEv5I7ckbs8AmzibjUOiAREgtXAHeiM3JG7JHJHnxBwkQACy8WqMKbIBBBYkREGagCRgEgIFJSYDyJ35C7mSAVqjtz5nbvc7BEJiIRAF4yYDyJ35C7mSNEcBFJLAIGV2tIx8OYIILDs5IMbOr9v6PhCzRdqO1eawl7IHblLIncIrAME2MQ9kfhx3eO6l0jw6BQCDhJAYDlYFIYUnQACKzrDIC0gsBBYQXIS9zHkjtzFnakg7ZE7v3OHwEJgBblOVOoYBBYCq1LZol0IpI0AAittFWO8gQggsAJhinwQN3R+39DxhZov1JEvIiEaIHfkLkRsYjuF/JG/2MJURkPkjtyVERcOhUCmCSCwMl1efyeHwLJTewQWAstO0gp7IXfkjtzlEWATd6txQCQgEqwG7kBn5I7cJZE7+oSAiwQQWC5WhTFFJoDAiowwUAOIBERCoKDEfBC5I3cxRypQc+TO79zlZo9IQCQEumDEfBC5YJ7N4QAAIABJREFUI3cxR4rmIJBaAgis1JaOgTdHAIFlJx/c0Pl9Q8cXar5Q27nSFPZC7shdErlDYB0gwCbuicSP6x7XvUSCR6cQcJAAAsvBovg0pJ07d8qSJUtk7ty5smzZMmnZsqX07NlThg0bJjU1NVJVVRUKBwIrFLayT0JgIbDKDk0MJ5A7chdDjMpugtz5nTsEFgKr7ItGjCcgsBBYMcaJpiCQagIIrFSXL92DV3k1depUGTdunLRp00a6dOkiu3fvluXLl5vfT548Wa655hpp0aJF2RNFYJWNLNQJ3ND5fUPHF2q+UIe6cEQ8idyRu4gRinQ6+SN/kQIU8mRyR+5CRofTIJA5AgiszJU0PRNauHChDBkyRHr06CGzZs2Sjh07yv79++XVV1+V4cOHy8aNG6W+vl7OO++8sieFwCobWagTEFgIrFDBiXgSuSN3ESMU6nRy53fucrNHJCASQl1AIp5E7shdxAhxOgQyQwCBlZlSpmsiW7ZskcGDB5vVVosXL5bu3bsXTODpp5+WSy65RAYNGmRWabVq1aqsCSKwysIV+mBu6Py+oeMLNV+oQ188IpxI7shdhPhEPpX8kb/IIQrRALkjdyFiwykQyCQBBFYmy+r+pFauXCl9+vSRXr16mdVX+shg/mfTpk1y+eWXy4cffigPP/ywWZ1VzgeBVQ6t8McisBBY4dMT/kxyR+7Cpyf8meTO79zlZo9IQCSEv4qEP5Pckbvw6eFMCGSLAAIrW/VMzWweeeQR6d+/v4wfP978ygmn3AR27NghI0eOlNmzZ8tLL71U9mOECCw7UeCGzu8bOr5Q84XazpWmsBdyR+6SyB0C6wAB3kKYSPy47nHdSyR4dAoBBwkgsBwsig9DmjFjhtx0000yffp0I6oa+0yaNMls8P7QQw9JXV1dWVgQWGXhCn0wAguBFTo8EU4kd+QuQnxCn0ru/M4dAguBFfriEcOJCCwEVgwxogkIZIIAAisTZUzfJILIqSDHNDVzBJadTHBD5/cNHV+o+UJt50pT2Au5I3dJ5A6BhcAidyJyWEIUWPmXEHi6hYB7BBBY7tXEixEFkVNBjkFg/S8Bbui4oUviwkHuyB25S4AAN3IJQP+4S657XPeSCCC5I3dJ5I4+IeAiAQSWi1XxYExB5FSQY0oJrLPOOssDmkwRAhCAAAQgAAEIQAACEIBANAKvvvpqtAY4GwIVJoDAqjBgmm+cgG7Ofs0118h9990nQ4cObfSgnMBauHChXHrppWWj7NatW9nncAIEIAABCEAAAhCAAAQgAAEfCSCwfKx6uuaMwEpXvTIz2kq/hTAzoJgIBCAAAQhAAAIQgAAEIAABCEAAAoLAIgSJEFi5cqX06dNHevXqJbNmzZI2bdoUjOPtt982bx7ctWuXPPzww9KxY8dExkmnEIAABCAAAQhAAAIQgAAEIAABCCRPAIGVfA28HMGWLVtk8ODBsnz5clm8eLF07969gMPTTz8tl1xyiQwaNEimTp0qrVq18pITk4YABCAAAQhAAAIQgAAEIAABCEBAWIFFCJIjoHtbDRkyRHr06CEzZ86UU089Vfbv3y/67PXw4cNlw4YNosfoz/lAAAIQgAAEIAABCEAAAhCAAAQg4C8BVmD5W/vEZ759+3aZPHmy+aWPEHbp0kV2795tVmXp7/XPdaP3Fi1aJD5WBgABCEAAAhCAAAQgAAEIQAACEIBAcgQQWMmxp2cR2blzpyxZskTmzp0ry5Ytk5YtW0rPnj1l2LBhUlNTI1VVVXCCAAQgAAEIQAACEIAABCAAAQhAwHMCCCzPA8D0IQABCEAAAhCAAAQgAAEIQAACEICA6wQQWK5XiPFBAAIQgAAEIAABCEAAAhCAAAQgAAHPCSCwPA8A04cABCAAAQhAAAIQgAAEIAABCEAAAq4TQGC5XiHGBwEIQAACEIAABCAAAQhAAAIQgAAEPCeAwPI8AEwfAhCAAAQgAAEIQAACEIAABCAAAQi4TgCB5XqFGB8EIAABCEAAAhCAAAQgAAEIQAACEPCcAALL8wAwfQhAAAIQgAAEIAABCEAAAhCAAAQg4DoBBJbrFWJ8EEghgb1798rYsWNlypQpTY5+6NChMmPGDGnduvXBY/bt2ycvvPCC3HvvvfLcc8/J7t275bzzzpOrrrpKLrzwQmnVqlUKaTDkShPYs2ePjB8/XlauXCn19fVSXV3daJdh87Vu3Tq56667ZOnSpbJ27Vrp2rWr9OvXTwYPHizt27ev9PRo32ECr7/+uvTv31/GjBkjdXV1jY707bffNj/71a9+1eRMHnrooUPO37lzpyxZskTmzp0ry5Ytk5YtW0rPnj1l2LBhUlNTI1VVVQ6TYWhxEti/f7/84Q9/MFnIXYeOPfbYknngmhdnFfxsSzO0YsUKuf/+++XZZ5+V9evXS8eOHaVXr14yfPhwOeOMM+Swww4rgMM1z8+sMGsI2CKAwLJFmn4g4BGB999/30inxx9/PLDAUumlN3H6hWjbtm1y7rnnmhu21157zfz+1ltvNb+OOuooj0gy1VIEVF7dd999Jhtf/vKXmxRYYfOl+bvmmmvMF/jOnTtLhw4d5I033jBf4nv37i133323dOrUqdQw+XkGCWgOrr/+enn66afNtaspgaVitU+fPvLOO+8EFlgqr6ZOnSrjxo2TNm3aSJcuXYzQX758ufn95MmTTS5btGiRQbJMKZ+AyqtHHnlErrvuOnnvvffMdUgFwtatW00e9NPY349c88hRVAL696v+Q+OkSZPM9zD9xxv9R5tNmzbJqlWrmrwWcc2LSp7zIQCB5gggsMgHBCAQOwG9ub/88svlhBNOMP9i3LZt25J96AoDvQE87rjjZNasWXLWWWeZc958800ZMWKEvPjiizJnzhyz2oEPBJSAfqHWG/nbb7/dAKmtrW1SYIXJl35J15WC+q/O+iX+iiuuMMJg+/btcscdd8iECROMwFDRkL+SkOpkm4AKhd/85jdGKKxevdpMtjmB9fOf/1y+/e1vy/Tp02XkyJGB4CxcuFCGDBkiPXr0MNdDFRba76uvvmok/8aNG03WdYUqn2wTyK3y+/DDD00W/vEf/9GsvsvPgwr24gxyzct2LmzMTuX8JZdcIp/73OfMKuRu3bqZ1Va6Kus//uM/zDVw165dotcrvVblPlzzbFSHPiDgLwEElr+1Z+YQqBgB/VdhXZ2iN/f6L3eHH354s33paoNRo0bJzJkz5YknnpDvfOc7BcfnvsCfdtppZhl7u3btKjZ2GnafgP6r8PPPP28e23rllVfkU5/6lOzYsaPJFVhh87Vo0SLp27evEagqqfIfYdXVDyoSnnnmGVm8eLF0797dfXCMMDIBXUX105/+VO655x7TlorLv/71r80KLH2UWlfI6M3gBRdcUHIMW7ZsMY+n6nW0sWzlbioHDRp0SC5LNs4BqSOg8vymm26SadOmGQFa/LhWLg8XXXSREVy6Qo9rXurK7NyAVUyNHj3a/ONNY9/LVKDqP1CqaP/hD39Y8F2Pa55z5WRAEMgUAQRWpsrJZCDgBgF93EFXSumjXbqCpdQnt2LriCOOMKsKdOVW/kf/5fmGG24we3/84he/OLg6q1S7/DybBHRlwVe+8hVzo3bttdfKP/3TP5n/6uq9xvbACpOv/C/vTYmHBx980KzKKmdlTTYr4sesVJKqQJg9e7acffbZZuXfSy+9ZPZfa2oF1kcffSQ333yzEZ36SLXuF1Pqk3v8RveYyQmJ/HN0ZaCucNXr4sMPP2xWZ/HJJgHNz2233SaPPfaY+cebxlbc6b58l156acH1j2teNvNgc1Yq0v/5n//Z7Puo2dNHV4s/ub+L8/c05Zpns0r0BQE/CSCw/Kw7s4ZAxQjov8rpo1X6S2/8//a3v5kVC/qIwznnnGNu+L/3ve8V7GWVW7GlX8L12E984hOHjE9Xcul+MM09qlOxSdGwUwR01dVTTz1lsnTyySebL9jFN3D5Aw6TL/3yPnDgQNmwYYM8+uijoqv/gnx5dwoUg4mVgAqsO++80+wDc/7555sVeaWuSznZpAPRcxcsWGCuYbqXkW7Irqv7ijdkz/0DgIox/VW84iZfpKlA4zHCWMucusZ0hbI+5nXqqaceFPhc81JXxlQOWMW8rrbPF1hc81JZSgYNgVQRQGClqlwMFgLuE8hfLXXKKaeYNyedeeaZoo995TZk/9a3vnVwXxedUW6/BF3doKsadCVW8UdX1gwYMEAmTpxo3nDIBwI5AqUEVph85VYwaB9NrXIp1S8Vyj6BUgJLr3/6xkrds0ivgfpLV0zlNkFWQj/60Y/MI9S5fdRyj4w1t7KvVL/ZJ88MlYD+g5HmRVf56d+LKjz1kX2ueeSj0gTyH1PVRwn1sWf9cM2rNHnahwAEEFhkAAIQiJVA/uuTr776avP4g761Rj9vvfWW2Qtm/vz5oj/TL976VsEgcirIMbFOhMZSQ6CUSAqSneJjSrWpcIIckxqIDDQUgVIiKbdCQR931eudSnhduaWbIOvjN7qPmm4Er9dEfYmFrrYq1aYONMgxoSbESaki8MILL5iVqLpqWTfSzj2iyjUvVWVM3WBVnOpqUn0Tqm7srtevE0880cyDa17qysmAIZA6Agis1JWMAUPAbQJ6U6+rCfRtbbrR8ac//emCAf/lL38xj2bp27SefPJJ8xhNmC/bblNgdDYJlBJJYfJVqk0Els0Ku9tXKZGkUkEfi9YNtnWVjF4X8z+5Dbj18WrdU+34448PJKdK9esuMUYWF4GXX35Zhg0bZt7Uq/tNXnbZZQcfN+WaFxdl2ikmoPJKv7vpiwX0M2/ePPMYdO7DNY/MQAAClSaAwKo0YdqHAAQKCOiXH12VpY87TJ482by9JsyXbbBCIEeglGwKk69SbSKwyJ8SiCqSdI9AFfq6Gktl1rnnnhuozaj9Ur30EtC/QxsaGuTGG28UXfGsK/t0FVa+HOWal976ujxyfQRas6XySleV3nvvvfKNb3zjkH36mpsD1zyXK8zYIJAOAgisdNSJUUIgUwSKv1znlpwXv4o5f9K5c3LSK1NAmEwkAqVkU5h85R6F1YE19mbMfIF10kknmUco2rVrF2kenJw+AlFFUmMbsutbDvXRnObe4prrV1c76AsM+PhBIF8g6Izvuusu88Zf3WMt/8M1z4882JylXqumTZsmU6dONW+K1uuTrrwqfslEqTFxzStFiJ9DAAKlCCCwShHi5xCAQNkE9AuKfnKbEhc3oI/K6L8Y5zZkD/PGpLIHxQmZJVBKYIXJF28hzGxcYp1YKYGlq2U++OADcy0sfnxQB5J76YVugpx7oyBvIYy1RJlpbPv27WbVsv7q3LlzswKBa15myu7ERPSlE/oItP5Djb71VCX75z//+UbHxjXPiZIxCAhkmgACK9PlZXIQsE8g9watpl4Bv3fvXvP44JQpU8zr5HXj4twb3/Ttg42tdtm2bZtcd9118uyzz8ovfvELOeuss+xPjB6dJVBKYIXJ165du2T06NHm8Rx9tOuCCy44ZP65lTLNvS3OWWgMLBYCzQms999/X6666ip5/PHHRTfb7tGjxyF95lb6qTBVcaViYuXKldKnTx/p1auXeVurPqqT/8mdoxlt6g2ZsUyORpwhoH8H/uAHPzCPbPXu3dvsq3baaac1OT6uec6ULvUD0X1L9fvXz372M/O4s67AOu644xqdF9e81JebCUAgFQQQWKkoE4OEQHoIPPfcc3LxxRcf8maa3AzWrFljNpvVm6/HHnvM/Cte/uuYn3jiCfnOd75TMOHXX3/dPCahX9jvv/9+HtVKTxysjLSUwAqbr0WLFknfvn1lxIgR5ku7vj0u99m6dat5g5w+qrN48WLp3r27lbnSiVsEmhNYKusnTJhg9rTSt6/q/85fhaUrFVTY603hlVdeKXfffbd5K6vKLH0lva6iaSxbuY3fBw0adEgu3aLDaOIgoCuv9MUo+lKU7373u0aq59741lT7XPPiIE8b7777rgwdOtTIK/37TvcvLRbq+ZS45pEZCEDABgEElg3K9AEBjwjkbuz1McGrr77afOFp3769IfCHP/xBbrjhBrOiRYWAbgR6+OGHm5/pJsa6Gkv/ZU/39dBXM+veCvqGJRUIS5cuPbhiyyOcTDUAgVICK2y+9LEJ/fKuK//0pnHAgAFGYukN5R133GGEhP5cf9bU47IBhs8hKSZQ6hHCnHx/6623CjK0b98+UVl/yy23mNmryNJHc3If3dtqyJAhZtXWzJkz5dRTTxUVXvr2Vr2R3LBhg+gxja3qSjFOht4IgVwWvv71r5tHt4rf7NsUtDB/p3LNI4I5AiqjdHWxytNrr73WfGdTwV7qwzWvFCF+DgEIRCWAwIpKkPMhAIFDCLzxxhty/fXXG1F17LHHyplnnim6L5auKNCPrkbQX/lfhnRzWt0UVP9cH5fQt3G1bNlSXnvtNfP7xs4BPQSUQBCBFTZfuVfVr1692jze1aFDB9F86yM6+iiPrprp1KkThfCUQCmBlf/Kec2MZqhjx44mP5pb/d96k6irVvM3Q87f70hXPHTp0kV2795trqH6e90HSTd6b2xfLU9Lkclp597Y9tRTT5WcX21trRGh1dXV5liueSWRcUAzBHJ/r+rffaU++f+QwzWvFC1+DgEIRCWAwIpKkPMhAIFGCegNmK7C0n1ddP8XFVk9e/aUYcOGmTfXFL81SRvRVQl6rO7zoY8i6g2brkrQfWQuvPDCgke4wA6BHIEgAitKvtatW2dWBeoqQO2ra9eu0q9fP/OYV251IdXwk0ApgZWjUpwhFVnf+ta3zGqqz3zmM43C08fAlixZIrrBu66mUaFf6hrqZxWyO+vcfmjvvPNOyUkWCyyueSWRcUAzBH7+85/Lt7/97UCMGluJzDUvEDoOggAEQhBAYIWAxikQgAAEIAABCEAAAhCAAAQgAAEIQAAC9gggsOyxpicIQAACEIAABCAAAQhAAAIQgAAEIACBEAQQWCGgcQoEIAABCEAAAhCAAAQgAAEIQAACEICAPQIILHus6QkCEIAABCAAAQhAAAIQgAAEIAABCEAgBAEEVghonAIBCEAAAhCAAAQgAAEIQAACEIAABCBgjwACyx5reoIABCAAAQhAAAIQgAAEIAABCEAAAhAIQQCBFQIap0AAAhCAAAQgAAEIQAACEIAABCAAAQjYI4DAsseaniAAAQhAAAIQgAAEIAABCEAAAhCAAARCEEBghYDGKRCAAAQgAAEIQAACEIAABCAAAQhAAAL2CCCw7LGmJwhAAAIQgAAEIAABCEAAAhCAAAQgAIEQBBBYIaBxCgQgAAEIQAACEIAABCAAAQhAAAIQgIA9Aggse6zpCQIQgAAEIAABCEAAAhCAAAQgAAEIQCAEAQRWCGicAgEIQAACEIAABCAAAQhAAAIQgAAEIGCPAALLHmt6ggAEIAABCEAAAhCAAAQgAAEIQAACEAhBAIEVAhqnQAACEIAABCAAAQhAAAIQgAAEIAABCNgjgMCyx5qeIAABCEAAAhCAAAQgAAEIQAACEIAABEIQQGCFgMYpEIAABCAAAQhAAAIQgAAEIAABCEAAAvYIILDssaYnCEAAAhCAAAQgAAEIQAACEIAABCAAgRAEEFghoHEKBCAAAQhAAAIQgAAEIAABCEAAAhCAgD0CCCx7rOkJAhCAAAQgAAEIQAACEIAABCAAAQhAIAQBBFYIaJwCAQhAAAIQgAAEIAABCEAAAhCAAAQgYI8AAssea3qCAAQgAAEIQAACEIAABCAAAQhAAAIQCEEAgRUCGqdAAAIQgAAEIAABCEAAAhCAAAQgAAEI2COAwLLHmp4gAAEIQAACEIAABCAAAQhAAAIQgAAEQhBAYIWAxikQgAAEIAABCEAAAhCAAAQgAAEIQAAC9gggsOyxpicIQAACEIAABCAAAQhAAAIQgAAEIACBEAQQWCGgcQoEIAABCEAAAhCAAAQgAAEIQAACEICAPQIILHus6QkCEIAABCAAAQhAAAIQgAAEIAABCEAgBAEEVghonAIBCEAAAhCAAAQgAAEIQAACEIAABCBgjwACyx5reoIABCAAAQhAAAIQgAAEIAABCEAAAhAIQQCBFQIap0AAAhCAAAQgAAEIQAACEIAABCAAAQjYI4DAsseaniAAAQhAAAIQgAAEIAABCEAAAhCAAARCEEBghYDGKRCAAAQgAAEIQAACEIAABCAAAQhAAAL2CCCw7LGmJwhAAAIQgAAEIAABCEAAAhCAAAQgAIEQBBBYIaBxCgQgAAEIQAACEIAABCAAAQhAAAIQgIA9Aggse6zpCQIQgAAEIAABCEAAAhCAAAQgAAEIQCAEAQRWCGicAgEIQAACEIAABCAAAQhAAAIQgAAEIGCPAALLHmt6ggAEIAABCEAAAhCAAAQgAAEIQAACEAhBAIEVAhqnQAACEIAABCAAAQhAAAIQgAAEIAABCNgjgMCyx5qeIAABCEAAAhCAAAQgAAEIQAACEIAABEIQQGCFgMYpEIAABCAAAQhAAAIQgAAEIAABCEAAAvYIILDssaYnCEAAAhCAAAQgAAEIQAACEIAABCAAgRAEEFghoHEKBCAAAQhAAAIQgAAEIAABCEAAAhCAgD0CCCx7rOkJAhCAAAQgAAEIQAACEIAABCAAAQhAIAQBBFYIaJwCAQhAAAIQgAAEIAABCEAAAhCAAAQgYI8AAssea3qCAAQgAAEIQAACEIAABCAAAQhAAAIQCEEAgRUCGqdAAAIQgAAEIAABCEAAAhCAAAQgAAEI2COAwLLHmp4gAAEIQAACEIAABCAAAQhAAAIQgAAEQhBAYIWAxikQgAAEIAABCEAAAhCAAAQgAAEIQAAC9gggsOyxpicIQAACEIAABCAAAQhAAAIQgAAEIACBEAQQWCGgcQoEIAABCEAAAhCAAAQgAAEIQAACEICAPQIILHus6QkCEIAABCAAAQhAAAIQgAAEIACB/9fenQD7XP1/HD/JkDEpa0MTZTQqo5JCqwzDLwpRthakEsqSUbK2SSlFlGQLlUS2ZGkTyRIlNFGasU3JkqYaUyT95/VuPvd/7sfne7/33u/33vvp3udnxqh7P8s5j3O+Zr6veZ/zQQCBXAgQYOUCjUsQQAABBBBAAAEEEEAAAQQQQAABBPJPgAAr/6x5EgIIIIAAAggggAACCCCAAAIIIIBALgQIsHKBxiUIIIAAAggggAACCCCAAAIIIIAAAvknQICVf9Y8CQEEEEAAAQSSCPzxxx+uX79+buLEia5Zs2bujTfecOXLl8ctC4Fdu3a5KVOmuPfee89t2rTJzqxTp45r0aKFGzx4sDvttNOKhB9zp0gMM51EAAEEECjCAgRYRXjw6ToCCCCAQLwEnnjiCTds2LCMRrVs2dJNmjTJVapUKWFDC9uX9sLWn7ycYf/8849btmyZ69Gjh9u9e/dJj+revbt74YUXXKlSpZI2w3cPTs7O9T///LO77bbb3PLly112zk/akBROYO6kgMelCCCAAAII/AcECLD+A4NEExFAAAEEioZAOMBSrydPnuy6detGgFU0pkCOevntt9+69u3bu82bN9t1jRs3dg0bNnQlSpRw27dvd2eeeaZ76qmnch1gnX766W7+/Pl230QHAVaOhoyTEUAAAQQQQCAFAQKsFPC4FAEEEEAAgXQKRAVYTZo0cTNmzHCVK1eOfFRhqzopbP1J5/zw76XqK1VX9e/f3yloevnll12nTp1csWLFcvXIqAos3ahLly5u/PjxrnTp0pH3JcDKFTcXIYAAAggggEAuBAiwcoHGJQgggAACCOSFgB9gaf8i7Wmk49VXX3V33323O+WUU056bGELfApbf/Jinuiev//+u+vVq5ebOXOm+9///md/V6hQIdeP893PP/98V6VKFbdy5UoLx+bOneuaNm1KgJVrXS5EAAEEEEAAgXQIEGClQ5F7IIAAAgggkAYBP8CaNWuWBVcrVqxwjRo1soDi7LPPJsBKg3NhuEW6K5/8AOuSSy5xAwcOdI8//rjbtm2bu/POO924ceNcmTJlTqJLdztSGRvCz1T0uBYBBBBAAIH4CxBgxX+MaCECCCCAQBER8AOs1atXu2+++cbde++91vtEVViF7Ut7YetPXk3ddAdH4QBLb3988803bQ+trKqw0t2OVLyYO6nocS0CCCCAAALxFyDAiv8Y0UIEEEAAgSIiEA6wqlevbtUvH374obv66qvd66+/7s4999xMGsm+tIfvqftEHcnuo0Dj9ttvt0sVrl111VW2UfiYMWPsDXR6C542+9Yb8W688UZXsmRJO1d7NW3ZssWNHTvWLVy40B0+fDjyvKBNUe0oW7asW79+vZsyZYpZ6Fk1a9Z0Wmb5wAMPnGQS7t/x48ft+rffftvaqs3PdTRo0MDuIeOqVauexPLZZ5+5a665xn4ue71t7+jRo27x4sVuwoQJ7qOPPkrpzXu616pVqywoWrt2rbVLYVG9evVc69atXbt27U56A6UfGGX1sVD11NChQ7P9yQkHWLNnz3Zyu/XWW60KS39PnDjRaSz8I7sBVm76GtX4PXv2uLfeesstWbIkY4lj4KV59/TTT1s7mzVr5jRny5cvf9JtTpw4YeGw+qhlups2bbJz6tSpY9WOWq57wQUXRC7Z1XlHjhxx7777rm1wr3ml+ahxu/TSS13t2rVdq1at7POaaN+wbA8KJyKAAAIIIIBAJgECLCYEAggggAACMRGICpv84EhhUe/evTN9sU4WPOVFgPXJJ59YADBkyBALpMJHz5493ahRo2xD8dGjR9t/a8+mROf5X/TD/Xnuuedss/KpU6dGjlK1atXc888/726++ebIwEHhQr9+/SxsSHSUK1fO7qGAqnjx4hmnhQOsWrVqWSikACs4unfvbu0rVapUjmaRwr8BAwbH+imzAAASTklEQVRkulf4BlHtys8Aq0aNGjZ2gwYNsoBGy1gVzvhHdgKs3PbVf47CNH0WHnzwwcg5p3PVRo3DgQMHEgZYmq8aQ216n+jQfR566CHbID88rl9++aV9BjU3sjoUjMorHPjlaJJwMgIIIIAAAghkEiDAYkIggAACCCAQE4GosElfxu+55x63aNGiyCqsggiwVH21Zs0aU1MllEKkgwcPZlSy6OeqUNq7d68tQdOh6paKFStatUpQAaWfB5VNwRD4/VGAo3BL9/Gf9dtvv7l169ZljJqer3AjXF2myqGuXbtalYwOVRGpskkblKuKRtVPkydPtkBEoYWWaXbo0CHjvn6ApWqooNrGny65CbDC7VL7mzdvbo4K+lRlFrRZ7VLgohBO4ZoqmVQxJO8RI0bYeeqTKt9KlCiR0bSzzjrLXXjhhdme2VEVWBpbjVX79u3d5s2bI6uwkgVYqfQ1aLyq+LQn3H333ZcRhAYVTwqYwvNB10VVYO3fv98q5lQJGJyj4FP9/Ouvv6wKTtVwwfxUeKfA7NRTT7Xzd+zY4e644w4z1/NV8aU/wXzasGGDW7Zsmf0+qwqwbA8KJyKAAAIIIIBAJgECLCYEAggggAACMRFIVC01b94817ZtW2ulKpoUZgRvJCyIAEvtUFikcEpL7FRppWVZ+vKv6iu/2kpf8IcPH+4uu+yyyPMUCLz00ksWCOjw+xMMi5b4qVrpoosusnvo2Ldvn9130qRJ9v9dunRx48ePz1i29csvv1hYMWfOHAuGFKjpbX3hNzl+/fXXtmRMoUOTJk3cjBkzXOXKle2efoCl/1eg1qdPH1tKqaWcQVtyMn38duk69UF986vQZLl06VJ7y6ACv6iALllwlJM2hd21ibuW1ynYUXikCjNVI+l45513XJs2bTJun1U70tXXjRs3ultuuSVjqd6wYcNsbzh/U/ljx45ZqKqlk3rxQThAUvA3ePBg+/xorqlPnTt3zlRxp0798MMP5q6QSwGg5o8q78IOqq5SxV54Pum8nTt32nJXhV9RSxhzOjacjwACCCCAAAL/ChBgMRMQQAABBBCIiUCiAMsPAurXr2/VKOedd561uiACLIVUaqsCHf9QcKUv//pyr+PRRx+1pVjhZViHDh2yShZVq6iaS8GXQppwf/QzhVs33HBDZFiksEH3UWCh0En7EtWtW9fuE4R+CiteeeUV17Fjx4R7GvkBoYKLli1b2j38AKtp06a2j5f2Rkrl0J5LaousVFmnICXRXkna60lBjc7VsjVVBAV7i+VXgKW+7tq1y0I7eahiSeFMsDQuq3ako68KnjSHXnzxRWNP9DKDZJ+Fzz//3CrVFHxqnywFcv5yUX9M/XO1tFSBcaIKtVTmAtcigAACCCCAQM4ECLBy5sXZCCCAAAII5JlAVvtVKVhRWKMwQ5VP+lKvpU0FEWBpE/eozeBVffLYY4/ZHwVH77//vm2UHj6yCgOS9ce/l56nZXTBZuXTp0+3Ddn9e6jqSoFahQoVEo6b9mjSEsGtW7daBU9wv6hN3FMZfFUJDRw40EIr+WhfLm18n+hQcNmtWzc7Lxz05WeAJWcFSH379rWm+ss+E7UjXX31lzCGw7Os5pVfgeXPE7+6LJG7lmd26tTJlnIGS0R1roIsbRCvsHTBggW22T4HAggggAACCOSfAAFW/lnzJAQQQAABBLIUyCrA0j4/euOelrj5X8KTBT55sYl7ogBLncvO8/xwIxwoJOtPGPCDDz5wqo7SEYRPP/74oy3v0mbz2jdJS878/aHC91BQpPPCbxVMd4Cl5yiEVGVSOJCKmhh///23hWkjR460X/vu+Rlg6dl+tZsq1LR0s1KlSi5RO9LVV398tdxSf8LL9gK7RHPHrwzUklaFcf7yw7D9n3/+ae7Tpk3LtBRRwaOWBeq44oorrC3XX389bxvk33UEEEAAAQTySYAAK5+geQwCCCCAAALJBJKFP6po0l5AfhWWwqCgMiRq4+hk90z25T/4vf82xFQDLD/oSjXA8kOmRx55xAK077//PmPj8WTm4d/7m7KnO8Dyg7XsbvLthyZaUqgN1XXkd4ClKiZteK8ljTqCKqxE7UhXX/15F97wPzx2iQKs7L65MWqu+OPkL6X0z9ULCq688koLu1SVpQ30E4VsOZ2PnI8AAggggAAC/y9AgMVsQAABBBBAICYCycImvwor2GC6evXqBFjXXGMjGIRPe/bsiWWA5S+Hy26AlSjAye8AS75+FVaw4b0q21Tttnz58gx/7XmWrr7GKcCSgd6IOWTIEKuETHRoGeuTTz7pzjnnnJj8y0IzEEAAAQQQKBwCBFiFYxzpBQIIIIBAIRBIFmCpi1rmpr2AVIU1aNAg9/DDD9t+WNqbp6hXYAVLCP3wRNVp2rQ7qyWEiaZO3CqwsrP3VG4/BtndpFwbuOutjTq0obrmojZ4DwdYqVZgBX1Nd4ClCkZVkp1xxhm5pbI3Eu7fv99ps3f1e+3atW7Tpk2Z7teqVSv7TKoaiwMBBBBAAAEE0iNAgJUeR+6CAAIIIIBAygLZCbD8oEFVWFOnTnWvvfZakQ2wFi1a5BQW6NDbBlWFtXv3btuEe82aNbbnlN5kqE3Tc3qkO8BK175Q6kdBVGDpuQcOHLC3J8q9UaNGbsyYMRaghgOsdPV19uzZrkOHDjZ0wRsBE41joiWEv/76q4Vuc+fOtT2rFIpVqVIlp9Mhy/OPHDlie5vpBQubN2+2c/0ln2l9GDdDAAEEEECgiAoQYBXRgafbCCCAAALxE8hOgKVWr1q1yr7U79u3zzZ2VzWWQqxkFVgrV6501113XWTHk22eHsc9sLTJud54KDcFVEuXLrW3I/qbdgdLLWvVqpXjAU93gOVvyp6dtxAeOnTIArhly5a5unXrWiBSo0YN60dBBVh6tj8XVPWm+ei/sU9LCNPV1y+++MLddNNNNtf9/cmiBjPRHM5pW3I8UbwL5s2b59q2bWs/8d9omco9uRYBBBBAAAEE/hUgwGImIIAAAgggEBOB7AZYR48etaoXvU1NQYgCA1XGRAVY2qunc+fO1sPRo0fbflnhDaZPnDhh4U///v1t76Ko+8QxwNq2bZvr2LGjVbxoKZuWt5UtW9b66i9169mzpxs1alSWb4vTsjBVbB08eNC1bt3a7pHuAEv39JeAqpJJm7SXLl36pBmo9syaNcvejqhArnfv3taHkiVL2rkFGWCpuqpbt25u/vz59iZCBUdqYzhgSkdfFVxpTykFZNWqVbMqqssvvzzyE6v50KtXL7dixYqT5rDfluwu79u+fbuFc9q4Xt5a1njXXXdlWc3nzxlVY+nFAhwIIIAAAgggkB4BAqz0OHIXBBBAAAEEUhbIboClB23cuNHeSKjlcsERFTz5FSz169d348aNswBAIZZCkp07d1qIMn36dAshdMQlwFL11DPPPOOaNm2aEdwEfVW40KdPH6c3MyrE035MwVIznfPTTz/ZsjEt69KhEGLw4MGuatWqmcZJBjLUMkPtWTRhwgTblFxHXgRY/kb8esbAgQNtLzN/iWMQKCqMUdsU3ChAVHVZcBRkgKU2LFy40KrDgjmjn4UDrHT0VeOj+alwVYfmwsiRI53e/BcEsQpvNX+119nhw4cj57CW+Cm8nTRpkv1egacqpFSZFw50/fv17dvXDR06NCMw1LXad65hw4auWLFimeaSgmWFjMOGDbPxVMDXuHHjlP9d4AYIIIAAAggg8K8AARYzAQEEEEAAgZgI5CTA0pdlBTKqqgqOqODJX1YVnNegQQNXpkwZqzYKNp/WF/nixYtbNVNcAqygvQpwtHeRAq1jx45ZpZTCpSA8UcigahdVovmHNtfu0aNHxp5EChXq1avn1H/9t65fvXq109LK4PA3Ss+LAEvPUaVQ165d3fr16+2x6l/z5s3tb7VJ1UbB7/R7BTMKcDQ+wVHQAZaqsBRYzZkzJ6NNUUv80tFXbZiueys0Cw4FWBUrVnQKydatW2c/TlaNuGPHDnf//fdb6Ol/Fq699lpXvnz5yLkVLAP0vXWtwuA2bdrY0k4dW7dudVo++Omnn9r/Z1VdF5N/bmgGAggggAAC/zkBAqz/3JDRYAQQQACBwiqQkwBLBlu2bLGqI4UEOqKCJ/086ou7b6hlUQrDVD2S6G2GBbGEsFy5cra8bu/evZFDrsBCVViqYopahqeLVKk1YMAAt3jx4qTTRkHGiBEjnP7WkVcBVtCuoIIsUcPUf21croowP7zS+QUdYKkNCoJUBRgEiYn2qPKr5XLTV12jpa1atqgxiTpUnabKLM3TRHNY16kyT3NdLz9IdtSuXdsNGTLEtWvXzpZJPvvss27s2LEZVV6JrtfnSaGjAjYOBBBAAAEEEEifAAFW+iy5EwIIIIAAAikJ5DTAOn78uBs+fLhVH+lIFGDpd3oT28yZM20PIVUcKRzR8iZVKGk5lCq6tMQqTgFWixYt3OTJk91XX33lpk2bZlVJWlJXs2ZN66uCgosvvvikJWDhQdCSPFWaLViwwPqu+yl0CSqytCxNG4Xrvv6ysLwMsNRGhSKq2NFeV6oWU0gTtEn7cCk40R5TUUccAqzwEsGsNllPpa9B/7UMUHu66c2EGkdZKbjSUkbta6Wxy2oOB/fRssTvvvvOKro+/vhjt2HDhoxQStV5TZo0cS1btrRliuHgUH3WGxeXLFmSMWa6r85V8KlAWdVZ4eWFKf3DwMUIIIAAAgggYAIEWEwEBBBAAAEEEEAAAQQQQAABBBBAAIFYCxBgxXp4aBwCCCCAAAIIIIAAAggggAACCCCAAAEWcwABBBBAAAEEEEAAAQQQQAABBBBAINYCBFixHh4ahwACCCCAAAIIIIAAAggggAACCCBAgMUcQAABBBBAAAEEEEAAAQQQQAABBBCItQABVqyHh8YhgAACCCCAAAIIIIAAAggggAACCBBgMQcQQAABBBBAAAEEEEAAAQQQQAABBGItQIAV6+GhcQgggAACCCCAAAIIIIAAAggggAACBFjMAQQQQAABBBBAAAEEEEAAAQQQQACBWAsQYMV6eGgcAggggAACCCCAAAIIIIAAAggggAABFnMAAQQQQAABBBBAAAEEEEAAAQQQQCDWAgRYsR4eGocAAggggAACCCCAAAIIIIAAAgggQIDFHEAAAQQQQAABBBBAAAEEEEAAAQQQiLUAAVash4fGIYAAAggggAACCCCAAAIIIIAAAggQYDEHEEAAAQQQQAABBBBAAAEEEEAAAQRiLUCAFevhoXEIIIAAAggggAACCCCAAAIIIIAAAgRYzAEEEEAAAQQQQAABBBBAAAEEEEAAgVgLEGDFenhoHAIIIIAAAggggAACCCCAAAIIIIAAARZzAAEEEEAAAQQQQAABBBBAAAEEEEAg1gIEWLEeHhqHAAIIIIAAAggggAACCCCAAAIIIECAxRxAAAEEEEAAAQQQQAABBBBAAAEEEIi1AAFWrIeHxiGAAAIIIIAAAggggAACCCCAAAIIEGAxBxBAAAEEEEAAAQQQQAABBBBAAAEEYi1AgBXr4aFxCCCAAAIIIIAAAggggAACCCCAAAIEWMwBBBBAAAEEEEAAAQQQQAABBBBAAIFYCxBgxXp4aBwCCCCAAAIIIIAAAggggAACCCCAAAEWcwABBBBAAAEEEEAAAQQQQAABBBBAINYCBFixHh4ahwACCCCAAAIIIIAAAggggAACCCBAgMUcQAABBBBAAAEEEEAAAQQQQAABBBCItQABVqyHh8YhgAACCCCAAAIIIIAAAggggAACCBBgMQcQQAABBBBAAAEEEEAAAQQQQAABBGItQIAV6+GhcQgggAACCCCAAAIIIIAAAggggAACBFjMAQQQQAABBBBAAAEEEEAAAQQQQACBWAsQYMV6eGgcAggggAACCCCAAAIIIIAAAggggAABFnMAAQQQQAABBBBAAAEEEEAAAQQQQCDWAgRYsR4eGocAAggggAACCCCAAAIIIIAAAgggQIDFHEAAAQQQQAABBBBAAAEEEEAAAQQQiLUAAVash4fGIYAAAggggAACCCCAAAIIIIAAAggQYDEHEEAAAQQQQAABBBBAAAEEEEAAAQRiLUCAFevhoXEIIIAAAggggAACCCCAAAIIIIAAAgRYzAEEEEAAAQQQQAABBBBAAAEEEEAAgVgLEGDFenhoHAIIIIAAAggggAACCCCAAAIIIIAAARZzAAEEEEAAAQQQQAABBBBAAAEEEEAg1gL/Bz4LVWUOwKD0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78" name="AutoShape 6" descr="data:image/png;base64,iVBORw0KGgoAAAANSUhEUgAABLAAAALmCAYAAABSJm0fAAAAAXNSR0IArs4c6QAAIABJREFUeF7s3Qu8TXX+//FPx10kiVTKNMaoqd9ERKUw4zaNREiEjBiUS9SQdJVITDFuUfzlToQmptymVMKU0FzKT/5hZkok5U44///n+/vtM/vss/bea++99lm313o8eszUWZfven6+e7Pe5/v9rnNyc3NzhQ0BBBBAAAEEEEAAAQQQQAABBBBAAAGPCpxDgOXRytAsBBBAAAEEEEAAAQQQQAABBBBAAAEjQIBFR0AAAQQQQAABBBBAAAEEEEAAAQQQ8LQAAZany0PjEEAAAQQQQAABBBBAAAEEEEAAAQQIsOgDCCCAAAIIIIAAAggggAACCCCAAAKeFiDA8nR5aBwCCCCAAAIIIIAAAggggAACCCCAAAEWfQABBBBAAAEEEEAAAQQQQAABBBBAwNMCBFieLg+NQwABBBBAAAEEEEAAAQQQQAABBBAgwKIPIIAAAggggAACCCCAAAIIIIAAAgh4WoAAy9PloXEIIIAAAggggAACCCCAAAIIIIAAAgRY9AEEEEAAAQQQQAABBBBAAAEEEEAAAU8LEGB5ujw0DgEEEEAAAQQQQAABBBBAAAEEEECAAIs+gAACCCCAAAIIIIAAAggggAACCCDgaQECLE+Xh8YhgAACCCCAAAIIIIAAAggggAACCBBg0QcQQAABBBBAAAEEEEAAAQQQQAABBDwtQIDl6fLQOAQQQAABBBBAAAEEEEAAAQQQQAABAiz6AAIIIIAAAggggAACCCCAAAIIIICApwUIsDxdHhqHAAIIIIAAAggggAACCCCAAAIIIECARR9AAAEEEEAAAQQQQAABBBBAAAEEEPC0AAGWp8tD4xBAAAEEEEAAAQQQQAABBBBAAAEECLDoAwgggAACCCCAAAIIIIAAAggggAACnhYgwPJ0eWgcAggggAACCCCAAAIIIIAAAggggAABFn0AAQQQQAABBBBAAAEEEEAAAQQQQMDTAgRYni4PjUMAAQQQQAABBBBAAAEEEEAAAQQQIMCiDyCAAAIIIIAAAggggAACCCCAAAIIeFqAAMvT5aFxCCCAAAIIIIAAAggggAACCCCAAAIEWPQBBBBAAAEEEEAAAQQQQAABBBBAAAFPCxBgebo8NA4BBBBAAAEEEEAAAQQQQAABBBBAgACLPoAAAggggAACCCCAAAIIIIAAAggg4GkBAixPl4fGIYAAAggggAACCCCAAAIIIIAAAggQYNEHEEAAAQQQQAABBBBAAAEEEEAAAQQ8LUCA5eny0DgEEEAAAQQQQAABBBBAAAEEEEAAAQIs+gACCCCAAAIIIIAAAggggAACCCCAgKcFCLA8XR4ahwACCCCAAAIIIIAAAggggAACCCBAgEUfQAABBBBAAAEEEEAAAQQQQAABBBDwtAABlqfLQ+MQQAABBBBAAAEEEEAAAQQQQAABBAiw6AMIIIAAAggggAACCCCAAAIIIIAAAp4WIMDydHloHAIIIIAAAggggAACCCCAAAIIIIAAARZ9AAEEEEAAAQQQQAABBBBAAAEEEEDA0wIEWJ4uD41DAAEEEAi6wIEDB6RTp06ycuXKArfaq1cvGTt2rJQqVSoQDHPnzpXOnTtb3svTTz8tjz/+eML7PH78uGzatEmWLl0qW7Zska1bt8rhw4fzjrnhhhukQoUKcs8990j79u09bzZ8+HB54oknLNs5Z84c0y/YUhPYvn273HXXXbJt27YCBzZv3ly0D2ofYQuWgH43fPzxx/LnP/9ZNm7cKH//+99l9+7deTdZq1YtqVq1qlx//fVSp04dqV27tlxwwQVyzjnnBAuCu0EAAQQCLkCAFfACc3sIIOC8QKKH8MjVhg4dKsOGDZOiRYvGbcD69evl5ptvtvz5+++/L/Xr13e+8ZzRcwJeC7AStUfxMumb6QZYubm5smHDBhkwYIB8+OGHSWtoJwxLepJC2IEAy3nkoARYiT4rdoNtu+fQELhPnz4ye/Zsy4I8+eSTov/EC3v086l/3uk/VtvAgQNl1KhRUrx48bgFX7hwoXTo0CHl4/X76pVXXpEJEybkC6zs9Kx69eqZQF3D7kqVKuU7JFE/iuz4i1/8wphdeumlcS+X6PvUL99TdizZBwEEECgsAQKswpLmOgggEBgBOwGW/qZ38eLF5je98TavBViJ/qLNyIXsdV8CrP+xTfQwt27dOunatavtB9TCeDB04vNCgOX854oA6z+mdgMsDaBGjBgRdwRkly5dZNKkSVK2bFnLgn3//ffSo0cP82ee1dakSROZN2+eVKxY0fLnZ86cMdd+9tlnLX9uNRpR26yjVjXU1ppnsln9+WYnwNJrjhs3Tvr37x833CPAyqQyHIsAAggUFCDAolcggAACKQrYCbD0lMl+S06AlSJ8QHcnwEocYH311VdmSuCaNWts9wACLNtUgduRACv1AEuPWL16tTRr1syyP9x0000mgNJfzFhtn3zyibRr10527Nhh+fOLL75Y3njjDTNtz2pLFIBZHXv69GmZOXOm6Miu6CnE6XbmTAKsa6+9VnT0WI0aNSwvT4CVblU4DgEEELAWIMCiZyCAAAIpCtgNsPS31fob6XgPBQRYKcIHdHcCrMQB1h//+Edp1apVStUnwEqJK1A7E2ClF2AlcksWQNn5jCZa0+3zzz830wc3b95coC/+6le/MtP0Lrzwwryfvf7666KjwpwIr/SkmQRYenyiJQMIsAL19cLNIICABwQIsDxQBJqAAAL+ErAbYOld3XnnnTJ16lQpX758gZskwPJX3bPV2jAFWKkaJlpbRwNiXQC9W7durizG7MQUwlQ92D88Anan/yUSSeUcydbBWrBggVkcP3ZLNv0vsv8jjzwiOmW2SJEiBc7x7rvvSsOGDS1vJXb9rGQjMnVh9kGDBplArEqVKmYdyrNnz4p+XvXFD2qiL4GIDr8yDbASLRlAgBWezyx3igAChSNAgFU4zlwFAQQCJJBKgKW3He83zwRYAeoUGdwKAVZ8PH2zmD7Aaggcu91xxx0yffp0y3A4g3LYPpQAyzYVO6YhkEr4FO/0qZ5D16DS0URWW7yF3JOtfxU5V4sWLcxIKqtf5ujnu3fv3pbXjf3zc8mSJdK2bVvLfXU638svv2zeNJho27Vrl1mUftasWWa3TAMsPUe8JQMIsNLo/ByCAAIIJBAgwKJ7IIAAAikKpBpgxXtTEQFWivAB3Z0AK70AK9kac9nuLgRY2RYO9/lTDZ+stFI9R6J1sOIt5J5s/atIu6pXr26m1P/85z/P19QTJ07IQw89JJMnTy5wC7HHJBvtpSO8Hn300bgLqkdfQEdlvfnmm+baP/rRj8zIrAoVKuTtYncR98gB8ZYMIMAK9+eYu0cAAecFCLCcN+WMCCAQcIFUAyzlsHpTkRMB1qlTp2Tr1q3mbUx6vg8//FC+/fZbUwGd1nD11VfLDTfcILqOSK1atcx0itgtnfuJPoe+vvy1116Td955p8C5ky3+O3bsWHnwwQcLHJfoQSTReivJHmAOHTok7733nvzpT3+Sv/71r8YuMpVEfXQh3kaNGsmvf/1rM/0k3mvjIw1OVMPokQNHjx41ixjrYr9r164113z//felfv36ZmpLp06dTA1jt3ghzddff21+469rwVhtumaUjmq46KKLUv40JmqPnizS7pRPLGL66M0332x5aLRXorfzJbpusgWVvfB5ib7PRJ89K+dELpH9ddrlF198ITNmzJAVK1aYaVM6rapx48ZmWtWtt94qpUqVKsCodZ8/f74JGfStj/pAXrduXWndurV07Ngx38O9ndofPHhQPvjgA/NZ+/jjj2Xjxo15h6XzWbNzTd0n1c9TolF+0SNzNPDQ7wtdPFy/Q9Q1U6NE95Rq+GR1rlTPkWgtqnjf5XbWv4q0Tb+vbr/99nxN3b9/v9x9992WL2mIXf8qUa30pFOmTDHfi6lsf//732XMmDHy/PPPZxRg6TWtlgwgwEqlGuyLAAIIJBcgwEpuxB4IIIBAPoF4DwX6MKMPhvv27SsgZvVgnUmAdfLkSRMa6WLVdl8hfsstt8ioUaPkxhtvzBfMZBpgvfLKK7Jt2zbRMCp2U5NVq1aZEC12S7Tmir7Ratq0aVKuXLl8hyVaE0l31Gs1bdq0wLX0IUlDRH3AiQR8ybq1TlF77LHHTPAXL8hKFsjog9nbb78tQ4YMMeFi9JZugKW111EG+sBltdWrV8+EF1dddVWyW7T8eRADLC99XrIZYOnoFv2Ma6gcb4Fr7df6WY28Uc6OjX5/vfjii+a7I9mmnzXtmzqixs4i2/odocGafpdVrlw52emT/jwbAZbeR/SUM6tGaPit3y+6llOy4DvpTYiYEUGdO3e23NXu6MNUz5HoO9nquzzZiKjYxltNQ0w0git23axkAZb+uaHBvQa2mW7JFrXXtbisttgpjwRYmVaC4xFAAIH8AgRY9AgEEEAgRYF4DwX6kKdrc+hvc60e3GLfVJRugPXvf//brAu0aNGiFFsuZsSAPmTpiIrIQ1amAZb+hV3PG+9NcfF+K57owSXedJNED1jxRgjo6I/+/fub0T+pbvog9MILL5gRUlaj1xLVUNdn0pFXGjZZ9Yd0AiwN8HSUjK4XY3VODSV0hEi8BZHt3H/QAiwvfl60P+nm5Ags7advvfWWCXGTbRpi6YO+BhCDBw82axMl2zQY1f30s2m1ad/UkVvaN+2G6tHnyTR4jZzLyQBLR621adNGxo8fb+ueNDTWxc5jp8kls7X6earhk1PniDcqVs+v3y333HNP3qXsrn8VOcDqFxOJRnDFhkGJphtGrqGj5h544AFp0KCBnHvuuenQm2MSBViPP/64/PnPf7b8MyV2yQACrLRLwIEIIICApQABFh0DAQQQSFEgUYClC8hOnDgxb3HY6FPHvqkonQAr2dQxO7eir0TXB4Nf/vKXZncnAqw6deqYN1TpSKzYLfYtUpGfJ7uu1eL3u3fvNtNNdGqSnet8+umn5i11mzZtskNjuY9V6BfZMVEN1Tneb+n1+HQCLL2ehh/qELslamcqNx+kAMurn5dsBFip1Fj31c+lTp+yE3hFzq0P7jqKxupNchpede3a1bJv2m2bLvStIy8zGYnlZIBlt93R+9kdHZXs3G4FWInWwYodEWV3/avIvVqNRI63cHy8X2IkCtiiTfX7UKdoa6Ck/3vNNdcUGNGbqAaJAiwNcnU0WM+ePS1PEb1kAAFWsp7OzxFAAIHUBAiwUvNibwQQQCBu4BP5y7k+NOuUGKvwQheMHTFihJQoUSLhekBW69/oX5h1tIQGZLFbs2bNzEgfnapXvHhxM/JH11TSUV9WoyF0HRIN2ypVquRIgKXn69Onj+VIjiZNmsi8efOkYsWKec3WtYh0Wp3VtMPITlbBl66jo/dqNfooNvDSqUz6MKmvTM900/BRHyj1QSh6SxRgJbtmqgFWsjAmdoRfsuvH+3lQAiwvf168EGCl0z/ijXLcsWOH6CLfVkGxfo779u1rFsrWUZ/aj3U6on72rT7HI0eONN9zViGZnTa7HWDpKCwdHavrD2ayuRVgJfolQewIqnijp3SEn06ltxr1Gj3NO9GI2nhvLfzLX/5i1mVL9MuBeO46ok5HSd92221J1zhMFGDpnzU6Vf23v/2tqEHspn9O6D7a5wmwMvkUcCwCCCBQUIAAi16BAAIIpCiQaASWLtKtf2mNt0aRjsrRKSY6vSHVEVj6F399gIh96Es0akEXzdUHS6sHxdgFdTN9q1q834xb/Sb9yy+/NCOJrBZ+j5TDKviK97p1q2voFL4ePXpYVlcDqWeeeUb0QUunmZw+fdosyqzr8CxfvtzymN/85jcmPIyellJYAZY2KF54qT/LZNH22Jv1QoAVaZPdBbatCub1z4u22ckphCl+jaW9e2y4rp8dHZWlwVPspovOa1AdO/020TpuyV78kKzhbgdY2j79jtcRqZlsbgVYiUKl2rVrm3v7yU9+Yqaf6og8HUEVu+l379/+9jfLX1BoP9GRXLolCstiR3tFfyck+i60Y66js/TP0ieeeML8eW21JQuw9M+vRH++RoLY7777Lu5LOvTPGzVkQwABBBCwL0CAZd+KPRFAAAEjkCzA0sV8dWqFjsLSKWyxm64hooss61vw4r2RLfYhUUdU6SgGXTA9drOaahfZ55tvvjEBlq6NE7vFPiBkGmBpmKNvOLMKy2If6BLtG2mnhn365j59aNIt0ait2JEB+ga07t27W46+ive6c72GrpekXrrweuym7Vm2bJl5M1tkSxRg6fpZutaYtk1H551//vmWizsne+DWBbH1QSneuldOrR0UuacgBFh++Lwk+i7Rn6X6FkL93nn44YfN6JTy5cubUZg68lFHfcZbTF37qAZMOvVPR2PqZ0y/K3TNOKtpqtqu2O8bnYaob1+L/a5L9kbIRN8B8V7GYOePoGSfJw3ao9/CmGxh8Ng1lewYRYc0dtpstY9bAZa2JdE0PZ0qqr+Aibf+VeR7+7PPPrNchF6/XydNmmTWTUw0ojZRCKhvS9RfKKSzrmG0daI1Du0EWPpW2379+lkuGRBZD+3SSy8lwEr3Q8BxCCCAgIUAARbdAgEEEEhRwE6Apb+dHj16tJnCF7vpX9x1DY0LL7zQdoAV7yEx3johkWsmejiLDX0yDbBSCcvsrmMSvQC8hlL68LNixYoCprqAtU5VimybN2+Wli1bWk4zsRpJFX3CRCO3Yq+T7C2EkaliibpYsgdunZ55//33WwYKTizaHtu2IARYfvi8OB1gRYKF6HomC2d0IWpdIyh60++uYcOGiY6estpiA6x4n5fooMLqPIkCgtjPWSpf0ck+T6kEWFajQLUtumC9nkfDQavNiZE1bgZY7777btwXQUS+k+Otf/WrX/3K/Pmmo2z1zxidXhq9RY+wmzVrlglPY7dkf67p/hqw6nd+plPE460daCfA0naoVaIlAx588EG59957zZT+2M2JfpLKZ4N9EUAAgSAIEGAFoYrcAwIIFKqAnQBLG7Rr1y7zG2ir3xJrKKEjsfQv+FZb7OiLRG9qSvfmdWSB3kuFChXMKTINsBJNKYkOy6ymqOhDjT4s6l/oo7foBZH1N/rt27c3I9eiN30AefPNN/OtT6VTOfWhwmqL91bEyL6JFibWIElHRJUsWdLsnu0AS8OFs2fPmre7xW5OLdoee94gBFh++Lyou5NTCK1GbOk1EoXF8Y5J9PmJDrDsrGWXzvdTJg/2TgZYsd+R0feSKOTJpP2Ra7gZYNl5WYaO1LN682xk7UINT3UK9+LFiwt0Af0+03Wi4k1BtHpboVU/0qmoOuX7ueeekw8//DCdrmaOiX3Biv43uwFWoumwOhpNR1vrepMEWGmXhwMRQACBfAIEWHQIBBBAIEUBuwGW/pZe36gV701FunaV1WgibU7sg2W8tZ9SbHq+3WNHF2QaYOnJ4wUH//Vf/yWvvvqqXHnllebNZ7FTjjSo0pFRGupF/8Y++rf18c7dqFEjEwRccsklefeX6KE92fQkXfxd33S4Zs2aAryxCwtnO8BKVN/77rvPhGnR06Ey6Q+RY4MQYPnl81IYAVaq19B+YLdfJ1ovKZO+qGtq6T+66HuqW2EFWImmv/k9wDp27Jg88MAD5s+v2E2/A2fMmGGCUav1ryIBp/75pyP59J/YTUfY6fd9vBG18da/itcXdB02ncKqf8bon6m6nmGqW+wbNu0GWHqdREsG3HLLLaKjk62WE3Cin6R6n+yPAAII+F2AAMvvFaT9CCBQ6AJ2AyxtmL4pSUMZqzAkUcNjAyydzqMLzjq5xa5R40SAlegv/ZHgyMpPR0XpiCmr39hHjov3unWrtxUm8oo36sROgBM7IsPug36iuiULjOIdq7/d14fFX/7yl052i4Qj8fRCyfwSNSZVr3QXcffL5yXVcCmdfp3qNbR+duuUbt9N1mGjR14m2zf254UVYCX6rnMimHBzBJaaxvslgP4yQgNiDaFiR1fFrlsY75cOWl99g1+3bt0KjKjVa8e+YCTVPnDkyBEzguq9994zI5+0P8dbBy5y7thRX6kEWMmm3cZrvxP9JFUb9kcAAQT8LkCA5fcK0n4EECh0gVQCLG1cogeReI33a4CVaESGLmysa8bootH6cBTZIg89NWvWtJxSog/tGlINGDDAckSA1cNOOg/6fguwtL2J3kCZ7gcjWShBgFXD0DoR+KYaLqXTr1O9BgHWfz45iaYQBj3ASrTIvr7BdebMmQXWt4qsf6XrO+oWz0hHzer0equ3xNpZ/yrV7zb9rI4fP978uRMvyIp9+2UqAVaie03UVgKsVCvJ/ggggIAIARa9AAEEEEhRINUASxcf1984L1q0yPaVYkOCeKOPYn/jbfsCFjs68UCup403fUunizz66KPmbXrvvPNOXguiH3qsfmMf7zg9Qbw3nWUyhTCRgxtTCHWqp05r3LZtm2V5NdTQULBo0aKZlD/v2CAEWH75vKQaLnktwEr0YgW76xg50mmjTsIIrP9gxFskXfeIXc8vtg6J1sHSP3d0dHHsFjsaNt4vNHT9vquvvtq8hTB2y1a/0WmGo0aNMr8ksdpi/yxJNcDSKZMakukvWuxuBFh2pdgPAQQQ+I8AARa9AQEEEEhRINUAS0+v0+D0L+bJpjFEmhIbYCVaVPm1116TNm3apHgXBXd3KsCK9wZA/Q23rgemrx2Pdohe78TqoUEfLPQYfTiK9Yv3prNMFnGPt1i8isVObbI71SpRcRK560LH+kYvvY7eq9Xm9FTCIARYfvm8+D3AOnHihBlVOXny5AJds169ejJ//ny54oorMv5uSuUEQQmwEi0SH+/tiNFOiV6qofslC0+SvcHSqiaxb6jUfey+cTZyvkTrn2lttb/1799frrvuulS6hdk30fd17FqKqQZYev5///vf5nv67bffttW2ZDWwdRJ2QgABBEImQIAVsoJzuwggkLlAOgFWqg8DsQFWvFBI70bX2NI3HZ133nkZ3ZxTAZYuWKt/ide3VMVutWrVKrDAbvQUwHi/sbc6Ts+t67BosBW7JfLSxYMnTpwo5557rqXXkiVLpG3btpY/i71etgOsSGCmQUGiUXxOTiUMQoDll8+L3wOsZAHFSy+9ZKaJpbMYe7pfZkEJsBIFKFZvXo31Srb+op11plIJn+KNBl69erU0a9bMdjkTtStSW33joIY/2rdKlChh+9yJ2hL7y5B0AixtSCpLBhBg2S4dOyKAAAJ5AgRYdAYEEEAgRYF0Aiy9xEcffWRGYenUjGRbbIClU3W6d+8uS5cutTz0qaeeksGDByd9I51Oc/jiiy/Mb8Uvuugieeyxx/LO9/3338d97flVV11lpkDqtI9kW7Lf/EcfH/12wsh/t/vQlGj6ZCIvffjTxYetHqr27t1rDKzeDqnXW7ZsmdStWzfvFgorwNI3Deq1OnXqFLf/6PQYHZ2Q6VTCIARYfvm8BCHA+stf/iKtW7e2nFJWtWpVefHFF0WnCScLsXSK17p162TMmDFmmpeOPkxnC0qAdfToUenbt6+88sorlgwauOiUtfPPP7/Az9VS31CqU4uttnhTr2P3TbQOVuy+setfRX6eaCpi7Dms/jyI3ie2ttdff715W6W+yCLZ21i//vpr80sADcisNvXSX4ZE+mm6AVYqSwYQYKXzCecYBBAIuwABVth7APePAAIpC6QbYOlDhf5lWxczT7ZZLZSd7De7+rpufbPTL37xC6lcuXJekKGjvzSY0XPqa8aXL19uLh/7l+dko8TuuOMO89p0XWT37Nmz5rXgv//9700QpMFK9Bbv7VOx92213ondh6Z4D0yRa0yfPt1ykWD9uT5Y61sd9Z7Kly8vp06dMuux6MNzxCe2rVYjtwozwEq2hoveky6s3LBhw2TdK+HPgxBg6Q364fMShAAr2feGBsb6OdM3zmlwooGLhgQaph86dEg+//xzWbt2rXmj5l//+lfTNzN5UUBQAix1SDQaVH9+2223yaBBg+SGG26Q4sWLi35HaGCkb3XVtQjjTVkfOnSoDBs2LGnY/eWXX5rv9ug1C+N9eVi9DVb3TdY/os+XbP2reLXV7z5dFP7WW2+VK6+80nyn5+TkGA895oMPPjB/dunILavNKtBLN8DS89tdMoAAK6M/qjgYAQRCKkCAFdLCc9sIIJC+QLoBll4x0V+Ko1tk9QCnD3u6FpQuzOvEZvWX53iLXye6ntW6J3bvUxel1oXdo0dn2H1oil47y6p9uvC5/sY93qi1VAz1AUnrHjsqpDADLG1vsjVWWrVqZR5cdXRduluyACvV80b3j1S9Ej38JnpDnLbRD5+XIARYav3JJ59Ihw4dTKjtxEaA9T+KTvdhPaeuTTZjxgzRUbXJtlTCJ6s/ByLnj/dij9jrW/15EL2P099NkXPrOoMa1EX/OZRJgGXXjQArWQ/k5wgggEBBAQIsegUCCCCQokAmAZaOOtApcjrVK9EW7wFux44dZlqJ/oY3083qL8+JpgPFu57Vg4vdv8DrfTRt2jTfqRMtDB29o501XPSBWkd+bNq0KW0uHUHy3HPPmQXoixQpku88qQYyVo1IdcSI3rdOH4o3umL06NHy4IMPFmirXQCnHxLdCrD0fr3+eQlKgKXfaxoUa7+zM0U6WV8kwPqPkAYpOn1cv2sy3TSI13X8dERcsimdqYRPyd6Ga3dUbbLvdKe/m/QedUS09tvYtbQyCbD0vHb+LCXAyrRHczwCCIRRgAArjFXnnhFAICOBTAIsvfCuXbvMdIdEDySJHuB0OqCud6W/Nc5ks/rL88mTJ82IKF0PxO4W7zfvyX7rrm8lnDdvnpnOF7slOzaVN5x9/PHH5q1V6TwAanilDzi9e/e2nG7jRoCl4aDWXxeit9rijRazW0+nHxLdDLD0nr38eQlKgKXOGmLpVK0+ffrItm3b7HY3y/3sXGdoAAAgAElEQVQIsPKzaCioU/QyGU1ao0YNGTdunOjIRbvhlbbCTviUbDq3nVG1dtbl0vWlNLy3WqMw1Q53wQUXmDBPR15ZrRuYaYBl589SAqxUq8b+CCCAgAgBFr0AAQQQSFEg0wBLH/SmTZtmRvTE25I9wOlfjtesWWNGBr333nsp3UFkTRodyaWL4MZuOrJHQxtdFNzOFi/ASvQmOD1v5A17VovvZnKsVZt1OqE+vOnaMN9++62d2zKjFHSRe30DYrwHPjcCLG28jizr2LFj3KBA264hYMWKFW3da/ROQQuw9N68+nkJUoAV6UPaf3ThcX0zaqqjsTR81dFG+t2Y7jTYVEc0pjtNNVHAkY1gQvuwroml07wja4XZ+XBrUKMB/IABA9L6PrATPsVb/yrSPl1jUBeU19HH8bZk619FjtN66Z95+ueOBll2v88jx6uHrhV5//33y+WXXx63PZkGWHriZFNrs9FP7PQJ9kEAAQT8LECA5efq0XYEEHBFINMASxu9b98+85doXezcaksWYEWO0cXU//nPf5rfkusrwnfu3Clbt27NN71MAxh9MNTFvXWh95/97GdJ39ikIdt///d/mzc26ZvB/v73v+d7GNVFg3/0ox9Jo0aNzBvGrEZRffPNN+a35W+99ZblPWqYpCGW1ZbJsYk6ha4pow8/f/rTn8xDYLSVjlBQq8g9XXbZZWYh4ESbWwGW1kffQKYPpfG2dKcSBjHA8urnJYgBVnRooZ8x/bzpd4iGWVu2bMnrrhqk16xZU6pVq2amEeuIzCpVqiRdWDzZl35QA6zIfevC5BqMvPvuu5au+l2sL9rQX07od5l+V5933nnJ2OL+3M6U7kTrX0VOnOylCsnWv7JqoAZj2sd0irgu0K59TEf/RYda+r3+k5/8ROrUqWM81OXcc89N6uFEgKVv5NXvYV0032ojwEpaBnZAAAEECggQYNEpEEAAAQQQQAABBBBAAAEEEEAAAQQ8LUCA5eny0DgEEEAAAQQQQAABBBBAAAEEEEAAAQIs+gACCCCAAAIIIIAAAggggAACCCCAgKcFCLA8XR4ahwACCCCAAAIIIIAAAggggAACCCBAgEUfQAABBBBAAAEEEEAAAQQQQAABBBDwtAABlqfLQ+MQQAABBBBAAAEEEEAAAQQQQAABBAiw6AMIIIAAAggggAACCCCAAAIIIIAAAp4WIMDydHloHAIIIIAAAggggAACCCCAAAIIIIAAARZ9AAEEEEAAAQQQQAABBBBAAAEEEEDA0wIEWJ4uD41DAAEEEEAAAQQQQAABBBBAAAEEECDAog8ggAACCCCAAAIIIIAAAggggAACCHhagADL0+WhcQgggAACCCCAAAIIIIAAAggggAACBFj0AQQQQAABBBBAAAEEEEAAAQQQQAABTwsQYHm6PDQOAQQQQAABBBBAAAEEEEAAAQQQQIAAiz6AAAIIIIAAAggggAACCCCAAAIIIOBpAQIsT5eHxiGAAAIIIIAAAggggAACCCCAAAIIEGDRBxBAAAEEEEAAAQQQQAABBBBAAAEEPC1AgOXp8tA4BBBAAAEEEEAAAQQQQAABBBBAAAECLPoAAggggAACCCCAAAIIIIAAAggggICnBQiwPF0eGocAAggggAACCCCAAAIIIIAAAgggQIBFH0AAAQQQQAABBBBAAAEEEEAAAQQQ8LQAAZany0PjEEAAAQQQQAABBBBAAAEEEEAAAQQIsOgDCCCAAAIIIIAAAggggAACCCCAAAKeFiDA8nR5aBwCCCCAAAIIIIAAAggggAACCCCAAAEWfQABBBBAAAEEEEAAAQQQQAABBBBAwNMCBFieLg+NQwABBBBAAAEEEEAAAQQQQAABBBAgwKIPIIAAAggggAACCCCAAAIIIIAAAgh4WoAAy9PloXEIIIAAAggggAACCCCAAAIIIIAAAgRY9AEEEEAAAQQQQAABBBBAAAEEEEAAAU8LEGB5ujw0DgEEEEAAAQQQQAABBBBAAAEEEECAAIs+gAACCCCAAAIIIIAAAggggAACCCDgaQECLE+Xh8YhgAACCCCAAAIIIIAAAggggAACCBBg0QcQQAABBBBAAAEEEEAAAQQQQMDzAkdO5Mo3R3IdbeePLsxx9HycLHsCBFjZs+XMCCCAAAIIIIAAAggggAACCCDggMCqv56W59446cCZ8p+iWBGR5zuVkqurEGQ5juvwCQmwHAbldAgggAACCCCAAAIIIIAAAggg4JzAD2dEWow5KmfOOnfO6DPVuDhHJncrlZ2Tc1bHBAiwHKP03olyc3Pls88+k2nTpsmKFStk+/btcsEFF0jjxo3lvvvuk4YNG0pOTsGU+ezZs7Ju3Tp58cUXZe3atfLDDz9I/fr1pUePHnLbbbdJiRIlLG92165dMmHChLxr1apVS9q3by/du3eXihUrWh5z8uRJWb58uWnj+vXrpVixYknb5z1pWoQAAggggAACCCCAAAIIIJAtgW+P5Mqd449l6/RyQZlzZFH/0hmf/+DBg9K3b1955513bJ1Ln5/btGlj9h03bpyMGTNGmjdvLs8991zcZ2jd98MPP5TWrVtLly5d5KmnnpKSJUuac+zcuVN69+4t//jHPyyvf/7550udOnWkadOm0qJFCylfvrytdnplJwIsr1TC4XZoeLVw4ULp06ePfPvtt1KjRg2pWrWqHDp0SDZu3GiuNnToUPPPueeem3f1M2fOyJw5c6Rfv35y+PBhueGGG0yotHXrVvPvVsfowfpz/aBs2rTJXOuyyy6THTt2yO7du6VZs2YyceJEqV69er671PBq9OjR8sQTT0jZsmWlZs2aJizT9um/jxw50pyzaNGiDutwOgQQQAABBBBAAAEEEEAAAb8IhCnAijyr9+rVK+6zcLoBVnS9q1WrJsOGDZNGjRrJOeec44uuQIDlizKl3shPPvlEOnToIMeOHZNJkybJrbfeakZbabD10UcfmYBKwyYNqzp16pR3AR0Fpf9euXJlc1zt2rXNz/7v//2/0r9/f3n33XflpZdeMueObPv37xf9cK1Zs0bGjh0rXbt2NR+0o0ePmgRZPxSaQmtYVarUf4ZlLliwQHr27CkNGjQw19KALbp9e/fulblz55rRX2wIIIAAAggggAACCCCAAALhFPBjgLVs2TK5/vrrbRcsMgJLD6hSpYoZkXXjjTdaHp8swNKDpkyZIhpSRW86YOTzzz83P1u8eHHS69hufCHtSIBVSNCFfRkNkh588EF5/vnnZeDAgQUS1VWrVkm7du3MsEMNj3TEk46IGjx4sIwfP15ee+21vKGMkbZHQrErr7xSpk+fnjfccMmSJdK2bVsTcGlIFT3FUEd8aVi2evVq0Q9w3bp1zel0aKVOLdTRVtH/PXKtSPu6detW4JyFbcn1EEAAAQQQQAABBBBAAAEE3BMIU4BVqVIl2bdvn1la5/e//73ov8du6QZYkfOcOnVKpk6dKqNGjTIzpnTgyYUXXuhegW1emQDLJpSfdjtx4oSMGDFCFi1aZIImqxFMuh7WXXfdZUZa6SinChUqmOl+d999txQvXtz8t0suuSTfbetorgceeMCscfXGG2+Y0Vna8YcMGWJGXmnopHNpY7dZs2aZUVkvvPCCCdN027x5s7Rs2VKaNGmSF6BFH6ejurQtes158+aZ0VlsCCCAAAIIIIAAAggggAAC4RMIU4Clz/JbtmwxI6R0gIkuCxS7rE6mAZb2IJ3xpINNPvjgA5kxY4YJsry+EWB5vUJZap+OptIRWD/+8Y/zAiwdDaWdVoOtP/zhD1K6dMFF7IYPH27WrIpMPdSRVLpw3J49e+TVV18VHZ0Vu+m0xJtvvtlMM9SgS6cR6vpcOg3xySefNP/Ezrk9fvy4Cbs0FX7//feZRpilfsBpEUAAAQQQQAABBBBAAAGvC4QpwNKF3a+66irz4rXvv//erCcdOyjFiQBLl+95+eWXzZI/GmQNGjRIihQp4umuQIDl6fJkp3HaUTVIeuihh+Txxx83AZJ21D/+8Y/SqlUrExzpUEIdiRW76ciszp07y9NPP22OjYza0v3ijZSyGu0VmeIYPSor9lqxYVl2NDgrAggggAACCCCAAAIIIICAlwXCFmDdcccd5vlaR2DddNNNoqGWzp6KbE4EWHouXeO6Y8eO5o2EuvyQLi3k5Y0Ay8vVyVLb1q1bZ6b06QgrXUj95z//ublSbDhldfnYfazCqdjjrPaxE07Z2SdLRJwWAQQQQAABBBBAAAEEEEDAIwJ+DLCS0cUu8h5ZxF3DqjZt2pjldJ566inznK7rTesAlMhUQqcCrMh59E2EOtKrfPnyyZrt6s8JsFzlL/yLb9iwwQxF1LcK6psHNG2NTN8LWoCl62yxIYAAAggggAACCCCAAAIIJBeIvIE++Z6Fv0cYAyxV3rFjh9x///1myZ6XXnpJGjZsaPAJsAq/D3LFQhTQaYMrV66UAQMGyJdffmmmEOoorOjF4IIUYEVCuY8++qgQlbkUAggggAACCCCAAAIIIOBPAQKsgmtAp1pJXSO6b9++8s4770jsCKtk54odgaX763P8kiVLzAis66+/3kwlvOyyywiwkmHyc/8KnD592gw7fPDBB81NaKfXBdRzcnLy3dTq1avNIu6PPPKI6PQ9qwXcIiHXyJEjzX4ahnXq1Mmcx+rNhfrfI1MIq1SpIrNnzzbDEnVx9t69e5tRYLq4u9UWmUKo0xx1YflUtkiApR94NgQQQAABBBBAAAEEEEAAAf8K+HEElhMBllYseiqhPjsPGTJEtm3bJq1btzYvVNNphiVLljTF3blzp3nO1k2ftatVq5aw6KtWrZJu3bqZF7zp2w/LlCnj6U7CFEJPlyfzxh09elQ0bNJ/atSoYTqxDjuMfeufXilIbyEkwMq873AGBBBAAAEEEEAAAQQQQMALAmEOsNRfpxLqy9b0f8ePHy8XXHBBxgHWmTNnRF+qpiO/dLF4HeVllRN4of6RNhBgeakaDrfl8OHD8vDDD8uLL75oRlb94Q9/kCuvvDLuVSJvFNS3D1qNptLz9enTR9asWSNvvPGG6BDTU6dOmQRYpyRqetu0adMC54+Mtop+46CuT9WyZUtp0qSJTJo0qcDbDiIju/T88d5umIiLAMvhzsTpEEAAAQQQQAABBBBAAAGXBMIeYOnMIh3Rpc/e1atXl7vvvlsGDRqU0QisvXv3Sr9+/eSTTz6R6dOny8033+xSde1flgDLvpWv9tSRV5qiTp48We68804TMF166aUJ7+HkyZPmGE10X3vtNfPmg+hNO7ZOPdQQTDt45A0FOie3bdu2JrEdPXq0lChRIu+wQ4cOmQ+FTk/UD1zdunXNz3RucPfu3c2or+j/HjlQwzAdxqjDGWPPaacQBFh2lNgHAQQQQAABBBBAAAEEEPC+QNgDLK2QTiV85plnZObMmVKpUiXZt29f2gGWDhTRrGDMmDFy2223mWfucuXKeb4jEGB5vkTpNVDXjerZs6f88pe/NOtNXXTRRbZOtH79erOmVeXKlc1aWXXq1DHDCPWthRpQrVixQubMmZO37pWedP/+/WYdKx2ZpUFZ586dTYilIZp+IIYNG2Z+rj8rVapUXjsibWzQoIEJzX784x+bRep04XUNvfRNC7qP/jzVjQArVTH2RwABBBBAAAEEEEAAAQS8KUCA9T91iUwl3LJli/n3VNfAOnHihHzxxRdmaaHFixeLrlM9ceJEs0C8HzYCLD9UKcU2fvPNN6Yjv/XWW0mPbN68uZkuWKFCBbOvLviunXno0KGiUwZvuOEGKVasmGzdutX8u/53/efcc8/Nd+4NGzbIfffdZxaT07W29M0I+uHSaYk6fVE/FDrUMXqLXp+rbNmyUrNmTfnhhx/MqCz9d123Sxegi35TYtIb+t8dCLDsSrEfAggggAACCCCAAAIIIOBtAQKs/6lP9FTCI0eOxA2w/vGPfyQtqC7w/txzz5lnfq+vfRW5GQKspGX13w6R9aW++uqrpI2PDbD0gLNnz8q6devM2llr1641oVL9+vWlR48eZnhh9BTB6Avs2rXLjNrSUVr65sFatWpJ+/btzVTBihUrWrZFpy0uX75cpk2bJjr6S8Oyxo0bmzBMF5uPfVNi0hsiwLJLxH4IIIAAAggggAACCCCAgC8ECLD+UyYdRaVTCWfMmJFygKUjrvQ5/dZbbzWztXTgiJ82Aiw/VYu22hZgBJZtKnZEAAEEEEAAAQQQQAABBDwt4JcAy9OIAWgcAVYAisgtFBQgwKJXIIAAAggggAACCCCAAALBECDACkYdM70LAqxMBTnekwIEWJ4sC41CAAEEEEAAAQQQQAABBFIWyHaAVbSIyMqH86/znHIjOSDrAgRYWSfmAm4IEGC5oc41EUAAAQQQQAABBBBAAIHsCPSdeVw+/ffZrJz81muLyu9alMjKuTmpcwIEWM5ZciYPCRBgeagYNAUBBBBAAAEEEEAAAQQQyFBg73e5MvXPp2TPN86GWD+/vIg88KviGbaOwwtDgACrMJS5RqELEGAVOjkXRAABBBBAAAEEEEAAAQQQQCBrAgRYWaPlxG4KEGC5qc+1EUAAAQQQQAABBBBAAAEEEHBWgADLWU/O5hEBAiyPFIJmIIAAAggggAACCCCAAAIIIOCAAAGWA4icwnsCBFjeqwktQgABBBBAAAEEEEAAAQQQQCBdAQKsdOU4ztMCBFieLg+NQwABBBBAAAEEEEAAAQQQQCAlAQKslLjY2S8CBFh+qRTtRAABBBBAAAEEEEAAAQQQQCC5AAFWciP28KEAAZYPi0aTEUAAAQQQQAABBBBAAAEEEIgjQIBF1wikAAFWIMvKTSGAAAIIIIAAAggggAACCIRUgAArpIUP+m0TYAW9wtwfAggggAACCCCAAAIIIIBAmAQIsMJU7RDdKwFWiIrNrSKAAAIIIIAAAggggAACCARegAAr8CUO5w0SYIWz7tw1AggggAACCCCAAAIIIIBAMAUIsIJZ19DfFQFW6LsAAAgggAACCCCAAAIIIIAAAgESIMAKUDG5lf8IEGDRGxBAAAEEEEAAAQQQQAABBBAIjgABVnBqyZ1ECRBg0R0QQAABBBBAAAEEEEAAAQQQCI4AAVZwasmdEGDRBxBAAAEEEEAAAQQQQAABBBAIpAABViDLyk0xAos+gAACCCCAAAIIIIAAAggggEBwBAiwglNL7iRKgACL7oAAAggggAACCCCAAAIIIIBAcAQIsIJTS+6EAIs+gAACCCCAAAIIIIAAAggggEAgBQiwAllWbooRWPQBBBBAAAEEEEAAAQQQQAABBIIjQIAVnFpyJ1ECBFh0BwQQQAABBBBAAAEEEEAgYAIHReRLh+/paofPx+myJkCAlTVaTuymAAGWm/pcGwEEEEAAAQQQQAABBBBwWGCmiPzG4XPq6YqLyNsiclMWzs0pHRUgwHKUk5N5RYAAyyuVoB0IIIAAAggggAACCCCAQIYCp0SkjIj8kOF54h1eR0Q+zNK5Oa1jAgRYjlFyIi8JEGB5qRq0BQEEEEAAAQQQQAABBBDIQOArEbkkg+OTHXqxM1MTDx48KH379pV9+/bJlClTpFq1anGvfOLECXnqqadk9uzZsmzZMrn++uvNvtH/vWvXrvLYY49J6dKl455nyZIl0q9fPxk0aJAMGDAgb79x48bJmDFj4h53zTXXSL169aRVq1ZSq1YtycnJSabk+s8JsFwvAQ3IhgABVjZUOScCCCCAAAIIIIAAAggg4IJASAOsMmXKyKhRo6R169YSecaN1U83wIo+jwZlgwcPlvPPP9+F4tq/JAGWfSv29JEAAZaPikVTEUAAAQQQQAABBBBAAIFEAiENsJRER0eNHTtWqlevbimULMCKHZmlJ8nNzZXvvvtOVq1aJZMmTZKdO3eKndFebndSAiy3K8D1syJAgJUVVk6KAAIIIIAAAggggAACCBS+QEgDrEqVKpnpiJ06dTLTDa2mEqYTYEUX8LPPPpPf/e53smXLFpkwYYK0adOm8Otr84oEWDah2M1fAgRY/qoXrUUAAQQQQAABBBBAAAEE4gqENMCaPHmyzJkzRz744AMZP368CZdipxJmGmDpaKx58+aZKYQtWrSQ559/XsqWLevJzkiA5cmy0KhMBQiwMhXkeAQQQAABBBBAAAEEEEDAIwIhDbB0cfdjx45Jz5495fLLLxcNtGKnEmYaYGmF9+zZI/fff7+ZVvjyyy/LVVdd5ZHC528GAZYny0KjMhUgwMpUkOMRQAABBBBAAAEEEEAAAY8IhDjA0jWwdFSUjsBq166dPPPMM/lGSDkRYB05ckQeffRRWbx4scyYMUOaNWvmkcITYHmyEDTKWQECLGc9ORsCCCCAAAIIIIAAAggg4JqAzwKsd955JyUqHWl1/fXXm2NOnDhh1ruaPXu2RP67roOl61StXbtWRo8eLXfffXfeVEInAqzoa3p5HSxGYKXUrdjZLwIEWH6pFO1EAAEEEEAAAQQQQAABBJIIhDzAUp3169dL3759pVy5cvLiiy/mTfMjwOLTg4DPBQiwfF5Amo8AAggggAACCCCAAAIIRAR8FmDpiKkpU6ZItWrV4tbQaqSV7hzvv58+fVomTZpkRmDddttt5n81zCLA4mOCgM8FCLB8XkCajwACCCCAAAIIIIAAAggQYOVNLVSK6KmEw4YNk+7du8vSpUulX79+MmjQIBkwYEBenxk3bpyMGTOmwH+36lSHDx+Whx56SFasWCHz58+XBg0aeLLvMYXQk2WhUZkKEGBlKsjxCCCAAAIIIIAAAggggIBHBBiBlVeIDRs25AVVL730kuzcuTPjAGv79u3Sq1cvKVasWNKRY272CAIsN/W5dtYECLCyRsuJEUAAAQQQQAABBBBAAIHCFSDAyvPWqYRTp06VkSNHyq233ip16tSR4cOHpz0CKzc3V+bNmyeDBw+W9u3by4gRI6R06dKFW1+bVyPAsgnFbv4SIMDyV71oLQIIIIAAAggggAACCCAQV4AAKx/N/v375eGHH5aVK1dKpUqVzNTCdKcQfvbZZ2YE1549e2T8+PHSvHlzz3ZEAizPloaGZSJAgJWJXkCOPbBFZOtzIntWiPxwJDs3VeJ8kSrNRWo+LFKhVnauwVkRQAABBBBAAAEEEAi7AAFWgR4QmUr4r3/9y/wslQDr7NmzcvDgQVmzZo1ZGF6nIXbr1k0ee+wxKVmypGd7GwGWZ0tDwzIRIMDKRC8Ax2p49Xp9kdPHC+dmipYSabWeEKtwtLkKAggggAACCCCAQNgECLAKVDx6KmGiAMtOV7n33nvNiK4yZcrY2d21fQiwXKPnwtkUIMDKpq4Pzr22g8jOhYXb0Gp3iTReULjX5GoIIIAAAggggAACCIRBgADLssoHDhwwwdObb74ZdwRWvO5x3XXXyS233CK33367/PSnP5WcnBzP9yQCLM+XiAamI0CAlY5agI6ZUTZ70wYTMfXMDRAit4IAAggggAACCCCAgEcEfBJgeUQrsM0gwApsacN9YwRY4a6/vHSOOwAEWO64c1UEEEAAAQQQQACBYAsQYAW7vjbvjgDLJhS7+UuAAMtf9XK8tQRYjpNyQgQQQAABBBBAAAEEXBPIdoBVTEROuXZ3XNimAAGWTSh285cAAZa/6uV4awmwHCflhAgggAACCCCAAAIIuCpwg4hsylIL7hWR6Vk6N6d1TIAAyzFKTuQlAQIsL1XDhbYQYLmAziURQAABBBBAAAEEEMiiwBciMkhEPnP4Gg1EZLLD5+R0WREgwMoKKyd1W4AAy+0KuHx9AiyXC8DlEUAAAQQQQAABBBBAAAFnBQiwnPXkbB4RIMDySCHcagYBllvyXBcBBBBAAAEEEEAAAQQQyIoAAVZWWDmp2wIEWG5XwOXrE2C5XAAujwACCCCAAAIIIIAAAgg4K0CA5awnZ/OIAAGWRwrhVjMIsNyS57oIIIAAAggggAACCCCAQFYECLCywspJ3RYgwHK7Ai5fnwDL5QJweQQQQAABBBBAAAEEEEDAWQECLGc9OZtHBAiwPFIIt5pBgOWWPNdFAAEEEEAAAQQQQAABBLIiQICVFVZO6rYAAZbbFXD5+gRYLheAyyOAAAIIIIAAAggggAACzgoQYDnrydk8IkCA5ZFCuNUMAiy35LkuAggggAACCCCAAAIIIJAVAQKsrLByUrcFCLDcroDL1yfAcrkAXB4BBBBAAAEEEEAAAQQQcFaAAMtZT87mEQECLI8Uwq1mEGC5Jc91EUAAAQQQQAABBBBAAIGsCBBgZYWVk7otQIDldgVcvj4BlssF4PIIIIAAAggggAACCCCAgLMCBFjOenI2jwgQYHmkEG41gwDLLXmuiwACCCCAAAIIIIAAAghkRYAAKyusnNRtAQIstyvg8vUJsFwuAJdHAAEEEEAAAQQQQAABBJwVIMBy1pOzeUSAAMsjhXCrGQRYbslzXQQQQAABBBBAAAEEEEAgKwIEWFlh5aRuCxBguV0Bl69PgOVyAbg8AggggAACCCCAAAIIIOCsAAGWs56czSMCBFgeKYRbzSDAckue6yKAAAIIIIAAAggggAACWREgwMoKKyd1W4AAy+0KuHx9AiyXC8DlEUAAAQQQQAABBBBAAAFnBQiwnPXkbB4RIMDySCHcagYBllvyXBcBBBBAAAEEEEAAAQQQyIoAAVZWWDmp2wIEWG5XwOXrE2C5XAAujwACCCCAAAIIIIAAAgg4K0CA5awnZ/OIAAGWRwrhVjMIsNyS57oIIIAAAggggAACCGRP4ORBkWNfOnv+8lc7ez7OljUBAqys0XJiNwUIsNzU98C1CbA8UASagAACCCCAAAIIIICAgwL/PVPknd84eML/PVVOcZGWb4tcdJPz5+aMjgoQYDnKycm8IkCA5ZVKuNQOAiyX4LksAggggAACCCCAAMVj2RIAACAASURBVAJZEDhzSmRGGZGzP2Th5CJSsY7IHR9m59yc1TEBAizHKDmRlwQIsLxUDRfaQoDlAjqXRAABBBBAAAEEEEAgSwLHvhKZc0mWTi4ipS8W6Zz51MSdO3dK7969pVKlSjJx4kQpX7580jafOHFCnnrqKZk9e7Z07dpVHnvsMSldunTc45YsWSL9+vWTQYMGyYABA/L2GzdunIwZMybucddcc43Uq1dPWrVqJbVq1ZKcnJykbfPaDgRYXqsI7XFEgADLEUb/noQAy7+1o+UIIIAAAggggAACCMQKhCTAKlOmjIwaNUpat24tkWfaWIp0A6zo82hQNnjwYDn//PN91dcIsHxVLhprV4AAy65UQPcjwApoYbktBBBAAAEEEEAAgVAKhCTA0trq6KixY8dK9erVLUudLMCKHZmlJ8nNzZXvvvtOVq1aJZMmTRIdKWZntJfX+hoBltcqQnscESDAcoTRvychwPJv7Wg5AggggAACCCCAAAKxAiEJsHTq4b59+6RTp05mWqHVVMJ0Aqxozs8++0x+97vfyZYtW2TChAnSpk0b3/Q3AizflIqGpiJAgJWKVgD3JcAKYFG5JQQQQAABBBBAAIHQCoQkwJo8ebLMmTNHPvjgAxk/frwJl2KnEmYaYOlorHnz5pkphC1atJDnn39eypYt64uuRYDlizLRyFQFCLBSFQvY/gRYASsot4MAAggggAACCCAQaoGQBFjLli2TY8eOSc+ePeXyyy8XDbRipxJmGmBpP9qzZ4/cf//9Zlrhyy+/LFdddZUvuhcBli/KRCNTFSDASlUsYPsTYAWsoNwOAggggAACCCCAQKgFQhRg6RpYOipKR2C1a9dOnnnmmXwjpJwIsI4cOSKPPvqoLF68WGbMmCHNmjXzRfciwPJFmZxp5OnTp+XJJ5+UzZs3y9y5c6VChQpxT7xr1y4zH3bFihWyfft2qVq1qhm+2KtXL6lRo4blcbHH6Aevffv20r17d6lYsaLlMSdPnpTly5fLtGnTZP369VKsWDFp3Lix3HfffdKwYcO0X+1JgOVMn/HtWQiwfFs6Go4AAggggAACCCCAQAGBEAVY119/vVkHS9epWrt2rYwePVruvvvuvKmETgRYJ06cMGtszZ4921frYBFgheS7QcOrKVOmyNChQ+Wmm25KGGCtW7fOvJFg9+7dJqzS8Er/fyTImjlzpgmXoretW7dK7969ZdOmTeaYyy67THbs2GGO0zR34sSJBYY+anilH8YnnnjCJMo1a9aUH374QTZu3Gj+feTIkeacRYsWTblKBFgpkwXrAAKsYNWTu0EAAQQQQAABBBAIt0DIAiwttg7w6Nu3r5QrV05efPHFvGl+BFjh/igE/u4PHz5swqBRo0aZe23evHncAOvTTz+Vbt26yd69e2XMmDHStm1bMwpKwyZdTG7gwIFSr149mTVrllx88cXmfPv37zcjs9asWWNe96nhl4ZOR48eNecYNmyY+eBpWFWqVKk87wULFpi5vQ0aNDCv8tSgTBeU++ijj6Rfv36mDTpSrH79+inXiAArZbJgHUCAFax6cjcIIIAAAggggAAC4RYIYYClg1D0OVmfo2+77TbzvxpmEWCF+6MQ2LvXDv/222+bua0ffvih6Cs5jx8/HncE1pkzZ0zYNHz4cHnppZekR48e+d54oCGWvqng9ddfl0WLFokObdRNP0AadPXv3998qEqUKJFneujQIRNGrV69WnRBurp165qfHTx40Ewt1NFW0f89cuCqVavMfF8N02LPaadgBFh2lAK8DwFWgIvLrSGAAAIIIIAAAgiETiCEAZbWOHoqoT6r6zP00qVLzTP2oEGDZMCAAXldYdy4cWYASex/t+orOsjloYceMksGzZ8/3wwq8cPGFEI/VCnNNuqQw5tvvtlMx9M3DNx+++3mfytXrmw5AuvLL7+UTp06mavpyKdLLrkk6ZVPnTolQ4YMMSOvNHRq2rRpgWN0tJaOynrhhRfMCC7ddB2uli1bSpMmTUyqHPvaTh3VpfN89Q0M+opPHZ2VykaAlYpWAPclwApgUbklBBBAAAEEEEAAgdAKhDTA0npv2LAhL6jSgSY7d+7MOMDS5YF0FpWuQa1LDVWrVs0XXYsAyxdlSq+ROurqrbfeMuGRvoJTO+ldd90VN8DS0VC6XpWOvNLphsWLF096YR1J1aVLF/MazldffVWuvPLKAsdEgjT9gGjQpdMIFy5cKB06dDCLyus/kcApcrCOFNOwa+rUqfL++++nPI2QACtp6YK9AwFWsOvL3SGAAAIIIIAAAgiESyDEAZbOrNLnYl0W6NZbb5U6deqYWVPpjsDSZXt0kIjOrtKXro0YMUJKly7ti/5EgOWLMjnTyGQBViRU0pFSOlJL3w6oi8Xpmw90YXadJtinT598I7N0kXYdKaVbvJFSVtfVIOvBBx/MNyor9i71Q6kLvOvaW5GRYXYlCLDsSgV0PwKsgBaW20IAAQQQQAABBBAIpUCIAyytt85Qevjhh2XlypVmaSCdWphugPXZZ5+ZEVw6CGX8+PFmjWy/bARYfqmUA+1MFmDptMHOnTubebOffPKJeaXmDTfcIGXKlMl7o+C1115rQq0bb7zRtCjZOePtYyecsrNPPBYCLAc6jJ9PQYDl5+rRdgQQQAABBBBAAAEE8guEPMBSjMhUwn/961/GJpUA6+zZs2Ydan3xmi7ho9MQdb3pxx57TEqWLOmb3kaA5ZtSZd7QZGHTs88+K0OHDjUX0qmE+u+1atUy0/v0jYI6MkvDLR2yqOHWpZdeSoCVeVk4QzYECLCyoco5EUAAAQQQQAABBBBwR8BnAdY//vGPpE4TJkyQNm3ayIkTJ+Spp54yz9j6grPIy9JiTxA9lTBRgJX0wiJy7733mhFdOljFTxsBlp+qlWFbkwVYkWl9umD64sWLTVAVvUWvS/Xaa6+ZD1uyc+rxVvvYGV1lZ594JJERWB999FGGahyeqkDp7aWl8szKUu79cpJzLCfVw23tf6bsGTl04yHZ23WvHKtxrMAxtTfn77u2TurATptr098cYPT1KUof2y6V986Uct+/LzlnC/ZNJ27uTJGycui8G2Vv5a5yrHQNJ07JORBAAAEEEEAAAaldu7Z3FQiwTG0OHDhggqc333wz7giseEW87rrr5JZbbjEvd/vpT38qOTnZeVbLZiciwMqmrsfOnSxsikwh1EXZrd4MqLcTeaPg008/LY8//rjYeXNh5LpVqlQxqXL58uXNInS9e/c2bzzQxd2ttkiAtWDBArP4fCobAVYqWs7tq+FVjXtrSM7JwvkyPFvirGz/P9sLhFgEWM7VlDPZF9Dwqsb2eyXn7En7B2Ww59mcErK9xv8hxMrAkEMRQAABBBBA4D8CBFhf0h08LkCA5fECOdm8ZAHW6tWrzdTB6LcFxl7/3XfflYYNG0okwOIthE5WKADn6iAiCwv5PjTbXBBzTaYQFnIRuJwRWNtBZGchfwCq3SXSOPYDQD0QQAABBBBAAIGACfhkBFbA1D13OwRYnitJ9hqULMDShdvbtWsn1apVMyOlLrzwwgKNiYzA0ld4PvLII3Lq1CkZMmSI6PTDVatWSdOmTQscExltpWtoDRw40Px88+bN0rJlS2nSpInlaK/IyC49f7y3GyaSYhH37PWjhGcuKyJHXLh2LgGWC+pcMlZgRlmRH1z4APSM/QBQGgQQQAABBBBAIGAC2Q6wcoqJ9DgVMLTg3Q4BVvBqGveOkgVYulB73759Rde30jWwdDRW9Hbo0CHzus2lS5eafxo3bmx+vGTJEmnbtq30799fRo8eLSVKlMg7LHKMju7SBenq1q1rfqYjt7p37y4bN27M998jB2oYpmGavhkh9px2SkaAZUcpC/uck4Vz2jklAZYdJfbJtgAj/7ItzPkRQAABBBBAIMwCy24Q2bcpOwI17hVpOD075+asjgkQYDlG6f0TJQuw9A4iwdGPf/xj0bci1K9f3yzupuGWvoFw2LBhcs8995ifnXfeeeam9+/fb6Yd6is5dSRW586dTYgVfYzVtERd26pnz57SoEEDGT9+vOg1c3NzRRde16Bsz549ovvoz1PdCLBSFXNofwIshyA5jS8FCLB8WTYajQACCCCAAAI+ETj8hcjGQSLffeZsgy9uIHLzZGfPydmyIkCAlRVWb57UToClr+acOXOmmep3+PBhqVWrllSoUEF27Nghu3fvNoHW9OnTpUaN/G++2rBhg9x3332ybds287PLLrss7xgdyTVx4kSpXr16PhgNuHQqov5TtmxZqVmzpvzwww9mVJb+u/53Xei9aNGiKYMSYKVM5swBBFjOOHIWfwoQYPmzbrQaAQQQQAABBBBAwBcCBFi+KJMzjbQTYOmVdBSUroelQdUf//hHE1zVq1fPjKzq2LGjCbSstl27dpmRWStWrBC9loZf7du3N1MFK1asaHnMyZMnZfny5TJt2jRZv369FCtWzExN1DBMF4tP99WeBFjO9JmUz0KAlTIZBwRIgAArQMXkVhBAAAEEEEAAAQS8JkCA5bWK0B5HBAiwHGFM/SQEWKmbcURwBAiwglNL7gQBBBBAAAEEEEDAcwIEWJ4rCQ1yQoAAywnFNM5BgJUGGocERoAAKzCl5EYQQAABBBBAAAEEvCdAgOW9mtAiBwQIsBxATOcUBFjpqHFMUAQIsIJSSe4DAQQQQAABBBBAwIMCBFgeLApNylyAACtzw7TOQICVFhsHBUSAACsgheQ2EEAAAQQQQAABBLwoQIDlxarQpowFCLAyJkzvBARY6blxVDAECLCCUUfuAgEEEEAAAQQQQMCTAgRYniwLjcpUgAArU8E0jyfAShOOwwIhQIAViDJyEwgggAACCCCAAALeFCDA8mZdaFWGAgRYGQKmezgBVrpyHBcEAQKsIFSRe0AAAQQQQAABBBDwqAABlkcLQ7MyEyDAyswv7aMJsNKm48AACBBgBaCI3AICCCCAAAIIIICAVwUIsLxaGdqVkQABVkZ86R9MgJW+HUf6X4AAy/815A4QQAABBBBAAAEEPCtAgOXZ0tCwTAQIsDLRy+BYAqwM8DjU9wIEWL4vITeAAAIIIIAAAggg4F0BAizv1oaWZSBAgJUBXiaHEmBlosexfhcgwPJ7BWk/AggggAACCCCAgIcFCLA8XByalr4AAVb6dhkdSYCVER8H+1yAAMvnBaT5CCCAAAIIIIAAAl4WIMDycnVoW9oCBFhp02V2IAFWZn4c7W8BAix/14/WI4AAAggggAACCHhagADL0+WhcekKEGClK5fhcQRYGQJyuK8FCLB8XT4ajwACCCCAAAIIIOBtAQIsb9eH1qUpQICVJlymhxFgZSrI8X4WIMDyc/VoOwIIIIAAAggggIDHBQiwPF4gmpeeAAFWem4ZH0WAlTEhJ/CxAAGWj4tH0xFAAAEEEEAAAQS8LuDbACs3N1cOHTokp0+flpycHClXrpz53+ht165dMmHCBPnb3/4mxYoVk1/84hdyzz33SMWKFb1eF9qXoQABVoaA6R5OgJWuHMcFQYAAKwhV5B4QQAABBBBAAAEEPCrg2wBr+/btctddd8m2bdtk5MiRMnjwYClSpEge8/r166V79+6i+0Vv9erVkxkzZshVV13l0ZLQLCcECLCcUEzjHARYaaBxSGAECLACU0puBAEEEEAAAQQQQMB7Ar4NsObOnSudO3c2QdSiRYvk6quvztM9evSo9O3bV1555RVL8TvvvFOmTp0q5cuX915FaJEjAgRYjjCmfhICrNTNOCI4AgRYwakld4IAAggggAACCCDgOQFfBlhnzpyRxx9/XJ599lnp1auXjB07VkqVKpWHu3nzZmnZsqV89dVX0qJFCxkzZoxceOGFsmzZMnnooYfk8OHD8tprr0mbNm08VxAa5IwAAZYzjimfhQArZTIOCJAAAVaAismtIIAAAggggAACCHhNwJcBlgZQffr0kdmzZ8uUKVNMiBW9zZo1S7p27Sply5aVpUuXSuPGjc2PT548aaYajh8/XgYOHCijRo2S4sWLe60mtMcBAQIsBxDTOQUBVjpqHBMUAQKsoFSS+0AAAQQQQAABBBDwoIAvA6wDBw5Ip06dZOXKlbJgwQKzFlZkix6d1ahRI9GphpdccknezyPhVrt27WTatGlm8Xe24AkQYLlUUwIsl+C5rCcECLA8UQYagQACCCCAAAIIIBBMAd8HWKtWrZKmTZvmVef777+XHj16yOLFi83//uEPf5DSpUvn/Xz16tXSrFkzad68uQm3KlSoEMzKhvyuCLBc6gAEWC7Bc1lPCBBgeaIMNAIBBBBAAAEEEEAgmAK+DLCiQ6qZM2fKPffck1ed2LcTPvLII/kqt3DhQunQoQMBVjD7c95dEWC5VGACLJfguawnBAiwPFEGGoEAAggggAACCCAQTAFfBljR0wQ1vJowYYKcd955pkLTp083I690e/311+X222/Pq1xubq6MGDHCLADfpUsXmTRpklkniy14AgRYLtWUAMsleC7rCQECLE+UgUYggAACCCCAAAIIBFPAlwGWlmLFihXSsWNH80ZBXZBd3zb4+eefmzcS6iisevXqyfz58+WKK67Iq5y+lVADrzVr1oiOzBo+fLgUKVIkmJUN+V0RYLnUAQiwXILnsp4QIMDyRBloBAIIIIAAAggggEAwBXwbYB06dEj69esnuii71aajrJ588sl8AZWuedW5c2eze+zorGCWN7x3RYDlUu0JsFyC57KeECDA8kQZaAQCCCCAAAIIIIBAMAV8G2BpOXbv3i19+vQxo7GitzvvvNNMK7zooovy/vOuXbtMeLV+/Xpp0qSJCb4uvvjiYFaVuxICLJc6AQGWS/Bc1hMCBFieKAONQAABBBBAAAEEEAimgK8DLC3J8ePH5b333pMtW7aYCl133XXSoEEDKVGiRF7FTp48KWPGjDH76damTRvp2bNnXsgRzNKG+64IsFyqPwGWS/Bc1hMCBFieKAONQAABBBBAAAEEEAimgO8DrGCWhbvKVIAAK1PBNI8nwEoTjsMCIUCAFYgychMIIIAAAggggAAC3hQgwPJmXWhVhgIEWBkCpns4AVa6chwXBAECrCBUkXtAAAEEEEAAAQQQ8KiAZwMsnfan0wJPnDiRFbqSJUtKrVq18k01zMqFOKkrAgRYrrCLEGC5BM9lPSFAgOWJMtAIBBBAAAEEEEAAgWAKeDbAOnDggHTq1ElWrlyZFfnmzZuLvpWwQoUKWTk/J3VXgADLJX8CLJfguawnBAiwPFEGGoEAAggggAACCCAQTAECLAKsQPZsAiyXykqA5RI8l/WEAAGWJ8pAIxBAAAEEEEAAAQSCKeDZAOvIkSMyZ84c+f777y3lT506JStWrJBNmzZJ586d5ZprrklYoY0bN8qyZcukXr160qJFC6lYsaI5rkyZMsGsbMjvigDLpQ5AgOUSPJf1hAABlifKQCMQQAABBBBAAAEEging2QArGfdf/vIXad26tdntjTfekNq1ayc8ZO/evdKjRw959913ZcqUKdKxY0eJhBzJrsXP/SdAgOVSzQiwXILnsp4QIMDyRBloBAIIIIAAAggggEAwBXwZYOXm5sqIESPk8ccfN6OpZs+eLeXLl09aoSVLlkjbtm3l2muvlYULF0qNGjWSHsMO/hQgwHKpbgRYLsFzWU8IEGB5ogw0AgEEEEAAAQQQQCCYAr4MsA4fPix9+vQxwVWvXr1k7NixUqpUqaQV+vLLL83C8O+884688MILMnDgwKTHsIM/BQiwXKobAZZL8FzWEwIEWJ4oA41AAAEEEEAAAQQQCKaALwOs6DcUphJgHT9+3IRWU6dOlS5dusikSZOkbNmywaxsyO+KAMulDkCA5RI8l/WEAAGWJ8pAIxBAAAEEEEAAAQSCKeD7ACuVICo6wGrevLnMnTtXKvAWwkD2bAIsl8pKgOUSPJf1hAABlifKQCMQQAABBBBAAAEEgingywDrxIkT8tBDD8nkyZPlqquukkWLFsnVV1+dtELffPONGXn11ltvpbR2VtITs4PnBAiwXCoJAZZL8FzWEwIEWJ4oQygbcWCLyNbnRPasEPnhSHYISpwvUqW5SM2HRSrUys41OCsCCCCAAAIIIJBAwJcBlt5PZEF2/f/333+/jB49Ws4999y4t6oLv8+fP1969+4tuoaWTiUcNWqUFC9enA4SQAECLJeKSoDlEjyX9YQAAZYnyhC6Rmh49Xp9kdPHC+fWi5YSabWeEKtwtLkKAggggAACCEQJ+DbA2r9/v1nAfenSpeZ2OnbsKEOHDpWf/exnkpOTk6/IBw8elFdeeUWeeeYZ+fbbb826V7oAfKtWregMARUgwHKpsARYLsFzWU8IEGB5ogyha8TaDiI7FxbubVe7S6TxgsK9JldDAAEEEEAAgdAL+DbA0sq9++670rNnT9m+fXteIatWrSrVq1fPC7E06NqyZUu+QtsZsRX6nuFzAAIslwpIgOUSPJf1hAABlifKELpGzCibvWmDiTB75oaOmhtGAAEEEEAAAXcFfB1gKd3HH38s/fv3l/Xr19uSHDJkiBmpxdsHbXH5dicCLJdKR4DlEjyX9YQAAZYnyhC6RtDvQldybhgBBBBAAIGwCvg+wNLC6dsFly9fLlOnTpW1a9cWqKWOyrr99tvlN7/5jdSsWbPAFMOwFj/I902A5VJ1CbBcgueynhAgSPBEGULXCPpd6ErODSOAAAIIIBBWgUAEWNHF0zDr2LFjef9J18MqV64coVXIejgBlksFJ8ByCZ7LekKAIMETZQhdI+h3oSs5N4wAAggggEBYBQIXYIW1kNx3fgECLJd6BAGWS/Bc1hMCBAmeKEPoGkG/C13JuWEEEEAAAQTCKkCAFdbKB/y+CbBcKjABlkvwXNYTAgQJnihD6BpBvwtdyblhBBBAAAEEwirg+wDr7Nmz8s9//tMs4q7/a3fTaYWdO3eWMmXK2D2E/XwkQIDlUrEIsFyC57KeECBI8EQZQtcI+l3oSs4NI4AAAgggEFYBXwdYGlg99thjMmvWrJTr17x5c5k7d65UqFAh5WM5wPsCBFgu1YgAyyV4LusJAYIET5QhdI2g34Wu5NwwAggggAACYRXwbYD19ddfS69eveT1119Pq3YEWGmx+eYgAiyXSkWA5RI8l/WEAEGCJ8oQukbQ70JXcm4YAQQQQACBsAr4NsCaPn269OjRw9TtggsukN69e0ujRo2kZMmScsUVV0ipUqUS1pS3Ewa7yxNguVRfAiyX4LmsJwQIEjxRhtA1gn4XupJzwwgggAACCIRVwJcB1rFjx+SBBx6QadOmSdWqVWXmzJnSsGHDsNaQ+7YQIMByqVsQYLkEz2U9IUCQ4IkyhK4R9LvQlZwbRgABBBBAIKwCvgywDhw4IJ06dZKVK1dKly5dZNKkSVK2bNmw1pD7JsDyTh8gwPJOLWhJ4QsQJBS+OVcUod/RCxBAAAEEEEAgJAK+DLAOHjxogqsVK1aYdbDGjh2bdMpgSOrJbf6vACOwXOoKBFguwXNZTwgQJHiiDKFrBP0udCXnhhFAAAEEEAirgC8DrFOnTsmQIUNMcMUIrLB23cT3TYDlUr8gwHIJnst6QoAgwRNlCF0j6HehKzk3jAACCCCAQFgFfBlgabH07YMaXlWpUkUWLVokV199dVhryH1bCBBgudQtCLBcgueynhAgSPBEGULXCPpd6ErODSOAAAIIIBBWAd8GWIcOHZJ+/frJrFmzZOTIkTJ48GApUqRIWOvIfccIEGC51CUIsFyC57KeECBI8EQZQtcI+l3oSs4NI4AAAgggEFYB3wZYWrBPP/1UunXrJnv37uVNhGHtwXHumwDLpQ5BgOUSPJf1hABBgifKELpG0O9CV3JuGAEEEEAAgbAK+DLA0kXcdcTVnj17ZPfu3bJ9+3apWrWqVK9eXXJycmzV8vLLL5fRo0dL+fLlbe3PTv4SIMByqV4EWC7Bc1lPCBAkeKIMoWsE/S50JeeGEUAAAQQQCKuALwOsAwcOSKdOnWTlypVp16158+Yyd+5cqVChQtrn4EDvChBguVQbAiyX4LmsJwQIEjxRhtA1gn4XupJzwwgggAACCIRVgACLACuQfZ8Ay6WyEmC5BM9lPSFAkOCJMoSuEfS70JWcG0YAAQQQQCCsAr4MsMJaLO7bvgABln0rR/ckwHKUk5P5TIAgwWcFC0hz6XcBKSS3gQACCCCAAALJBAiwkgnxc18KEGC5VDYCLJfguaxsEZHnRGSFiBzJksf5ItJcRB4WkVoW1yBIyBI8p00oQL+jgyCAAAIIIIBASAQIsEJS6LDdJgGWSxUnwHIJPuSX1fCq/v8Plo4XkkMpEVlvEWIRJBRSAbhMPgH6HR0CAQQQQAABBEIiQIAVkkKH7TYJsFyqOAGWS/Ahv2wHEVlYyAZ3iciCmGsSJBRyEbicEaDf0REQQAABBBBAICQCvgywDh48KIMHD5Y9e/akXabLL79cRo8eLeXLl0/7HBzoXQECLJdqQ4DlEnzIL1s2i9MGE9HmEmCFvOd54/YJsLxRB1qBAAIIIIAAAlkX8GWAdeDAAenUqZOsXLkybaDmzZvL3LlzpQJvIUzb0MsHEmC5VB0CLJfgQ35Z+l3IO0DIb58AK+QdgNtHAAEEEEAgPAIEWARYgeztBFgulZUgwSX4kF+WfhfyDhDy2yfACnkH4PYRQAABBBAIj4AvA6yzZ8/K999/L/q/djbd7+WXX5ZHH31UOnfuLCNGjJCyZctKuXLlJCcnx84p2MdnAgRYLhWMIMEl+JBfln4X8g4Q8tsnwAp5B+D2EUAAAQQQCI+ALwOsdMqj62b16tVLFi1aJOPGjZP+/ftLJORI53wc420BAiyX6kOQ4BJ8yC9Lvwt5Bwj57RNghbwDcPsIIIAAAgiERyA0AZaWKQK9NQAAIABJREFUdNWqVdKuXTupUqWKLFiwQH7+85+Hp9Ihu1MCLJcKTpDgEnzIL0u/C3kHCPntE2CFvANw+wgggAACCIRHIFQB1jfffCNdunSRt956S4YPH26mFDIKK5idnQDLpboSJLgEH/LL0u9C3gFCfvsEWCHvANw+AggggAAC4REIVYB1/PhxGThwoEydOtWMxJo2bZpZB4steAIEWC7VlCDBJfiQX5Z+F/IOEPLbJ8AKeQfg9hFAAAEEEAiPQGgDrObNm8vcuXOlAm8hDGRvJ8ByqawECS7Bh/yy9LuQd4CQ3z4BVsg7ALePAAIIIIBAeARCFWB98cUX0rFjR9m0aRMjsALexwmwXCowQYJL8CG/LP0u5B0g5LdPgBXyDsDtI4AAAgggEB6BUARYp0+flk8//VSeffZZmT9/vqnu448/Lk8++aQUKVIkPNUO0Z0SYLlUbIIEl+BDfln6Xcg7QMhvnwAr5B2A20cAAQQQQCA8Ar4MsA4cOCCdOnWSlStXplWpqlWryuLFi6VOnTppHe/XgzTI09Bu8+bNCadPHj16VF5//XWZPXu2rF+/Xg4fPiy1atWS9u3bS/fu3aVixYqWBLt27ZIJEybIihUrZPv27baOOXnypCxfvtysR6bXKlasmDRu3Fjuu+8+adiwoeTk5KTFTYCVFlvmBxEkZG7IGVIXoN+lbsYRwREgwApOLbkTBBBAAAEEEEgoELoAS8OrF154Qe64445QvYFQw6spU6bI0KFD5aabboobYH399dfSr18/WbRokZQtW1Zq1qwpJUqUkB07dsju3bvl2muvlRdffFFuvPHGfB1r69at0rt3bzM9s0aNGnLZZZflHdOsWTOZOHGiVK9ePd8xGl6NHj1annjiibxr/fDDD7Jx40bz7yNHjjTnLFq0aMofYwKslMmcOYAgwRlHzpKaAP0uNS/2DpYAAVaw6sndIIAAAggggEBcgdAEWDqa59e//rV06NBBLr/88lB1CR1BpWHQqFGjzH3HW8A+MkJL9/3tb38rI0aMyBttpaOyxowZI8OGDZPbb79dXn75ZalUqZI53/79+6VXr16yZs0aGTt2rHTt2tWETtHH9O3b14RVpUqVyrNfsGCB9OzZUxo0aCCTJk0SDRdzc3Plo48+MiHa3r17TdBWv379lOtFgJUymTMHECQ448hZUhOg36Xmxd7BEiDAClY9uRsEEEAAAQQQCFaART3tCWgg9fbbb8ujjz4qH374oQmcjh8/HncElo6wuvvuu+XMmTNmrbArrrgi34UOHTpkgqVZs2bJqlWrpGnTpubnS5YskbZt20r//v1NSKUjtiJb5JjVq1fLsmXLpG7duuZHBw8eNNMRdbRV9H+PHKfnb9eunXTr1q3AOe3cPQGWHaUs7EOQkAVUTplUgH6XlIgdAixAgBXg4nJrCCCAAAIIIBAt4MsRWJTQnoCuKXXzzTeb6Xj333+/GTml/1u5cmXLKYS6NtbAgQPl6quvNtMso0dLRa44fPhwM+Vvzpw5Zh2yU6dOyZAhQ8zIq+hQK7qFGnjpqCw9p55fN71Wy5YtpUmTJmb0lbYxetNRXRqmHTt2TObNm2dGZ6WyEWClouXgvgQJDmJyKtsC9DvbVOwYQAECrAAWlVtCAAEEEEAAASsBAqwA9wsddfXWW2+Z8EinTerC6nfddVfcACsZhY7M0rc36tscIwGWjqTq0qWL7NmzR1599VW58sorC5wmEqTpNEMNujQYW7hwoZnOqYvK6z+RwClysI4U07Br6tSp8v7776c8jZAAK1k1s/RzgoQswXLahAL0OzpImAUIsMJcfe4dAQQQQACBUAkEJsDat2+f/OlPf5J169bJl19+mVfECy64QBo1amTWv6pSpUqoFm6P7cmZBlhffPGFdOzYUXRaoC7yriO1ItMO9VrxRkpZXVeDrAcffDDfqKzY9saO9krlk0mAlYqWg/sSJDiIyalsC9DvbFOxYwAFCLACWFRuCQEEEEAAAQSsBHwfYH377bdmjaTJkyeLLlYeb4tMoxs8eLBoqBXGLZMASxdkVzt11jcZ6mLuulC7nXNa7WMnnLKzT7w6EmC51MMJElyCD/ll6Xch7wAhv30CrJB3AG4fAQQQQACB8Aj4OsD6+uuvzdvvXn/9ddsVa9WqlZmWdtFFF9k+Jig72gmbrO5Vwyt9M6H+E+tn55xuBlj6RkO2whOoXad24V0s6kqbP9qc77q1N9dxpx216W9uwNPv6Hdu9DuvXJPvO69UgnYggAAC/heoXdudv8v7X447KCwB3wZYukaSjgiaOHGisapRo4YJs371q1+Zt+1Ftl27dsmaNWtkxowZZrSQbn379jWjtqwWKS8seDeuYydsim2XjnDTda905FWLFi3MguvRC6rbOScBlhvVdueaBAkECW70PPod/c6NfueVaxJgeaUStAMBBBDwvwABlv9rGPQ78G2AtXbtWrnjjjvMtEFdRFwDKX27Xrxt7969JvCaPXu2eePd0qVLpXHjxkGvb777sxM2RR+g61vpQupqdeedd5oF2C+99NJ859T1xvRthLrNnTtXLrnkkgKmkevqGmTqX758eTMKrnfv3jJlyhQTPFptkSmECxYsMIvPp7KFcQrh51+flfkbfpBNn5+R46dyU+GyvW+ZkudInR8XkY43FpOfXJRT8Dimctm2ZEcHBeh3DmJyqpQEtojIcyKyQkSOpHSk/Z3PF5HmIvKwiNSyOIwphPYt2RMBBBBAAAEEfC3gywBL34anazBpwHHttdeaN9rpCKxkWyRI2bZtmzzyyCPm+CJFiiQ7LDA/TyXA2rBhg9x3332iVv369ZMRI0aY4C924y2E3ugeGl71n3lcTp4unPaUKCoyvmupgiEWQULhFICr5Beg39Ej3BDQ8Kr+/w+WjhfSxUuJyHqLEIsAq5AKwGUQQAABBBBAwG0BXwZYOuqqT58+ZjSPjhAaNWqUFC9ePKnlqVOnZMiQIWYkkY7a0ulwVqFM0hP5dAc7AVZubq68/fbbcu+994pOH9TgqmfPnlKiRAnLu442XbVqlTRt2rTAfpHRVi+88IKpl26bN2+Wli1bSpMmTSzrEBnZpeeP93bDRGUI2wis4ctOyjv/KKT06n/hG/2sqDzeOqZfECT49NvB582m3/m8gD5tfgcRWVjIbdfByAtirkmAVchF4HIIIIAAAggg4JaALwOsAwcOmGlrK1eulKefftqs0WR3i0xLa968uZnyVqFCBbuH+n4/OwHWunXrpGvXrmZq5oQJE6RDhw6Sk2MxVSxKY8mSJdK2bVvp37+/mcoZHXYdOnTIjOBavXq1LFu2TOrWrWuO1JFb3bt3l40bN+b775HTahjWrl076datW4Fz2ilE2AKs235/LGvTBhN5rx16bv4f/z/23gXKiurM239tQSSKfNgh8YZEZwiai8KIaGJCx4B0JpGJBoNoQ5SgICooOhIiAwSIYHAAg6LC4P8TsQVvSBKYsb3EaCRClCBmzRCWiQHGKIYgI4jI/fu/ezh4zqG7T52qOrt21X7OWiwDXbUvz/tLceph1y5EQpB4ckzcBMhd3ERpLwgBXZRcqccGm+u/+AlxBFaQanEMBCAAAQhAAAIZIIDAQmAdjPGmTZvMflS66b3uTXXZZZdJTgQ1l/X883R124ABA4zE0rcX3nHHHeZxT21Xf5a/cb7ubaWru3r06CEzZ86UU089VXQFmL45UKXXhg0bRI/Rn5f78U1g9Zy8vVxEsRyPwCrCOKQye4/FUqwsN4LAynJ13Z0buXO3NowMAhCAAAQgAIFMEkilwPrwww/lhhtukLlz5zYqRpqqlL65UB9h00farrrqKvnpT38qn/jEJzJZ2MYmVWoFlq5IU/kU5PPQQw8d3Lxdj8/fM0v3I+vQoYO88cYbohvB9+7d27wtslOnTgVNq+CaPHmy+aWPcnbp0kV2795tVmXp7/XPdaP3Fi1aBBlSwTEIrLKRhToBgYXAChWcuE9CJMRNlPaCECB3QShxDAQgAAEIQAACEIiNQCoFls5eV/PcdNNN0rFjR3n88celW7duJaHoyh59LE2lij5KOGbMmEArjEo2nJIDmhNY+XtZBZlOscDSc9atW2ceO1y6dKloX127dpV+/fqZRwXbt2/faLM7d+6UJUuWGBm5bNkyadmypXk7pG4gX1NTU/LxxabGisAKUsXoxyCwEFjRUxRDC4iEGCDSRNkEyF3ZyDgBAhCAAAQgAAEIRCGQWoGVL6N0hY+upjrttNMaZaGPpemm4TfeeKORJOVIryhwOTc5AggsO+wRWAgsO0kr0QsiwYkyeDcIcuddyZkwBCAAAQhAAALJEkitwNqzZ49MmzbNvFVQP/rI2YUXXmh+nXDCCQep6tvsdIWP/tKNyfWjby28+eabQz2almy56D0oAQRWUFLRjkNgIbCiJSimsxEJMYGkmbIIkLuycHEwBCAAAQhAAAIQiEogtQJLJ657KOljgLr6KuhH98667bbb5Kijit6eFrQBjksFAQSWnTIhsBBYdpJWohdEghNl8G4Q5M67kjNhCEAAAhCAAASSJZBqgaXodA+lJ554QiZOnGj2XWrqoxuLjxs3Tvr27WvekMcn2wQQWHbqi8BCYNlJGgKrWQK8/TKZGCKwkuFOrxCAAAQgAAEIeEsg9QIrVzndhPz3v/+9rFixQvSxwf/8z/+Uz3/+8+ZxwnPOOUe++MUvyhFHHHGw0H/961/NY4etW7f2tvhZnjgCy051EVgILDtJQ2AhsJxIWuEgEFgOFoUhQQACEIAABCCQZQKZEVhBi6Qbuv/mN78xb8ubNWuWVFdXBz2V41JEAIFlp1gILASWnaQhsBBYTiQNgZVPgJV/DoaSIUEAAhCAAASyTcArgbVv3z7zuOEtt9xi3lhYX1+PwMpovhFYdgqLwEJg2UkaAguB5UTSEFgILAeDyJAgAAEIQAAC/hBIpcDSxwV1A/e2bdtKVVVVoGrpXlm62fuPf/xj8zbC2tpaBFYgcuk8CIFlp24ILASWnaQhsBBYTiQNgYXAcjCIDAkCEIAABCDgD4HUCKwdO3bIvHnz5IEHHjD7XOU+PXv2lGHDhsmFF17Y5Obs7733nowdO1buueeeg+ddddVVMmPGDDn66KP9qbZHM0Vg2Sk2AguBZSdpCCwElhNJQ2AhsBwMIkOCAAQgAAEI+EMgFQJr06ZNcvPNN8v8+fObrMzAgQNl2rRp0r59+4Jj1q9fL9ddd50sXbrU/Llu3D5q1CjTHhu4ZzfoCCw7tUVgIbDsJA2BhcByImkILASWg0FkSBCAAAQgAAF/CDgvsPTRvzFjxhg5Vepz7bXXytSpU+Woo44yh7788stmddbq1avN7zt27Ch33HGH9O3bN/Cjh6X65OduEkBg2akLAguBZSdpCCwElhNJQ2AhsBwMIkOCAAQgAAEI+EPAeYH129/+Vi666CJ555135Nhjj5XRo0fLZZddZlZP6absr7/+utx5552yZMkSU7U5c+bI97//fVm0aJHZrF1XYOnnzDPPNG8d/PKXvyw5ueFPmf2bKQLLTs0RWAgsO0lDYCGwnEgaAguB5WAQGRIEIAABCEDAHwLOC6wpU6bIrbfeah79u++++4y8KhZQuj+Wrrz60Y9+JF/96lflS1/6ktx7771ms3b9XHzxxWa/K12BxccPAggsO3VGYCGw7CQNgYXAciJpCCwEloNBZEgQgAAEIAABfwg4LbBUTI0cOVJmz55tJNT9998v7dq1a7Q6b731llx++eXy61//uuDnumIrJ8D8KSszRWDZyQACC4FlJ2kILASWE0lDYCGwHAwiQ4IABCAAAQj4Q8BpgbVlyxbRzdl1A/bx48ebX009/rdr1y7zeKGutNKPrti67bbbZMiQIU2+ndCfMvs3UwSWnZojsBBYdpKGwEJgOZE0BBYCy8EgMiQIQAACEICAPwScFlibN2+Wuro6aWhokIkTJ8rYsWObrcykSZNk3Lhx5lFBfYTwG9/4Bvtd+ZPlgpkisOwUHoGFwLKTNAQWAsuJpCGwEFgOBpEhQQACEIAABPwhkEmBVVtbK/X19VJdXe1PJZkpAiuBDCCwEFgJxO7QLg9LaBT7i/qdk9BAhhQPJCEevnWbULmF3PmWNOYLAQhAAAIQgMABAggsopBJAqzAslNWBBYCy07SSvSCSHCiDN4Ngtx5V3ImDAEIQAACEIBAsgQQWMnyp/cKEUBgVQhsUbMILASWnaQhsJolwAqsZGKIwEqGO71CAAIQgAAEIOAtgdQIrG9+85vSo0ePZgv14osvyr//+7/L6aefLv369ZPWrVs3eXzbtm1lwIABcvTRR3tb/CxPHIFlp7oILASWnaQhsBBYTiStcBAILAeLwpAgAAEIQAACEMgygdQIrLiLwD5ZcRN1qz0Elp16ILAQWHaShsBCYDmRNARWPgFW/jkYSoYEAQhAAAIQyDYBBBYbvWcy4QgsO2VFYCGw7CQNgYXAciJpCCwEloNBZEgQgAAEIAABfwg4LbB27twpq1atko8++ij2ihx55JHStWtXadWqVext02DyBBBYdmqAwEJg2UkaAguB5UTSEFgILAeDyJAgAAEIQAAC/hBwWmD5UwZmGjcBBFbcRBtvD4GFwLKTNAQWAsuJpCGwEFgOBpEhQQACEIAABPwhgMDyp9ZezRSBZafcCCwElp2kIbAQWE4kDYGFwHIwiAwJAhCAAAQg4A8BBJY/tfZqpggsO+VGYCGw7CQNgYXAciJpCCwEloNBZEgQgAAEIAABfwggsPyptVczRWDZKTcCC4FlJ2kILASWE0lDYCGwHAwiQ4IABCAAAQj4QwCB5U+tvZopAstOuRFYCCw7SUNgIbCcSBoCC4HlYBAZEgQgAAEIQMAfAggsf2rt1UwRWHbKjcBCYNlJGgILgeVE0hBYCCwHg8iQIAABCEAAAv4QQGD5U2uvZorAslNuBBYCy07SEFgILCeShsBCYDkYRIYEAQhAAAIQ8IcAAsufWns1UwSWnXIjsBBYdpKGwEJgOZE0BBYCy8EgMiQIQAACEICAPwQQWP7U2quZIrDslBuBhcCykzQEFgLLiaQhsBBYDgaRIUEAAhCAAAT8IYDA8qfWXs0UgWWn3AgsBJadpCGwEFhOJA2BhcByMIgMCQIQgAAEIOAPAWcF1t69e+XJJ5+UP/3pT9K2bVsZMGCAHH300f5UhplGIoDAioQv8MkILARW4LBU8sDDKtl4M23vL/rZnIQGMqR4IAnx8K3bhMot5M63pDFfCEAAAhCAAAQOEHBWYO3YsUNGjhwps2fPNv+9/fbb5YgjjjDD3rlzp6xatUo++ugj+cIXviCf/OQnKSgECgggsOwEAoGFwLKTtBK9IBKcKIN3gyB33pWcCUMAAhCAAAQgkCwBZwXW5s2bpa6uThoaGmTixIkyduzYg6Tyf/bSSy/JeeedlyxFeneOAALLTkkQWAgsO0lDYDVLgBVYycQQgZUMd3qFAAQgAAEIQMBbAggsb0uf7YkjsOzUF4GFwLKTNAQWAsuJpBUOAoHlYFEYEgQgAAEIQAACWSbgrMDasmWLDBw4UJYuXXrII4SswMpyJOOZGwIrHo6lWkFgIbBKZcTKzxEJVjDTSREBckckIAABCEAAAhCAgFUCzgqsXbt2yejRo2XGjBly5plnyvz58+WLX/yigYPAspqRVHaGwLJTNgQWAstO0kr0gkhwogzeDYLceVdyJgwBCEAAAhCAQLIEnBVYiuW5556Tiy++WLZt2ybHHnusfPe735UzzjhDTjjhBLOp+4oVK+T666+Xk046qWyKvNmwbGSpOgGBZadcCCwElp2kIbCaJcAeWMnEEIGVDHd6hQAEIAABCEDAWwJOC6w9e/bItGnTzEqsuD+1tbVSX18v1dXVcTdNew4QQGDZKQICC4FlJ2kILASWE0krHAQCy8GiMCQIQAACEIAABLJMwGmBpeBVYv385z83K65eeeWV2GqBwIoNpZMNIbDslAWBhcCykzQEFgLLiaQhsPIJsPLPwVAmNKTNq0Re+4nIhqUiuz+ozCBa/R+Rk2pFuvxApLprZfqg1XQRIHfpqhejhUBMBJwXWLl57tu3T3Rj9zfffFM2btwot912m3mE8J577pHTTz+9bBxHHnmkdO3aVVq1alX2uZzgPgEElp0aIbAQWHaShsBCYDmRNAQWAsvBICY8JJUIPztPZM8OOwNp0Vrk28uQWHZou9sLuXO3NowMAhUmkBqBlc+BTdwrnIoMNI/AslNEBBYCy07SEFgILCeShsBCYDkYxISH9Fx/kT89YncQf3epSM+FdvukN7cIkDu36sFoIGCRQCoF1s6dO2XVqlXy0UcfyRe+8AX55Cc/aREZXaWBAALLTpUQWAgsO0lDYCGwnEgaAguB5WAQEx7S/21TuccGm5saj7AmXPiEuyd3CReA7iGQHIFUCqzmcH3wwQeigiv3adGihRxzzDGSExrJoaZnmwQQWHZoI7AQWHaShsBCYDmRNAQWAsvBICY8pDkJvc0AgZVw4RPuntwlXAC6h0ByBDIhsPSRwgULFsicOXPk97///SE0O3fuLFdeeaUMHjxY2rdvnxxterZGAIFlBzUCC4FlJ2kILASWE0lDYCGwHAxiwkNCJCRcAE+7J3eeFp5pQ0Ak1QJr//790tDQIDfeeKOsXbu2ZD1VZN15552ibyBkRVZJXKk+AIFlp3wILASWnaQhsBBYTiQNgYXAcjCICQ8JkZBwATztntx5WnimDYGUC6wXXnhBrrjiClm/fv3BWuqbBfNXWenP8uVWx44dZd68eVJTU0P9M0wAgWWnuAgsBJadpCGwEFhOJA2BhcByMIgJDwmRkHABPO2e3HlaeKYNgRQLrL/85S8ycOBAef7556VNmzZy7bXXyg033CDHH398QV11ldbbb78td911l9xzzz2ybds2Of/882X+/Ply4oknkoGMEkBg2SksAguBZSdpCCwElhNJQ2AhsBwMYsJDQiQkXABPuyd3nhaeaUMgxQKrvr5eBgwYYGr4wAMPGJlVVVXVZE337dtnpJXuhaWfuXPnmj2x+GSTAALLTl0RWAgsO0lDYCGwnEgaAguB5WAQEx4SIiHhAnjaPbnztPBMGwIpFVgfffSR3HzzzWZF1cUXXyz333+/tGvXrmQ9t2zZYqTVk08+aVZsTZs2TY488siS53FA+gggsOzUDIGFwLKTNAQWAsuJpCGwEFgOBjHhISESEi6Ap92TO08Lz7QhkFKBpSJKV1wtXbpUxo8fb34F2ZRdHyecMGGC+fWtb33LrMgKIr4ISvoIILDs1AyBhcCykzQEFgLLiaQhsBBYDgYx4SEhEhIugKfdkztPC8+0IZBSgbV582apq6szbyCcOHGijB07NnAtJ02aJOPGjTNvItTHEKurqwOfy4HpIYDAslMrBBYCy07SEFgILCeShsBCYDkYxISHhEhIuACedk/uPC0804ZASgUWK7CIbikCCKxShOL5OQILgRVPkiK2cljE88Oevr/oRL5QhyWZzvPIXTrrxqjjJcB1L16etBaMALkLxomjIJBBAoft1+fqUvbZtWuXjB49WmbMmMEeWCmrna3hIrDskEZgIbDsJK1EL4gEJ8rg3SDInXclZ8KNEEAkEIskCJC7JKjTJwScIJBKgaXk8t9CqHtZ6SOFze2DxVsIncibtUEgsOygRmAhsOwkDYHVLIEhqft3KCdiE3kQCKzICGkgAwQQCRkoYgqnQO5SWDSGDIF4CKRWYP3lL38xG7k///zz0qZNGxkzZowMGjRIPvWpTx1C5p133pGf/vSn5q2F27Ztk/PPP99s4H7iiSfGQ5FWnCOAwLJTEgQWAstO0hBYCCwnklY4CASWg0VhSNYJIBKsI6dDESF3xAAC3hJIrcDSir3wwgtyxRVXyPr16w8WsGvXrtK+ffuDv9+0aZOsWrXq4O87duwo8+bNk5qaGm+L7sPEEVh2qozAQmDZSRoCC4HlRNIQWPkEWPnnYCgTGBIiIQHodInAIgMQ8JdAqgWWbt+lbyK88cYbZe3atSWr2LlzZ7nzzjvNGwibe9ywZEMc4DwBBJadEiGwEFh2kobAQmA5kTQEFgLLwSAmPCQEVsIF8LR7cudp4Zk2BFL6FsLiwukqq/vvv18eeOCBRkWWiqsrr7xSBg8eXLA6iwBklwACy05tEVgILDtJQ2AhsJxIGgILgeVgEBMeEiIh4QJ42j2587TwTBsCGRFYuULqiqytW7eafa42bNggJ598stkf65hjjmHFlWdpR2DZKTgCC4FlJ2kILASWE0lDYCGwHAxiwkNCJCRcAE+7J3eeFp5pQyBjAouCQiBHAIFlJwsILASWnaQhsBBYTiQNgYXAcjCICQ8JkZBwATztntx5WnimDQEEFhnIKAEElp3CIrAQWHaShsBCYDmRNAQWAsvBICY8JERCwgXwtHty52nhmTYEEFhkIKMEEFh2CovAQmDZSRoCC4HlRNIQWAgsB4OY8JAQCQkXwNPuyZ2nhWfaEEBgkYGMEkBg2SksAguB9cd398mCl3fLij/ulR279lckeEcfeZh0O/VwuexLLeXvP111aB+HVaTb0o0WT5cv1KWZZekIcpelajKXsAS47oUlx3lRCJC7KPQ4FwKpJnDYft35nA8EMkYAgWWnoAgsvwWWyqsR83bIzj128taqhcjMK1ofKrEQCXYKQC+FBMgdiYCACCKBFCRBgNwlQZ0+IeAEAQSWE2VgEHETQGDFTbTx9hBYfgusSYt3yq/+y5K9OoD6a59rIWMvaoVIyCcwhH+HsnPFK+oFgZUIdjp1jAAiwbGCeDIccudJoZkmBA4lgMAiFZkkgMCyU1YElt8C68J//bBijw02l2By53fu7FzdAvSCwAoAiUMyTwCRkPkSOzlBcudkWRgUBGwQQGDZoEyNIja3AAAgAElEQVQf1gkgsOwgRyT4LRJ6Tt5uJ2hFvZA7v3OXSOga6xSB5UwpGEiCBBAJCcL3uGty53HxmbrvBBBYvicgo/NHYNkpLCLBb5GAwCqqP1+o7Vx4XOkFgeVKJRhHkgS47iVJ39++yZ2/tWfm3hNAYHkfgWwCQGDZqSsCC4FlJ2mFvZA7v3OXROYa7ROB5UwpGEiCBBAJCcL3uGty53HxmbrvBFIpsD744AN56KGH5P3335e2bdvKgAED5Oijj/a9lsw/jwACy04cEAl+iwRWYBXVny/Udi48rvSCwHKlEowjSQJc95Kk72/f5M7f2jNz7wmkUmBt3rxZ6urqpKGhQWpra6W+vl6qq6u9LyYAPiaAwLKTBgQWAstO0gp7IXd+5y6JzDXaJwLLmVIwkAQJIBIShO9x1+TO4+Izdd8JpFJgbdu2Ta677jqZP38+Asv3BDcxfwSWnWAgEvwWCazAKqo/X6jtXHhc6QWB5UolGEeSBLjuJUnf377Jnb+1Z+beE0ilwNq/f7/MmDFDbr75ZjnzzDPlkUcekc6dO3tfTAB8TACBZScNCCwElp2kFfZC7vzOnc7+j+/ukwUv75YVf9wrO3btr0gMjz7yMOl26uFy2Zdayt9/uurQPhBYFeFOoykjgEhIWcEyMlxyl5FCMg0IlE8glQJLp7lu3Tqz99WyZcvkiSeekO985zvlz54zMksAgWWntIgEv0UCK7CK6s8XaisXHpVXI+btkJ17rHQnrVqIzLyi9aESC4FlpwD04jYBrntu1yeroyN3Wa0s84JASQKpFVg6s4ULF8qQIUOkR48eMnfuXDnuuONKTpgD/CCAwLJTZwQWAstO0gp7IXd+527S4p3yq/+yZK8OoP7a51rI2ItaFYJHYCXxf3/6dI0AIsG1ivgxHnLnR52ZJQQaIZBKgbVv3z7zBsJdu3aZRwl/8pOfyLBhw+Rf/uVfpFWroi+YTZS9qqrKvMFQ/8unkIDyfeGFF2TmzJny3HPPie451rNnTxk8eLBcdNFF0rp160aR6aq4u+66S5YuXSpr166Vrl27Sr9+/cx57du3b/ScnTt3ypIlS4yA1NV0LVu2NH1pPWtqakLXB4FlJ9WIBL9FAiuwiurPF2orF54L//XDij022NwEuN75fb2zEu40dsJ1L41VS/+YyV36a8gMIBCSQCoFVv5bCEPOm83fmwC3Z88emTZtmowePdocce655xphtXr1annvvfdk4MCB5ufFQuq1116Ta665RlasWGH2I+vQoYO88cYbsn79eundu7fcfffd0qlTp4JeVV5NnTpVxo0bJ23atJEuXbrI7t27Zfny5eb3kydPNm22aNGi7DIjsMpGFuoEbuj8vqFDYCGwQl04Ip5E7shdxAhxepwEEAlx0qStoATIXVBSHAeBzBFAYFVXZ66oUSakK64uvvhi+dznPmdWU3Xr1k1UBm3cuFFGjRpl3vx45513yogRI8yf62fTpk0ydOhQefbZZ82KuCuuuMJIp+3bt8sdd9whEyZMkOuvv97IqvzVW/mPgM6aNUs6duwoukH/q6++KsOHDzd91tfXy3nnnVf2lBBYZSMLdQICC4EVKjgRTyJ35C5ihEKdTu78zl2o0PhwEiLBhyq7N0dy515NGBEELBFIpcD64IMP5KGHHjKPEYb96OODugn80UcfHbaJzJ23d+9eGTt2rEyZMqXRjfFXrVoll156qXz2s581Iqtdu3aGwaJFi6Rv375Gaqmkyn+Mc+vWrUZGPfPMM7J48WLp3r27OWfLli3m0UJdbZX/5zmoTz/9tFxyySUyaNCgQ9oMAh6BFYRS9GO4ofP7ho6VMEX15wt19ItKgBbIHbkLEBMOsUWA654t0vSTT4DckQcIeEsglQLL22pVeOI7duyQkSNHyuzZs+Wll146ZOXTW2+9JZdffrnZe+zhhx+WU0891fxvfdxQV16pdLrgggsOGeWDDz5oVmVNnz7dtK+flStXSp8+faRXr16iq6/0kcH8j67q0r4+/PBD05euzirng8Aqh1b4YxFYCKzw6Ql/Jrkjd+HTE/5Mcud37sInJ+NnIhIyXmBHp0fuHC0Mw4JA5QkgsCrPODU96ON7t912m1mFdc8995j9p3IiSCfx29/+1mziro/06abruopNV1LpvlgbNmyQRx99VE477bRD5qubs3/lK18xjxmq6NLHCB955BHp37+/jB8/3vzK70cbKCXTSkFFYJUiFM/PuaHz+4aOlTBF9ecLdTwXlhKtkDtyZyVodBKMANe9YJw4Kl4C5C5enrQGgRQRyIzA0s3Hdc+kP//5z6KPwh155JHmLXhB30qYoppVdKhr1qwxj+0pS30L4Te+8Q2zn9Xvfvc7GTNmjLz88ssyZ84cI5/0o5u060op/TS1UkrfSKiPHh533HFmT6vq6mojsm666aaCVVnFE5s0aZLZ4F0fF62rqytr3gissnCFPhiBhcAKHZ4IJ5I7chchPqFPJXd+5y50cLJ+IiIh6xV2c37kzs26MCoIWCCQeoGlb8a77777jFRRmZL71NbWHpQlxW/W08fYbr/9djniiCMsIE5fF+vWrZNbb71VFixYUDD4s88+23A7//zzD66YakxOFc+4sWOCyKkgxzRFF4FlJ3fc0Pl9Q8dKmKL684XayoWH3JE7K0Gjk2AEuO4F48RR8RIgd/HypDUIpIhAqgXWG2+8Yd5up3svFX/yBZb+TB9100fYHnvsMTnnnHOMnDnllFNSVCo7Q922bZt5c6DuS7V7927p0qWLWYG1evVqUVn4ve99T3784x9Lhw4dzIAQWHbqUqoXbui4oSuVkUr8nNyRu0rkqlSb5I7clcoIP7dIAJFgETZdHSRA7ggDBLwlkFqBlS+ktHpf/epXzeNu+njatGnTzAbjucfVctXNvdlOJU2Yx9KynhLdd2rUqFFy9913y9VXX232w2rfvr2Z9vbt2+Xee++ViRMnyte//nWz0funP/1p5wXWq6++mvWymfmNajh07zEbE59a+4eCbs7qdpaNbg/pY+WrKwvHsbJbMuM4y4+85eCSO3KXxP/RyB25SyJ3Lvb5ibWfkOPmHSdtX2orVR9WVWSIe9vsla1f2iobr9goH3b+8JA+zuLv24pwp9HmCZC7yiXkrLOS+S5fuRnRctYIpFZgLVq0SPr27WveXqf7KQ0YMMDsd9XciqC//e1vZsPxp556Sn74wx+KPqJ2+OGHZ62moeeT26T9H/7hH8wm7bpnVf5HH8XUDdcnT55sfj548GB5++23D+5PpcLwhBNOOKT/XE1OOukkmT9/vrRr184IMN0kXh//1JVxjX1yjxAuXLjQ7KFVzif3CCECqxxq5R+LwCpkthKBVX6IQpxB7shdiNhEPoXc+Z27yAGKuQGVV52/31mqdlZGXBUPd1+rfbL2/1t7iMRCJMRcWJoLRIDcBcIU6iAEVihsnGSRQCoF1q5du2T06NFGXF155ZVmxdBRRx1lsDUnsHRzd33D3pQpU+SSSy45+CY9i7yd7koFlIrApt4MqIN/5plnpHfv3pLbR0xXZvEWwuTLyiM1RTVgabmVUJI7cmclaEWdkDtyl0TunOtT36XziOVR6b8lLiR/lqnTXWME+J5HLiDgLYFUCix9fFClydKlS2XevHlmX6bcp9SeTLlVPcV7ZHmbgLyJlyOwrr32WvOoZlVV1UGZqI9oXnDBBYegzK22mj59uhFf+lm5cqX06dNHevXqZfbb0pV0+Z/cyi6VlU293bC5mrGJu51Es4l7Eech++2Ad6QXRAI3cklEkdyRuyRy51yf+rXpgwRGVfzXHCIhgSLQpZA7QgABbwmkUmBt3rzZPLbW0NBgNnDPlyYIrPBZzkml0047zTzqd+KJJxY0lv8IYb6Myj3OOWLECJk6dap5lDP32bp1qwwfPtys3Fq8eLF0797d/EglpD6CuHz58oI/z52X269s0KBBh7QZZIYIrCCUoh+DwEJgRU9R+S2QO3JXfmqin0Hu/M5d9ATF3MJhMbcXtDkEVlBSHFdJAgisStKlbQg4TSD1Aqt4f6SgjxDqCq7GVv44Xa0KD654E/cJEybI8ccfb3rVn+nG9zfffLOcccYZ5n9/5jOfMT/btGmT2cfq2WefLdiPTB8v1Dcaajv6c33ks3Xr1gdnobUbMmSI9OjRQ2bOnGk23t+/f7/ovlUqvTZs2CB6jP683A8Cq1xi4Y7nhs7vGzpWwhTVny/U4S4kZZ5F7shdmZHJ5uEIrGzWlVkFI8Dft8E4cRQEMkgglQLro48+MiLlnnvuMY+x6WNpOWERdBP33B5ORxxxRAbLGn5K7777rpFHjz32mHmsr0uXLmZF1RtvvCHr16+Xzp07y5w5cw6RSi+//LIMGzZMVq9ebY7p0KHDwXN0zyzdp6xTp04FA1PBpRvC669cX7t37zarsvT3+ue60XuLFi3KnhACq2xkoU5AYCGwQgUn4knkjtxFjFCo08md37kLFZpKnoTAqiRd2nadAALL9QoxPghUjEAqBZbSuP/+++Wqq66S8847r2A1UFMCS1f26B5PuvJKP7qCSB9D5HMoARVLP/vZz8xjhMuWLZNt27bJueeeK9/+9rfNY3/t27dvFNu6devkrrvuMnuTaR26du0q/fr1a/acnTt3ypIlS8yG+tpXy5YtpWfPnkaG1dTUmD22wnwQWGGolX8ON3R+39CxEqao/nyhLv8iEuIMckfuQsQme6cgsLJXU2YUnAB/3wZnxZEQyBiB1AoslSX6xjyVHldffbXcfvvtcuyxxzb6FkKVV88//7x8//vfN6uIiqVXxmrKdEQOrsjT2vvw4YaOG7okck7uyB25S4AAexAlAN3BLhFYDhaFIVkjgMCyhpqOIOAagdQKLBUTCxYsMI+Y6QqhL37xi2alzyc/+Umz55LKrDFjxohuPK6Pw+kqHz1OH02777775LLLLjsoOVwrCuOJToAVWNEZBmmBFVhFlHgLYZDYRD6G3JG7yCEK0QC58zt3ISJT2VMQWJXlS+tuE0BguV0fRgeBChJIrcBSJiqnVEbdeuutRk4F+ehKLd0/K8y+SkHa5xg3CCCw7NSBGzq/b+hYgVVUf75QW7nwkDtyZyVorneCwHK9QoyvkgT4+7aSdGkbAk4TSLXAUrK6EmvFihXyox/9SBoaGpqErSu09JiLLroo9L5KTleSwRUQQGDZCQQCC4FlJ2mFvZA7ckfu8ghwI5dEHJLvE4GVfA0YQXIEuO4lx56eIZAwgdQLrBy/ffv2yX//93+bPbH0v7mPPjKoG5CfccYZrLpKOGw2u0dg2aGNSEAk2EkaAqtZzjy6aiWGXO/8vt5ZCVk5nSCwyqHFsVkjgMDKWkWZDwQCE8iMwAo8Yw70ggACy06ZuaHz+4aOR7mK6s8XaisXHnJH7qwEzfVOEFiuV4jxVZIAf99Wki5tQ8BpApkRWLt27ZI//elP8uabb8qaNWtk79690qFDB+nUqZN89rOflbZt2zpdCAYXLwEEVrw8m2oNgYXAspO0wl7IHbkjd3kEuJFLIg7J94nASr4GjCA5Alz3kmNPzxBImEDqBdamTZtk9uzZMmPGDHnvvfcaxamPEV588cVy0003mUcJc3IjYfZ0X0ECCKwKws1rGpGASLCTNARWs5x5hNBKDLne+X29sxKycjpBYJVDi2OzRgCBlbWKMh8IBCaQaoG1cuVKue6668wm7kE+xx57rEyfPl3q6urYDysIsBQfg8CyUzxu6Py+oeNRrqL684XayoWH3JE7K0FzvRMElusVYnyVJMDft5WkS9sQcJpAagXWunXrZMCAAWbT9tynZ8+eUlNTI3/3d38nJ5xwgnmk8M9//rM8++yzByWXrsa677775LLLLmMlltPRjDY4BFY0fkHPRmAhsIJmJc7jyB25izNPQdsid37nLmhOrB2HwLKGmo4cJIDAcrAoDAkCdgikVmDpI4P6SKB+evfuLVOmTJGuXbs2KqX0DYXPPfec3HLLLbJ69Wo5/fTTZeHCheZxQj7ZJIDAslNXbuj8vqFjJUxR/flCbeXCQ+7InZWgud4JAsv1CjG+ShLg79tK0qVtCDhNIJUCa9u2bebRwfnz55clo375y1+aVVvvvPOOTJo0ScaMGcMqLKfjGX5wCKzw7Mo5E4GFwConL3EdS+7IXVxZKqcdcud37srJipVjEVhWMNOJowQQWI4WhmFBoPIEUimwNm/ebPaxamhokIEDB8qsWbNEHw0s9dm+fbtcf/318sADD5R1Xql2+bl7BBBYdmrCDZ3fN3SshCmqP1+orVx4yB25sxI01ztBYLleoeyOb5WI/ERElorIBxWa5v8RkVoR+YGIdG2kD/6+rRB4moWA+wRSL7CGDh1q3kDYunXrQLR15dW4ceOktrZW6uvrpbq6OtB5HJQuAggsO/VCYCGw7CStsBdyR+7IXR4BbuSSiEPyfSKwkq+BjyNQeXXe/y+WdliavN7e6XbHxRKL656lAtANBNwjkEqBtWvXLhk9erQRV+WswFL8CCz3QliJESGwKkH10DYRCYgEO0lDYDXLecj+JMqQWJ+swCpCz41cYllMtGMEVqL4ve28v4g8Ynn2l4rIQq57lqnTHQScJZBKgaU0Fy1aJH379jV7YD322GPy+c9/viTk/fv3y4QJE8yva6+9VqZNmyZHHnlkyfM4IH0EEFh2aobAQmDZSRoCC4H1MQEEFjdySVx3nOsTgeVcSbwYkO7YUqnHBpsDWPzvNIh7L+LGJCHQGIHUCqytW7fK8OHD5cEHH5TJkyfLqFGj5PDDD2+2yu+//75cddVV8vjjj8vcuXNl8ODBpCKjBBBYdgqLwEJg2UkaAguBhcA6SIAbuSQuO+71icByryY+jIjc+VBl5ggBpwmkVmAp1TVr1sigQYNk48aNMm/ePKmpqWkW9osvvij9+/eX0047zbzB8MQTT3S6OAwuPAEEVnh25ZyJwEJglZOXuI4ld+QuriyV0w658zt35WTFyrGIBCuY6aSIALkjEhCAQMIEnBVYW7ZsMauqNmzY0Cyi9evXy9q1a6Vz587SsWPHwMf26tXLrNw65phjEi4B3VeCAAKrElQPbZMbOr9v6HiUq6j+PNJg5cJD7sidlaC53gkiwfUKZXN85C6bdWVWEEgRAWcF1ubNm6Wurk4aGhoqgpO3EFYEqzONIrDslAKBhcCyk7TCXsgduSN3eQQQp0nEIfk+EQnJ18DHEZA7H6vOnCHgFAEEVnW1UwVhMPEQQGDFw7FUK4gEREKpjFTi5+SO3FUiV6XaJHd+565UPqz/HJFgHTkdigi5IwYQgEDCBJwVWAlzofuUE0Bg2SkgN3R+39DxKFdR/VkJY+XCQ+7InZWgud4JIsH1CmVzfOQum3VlVhBIEQEEVoqKxVCDE0BgBWcV5UgEFgIrSn7CnkvuyF3Y7EQ5j9z5nbso2anIuYiEimCl0RIEyB0RgQAEEiaAwEq4AHRfGQIIrMpwLW6VGzq/b+hYCVNUf1ZgWbnwkDtyZyVorneCSHC9QtkcH7nLZl2ZFQRSRACBlaJiMdTgBBBYwVlFORKBhcCKkp+w55I7chc2O1HOI3d+5y5KdipyLiKhIlhptAQBckdEIACBhAmkXmDt2bNHVq1aJS+99JLs2rUrMM62bdvKgAED5Oijjw58DgemhwACy06tuKHz+4aOlTBF9WcFlpULD7kjd1aC5noniATXK5TN8ZG7bNaVWUEgRQRSLbB+97vfyYgRI2TZsmVlI6+trZX6+nqp5i2EZbNLwwkILDtVQmAhsOwkrbAXckfuyF0eAcRpEnFIvk9EQvI18HEE5M7HqjNnCDhFILUCa82aNTJo0CBZsWJFKKAIrFDYUnMSAstOqRAJiAQ7SUNgNct5yP4kypBYn6zAKkKPwEosi4l2jEhIFL+3nZM7b0vPxCHgCoFUCqy9e/fKhAkTZNKkSYbj2WefbWTWF77wBTnllFOkdevWJflWVVWJPkao/+WTPQIILDs1RWAhsOwkDYGFwPqYAAILgZXEdce5PhEJzpXEiwGROy/KzCQh4DKBVAqs999/X6666ip5/PHH5cwzz5QFCxbI6aef7jJnxmaZAALLDnAEFgLLTtIQWAgsBNZBAsUL7liBlcRlKPk+EQnJ18DHEZA7H6vOnCHgFIFUCqzNmzdLXV2dNDQ0yNChQ2XGjBmBVl05RZ7BVJQAAquieA82jsBCYNlJGgILgYXAQmAlcbVxuE9EgsPFyfDQyF2Gi8vUIJAOAqkUWNu2bZPrrrtO5s+fj8BKR86sjxKBZQc5AguBZSdpCCwEFgILgZXE1cbhPhEJDhcnw0MjdxkuLlODQDoIpFJgKdq7775bhg8fLl/72tfM2wRPOOGEdBBnlFYIILCsYBYEFgLLTtIQWAgsBBYCK4mrjcN9IhIcLk6Gh0buMlxcpgaBdBBIrcDauHGj2Qdr6dKlMmfOHPO/c9IiHegZZSUJILAqSffjthFYCCw7SUNgIbAQWAisJK42DveJSHC4OBkeGrnLcHGZGgTSQSC1AkvxvvjiizJkyBD56KOPZN68eVJTU5MO6oyy4gQQWBVHbDpAYCGw7CQNgYXAQmAhsJK42jjcJyLB4eJkeGjkLsPFZWoQSAeBVAssRfzLX/5SBgwYIEcccYR06tRJqqqqApE/+eSTZerUqdKuXbtAx3NQugggsOzUC4GFwLKTNAQWAguBhcBK4mrjcJ+IBIeLk+GhkbsMF5epQSAdBFItsJYvXy4jRoyQV155pWzatbW1Zu+s6urqss/lBPcJILDs1AiBhcCykzQEFgILgYXASuJq43CfiASHi5PhoZG7DBeXqUEgHQRSK7Bef/116d+/v6xZsyYUaQRWKGypOQmBZadUCCwElp2kIbAQWAgsBFYSVxuH+0QkOFycDA+N3GW4uEwNAukgkEqBtXfvXpkwYYJMmjTJUFYZNXToUDn77LOldevWgcjro4Zt27YN/MhhoEY5yBkCCCw7pUBgIbDsJA2BhcBCYCGwkrjaONwnIsHh4mR4aOQuw8VlahBIB4FUCqz333/fvHXw8ccfl3POOUcWLFggp5xySjqIM0orBBBYVjCziXsx5iH77YB3pJeek7cnMhLEKeI0ieCRO79zl0Tmmu0TkeBcSbwYELnzosxMEgIuE0ilwNq8ebPU1dVJQ0ODWXk1Y8aMwCuvXC4GY4uPAAIrPpbNtcQNnd83dAisovrPSeibPeLUygWP653f1zsrISunk4QuN1L87zRc98qpWvqPJXfpryEzgEDKCaRSYG3btk2uu+46mT9/PgIr5QGs1PARWJUiW9guN3R+39AhsBBYdq40hb2QO3KXRO6c6xOR4FxJvBgQufOizEwSAi4TSKXAUqD333+/eYyQRwhdjldyY0Ng2WGPwEJg2Uka4rRZzqzAshJDrnd+X++shKycThAJ5dDi2LgIkLu4SNIOBCAQkkBqBdamTZvM6qsnn3xSpk6dKjfddJMcfvjhITFwWtYIILDsVJQbOr9v6FgJU1R/HqWxcuEhd+TOStBc7wSR4HqFsjk+cpfNujIrCKSIQGoFljJes2aNDBo0SDZu3Cjz5s2TmpqaFKFnqJUkgMCqJN2P20ZgIbDsJK2wF3JH7shdHgHEaRJxSL5PRELyNfBxBOTOx6ozZwg4RSCVAmvLli0yatQo2bBhg6xfv17Wrl0rHTt2lE6dOklVVVUgwCeffLJZudWuXbtAx3NQugggsOzUC5GASLCTNARWs5x5hNBKDLne+X29sxKycjpBJJRDi2PjIkDu4iJJOxCAQEgCqRRY+W8hDDlvqa2tlfr6eqmurg7bBOc5TACBZac43ND5fUPHo1xF9WcljJULD7kjd1aC5noniATXK5TN8ZG7bNaVWUEgRQQQWAisFMU1+FARWMFZRTkSgYXAipKfsOeSO3IXNjtRziN3fucuSnYqci4ioSJYabQEAXJHRCAAgYQJpFJgJcyM7lNAAIFlp0jc0Pl9Q8dKmKL6swLLyoWH3JE7K0FzvRNEgusVyub4yF0268qsIJAiAgisFBWLoQYngMAKzirKkQgsBFaU/IQ9l9yRu7DZiXIeufM7d1GyU5FzEQkVwUqjJQiQOyICAQgkTACBlXAB6L4yBBBYleFa3Co3dH7f0LESpqj+rMCycuEhd+TOStBc7wSR4HqFsjk+cpfNujIrCKSIAAIrRcViqMEJILCCs4pyJAILgRUlP2HPJXfkLmx2opxH7vzOXZTsVORcREJFsNJoCQLkjohAAAIJE0ilwNqyZYuMGjVKNmzYEBrfySefLFOnTpV27dqFboMT3SWAwLJTG27o/L6hYyVMUf1ZgWXlwkPuyJ2VoLneCSLB9Qplc3zkLpt1ZVYQSBGBVAqszZs3S11dnTQ0NIRGXVtbK/X19VLNWwhDM3T5RASWneogsBBYdpJW2Au5I3fkLo8A4jSJOCTfJyIh+Rr4OAJy52PVmTMEnCKAwEJgORXIuAaDwIqLZPPtIBIQCXaShsBqlvOQ/UmUIbE+WYFVhB6BlVgWE+0YkZAofm87J3felp6JQ8AVAqkUWPv27ZP3339f9L9BPnrcv/3bv8mYMWNkwIABctttt0mbNm2kbdu2UlVVFaQJjkkZAQSWnYIhsBBYdpKGwEJgfUwAgYXASuK641yfiATnSuLFgMidF2VmkhBwmUAqBVYYoLpv1tChQ+Wxxx6TO++8U0aMGCE5yRGmPc5xmwACy059EFgILDtJQ2AhsBBYBwkUL7hjBVYSl6Hk+0QkJF8DH0dA7nysOnOGgFMEvBFYSv3pp5+WSy65RE466SRZuHChnHHGGU4Vg8HERwCBFR/L5lpCYCGw7CQNgYXAQmAhsJK42jjcJyLB4eJkeGjkLsPFZWoQSAcBrwTW3/72Nxk4cKA89dRTMmnSJPNIIauw0hHUcs8Zc6oAACAASURBVEeJwCqXWLjjEVgIrHDJiXYWuSN30RIU7mxy53fuwqWmgmchEioIl6abJEDuCAcEIJAwAa8E1o4dO2TkyJEye/ZssxJr7ty5Zh8sPtkjgMCyU1Nu6Py+oWMvoqL68yiXlQsPuSN3VoLmeieIBNcrlM3xkbts1pVZQSBFBLwVWLW1tVJfXy/VvIUwRXENPlQEVnBWUY5EYCGwouQn7LnkjtyFzU6U88id37mLkp2KnItIqAhWGi1BgNwREQhAIGECXgmsP//5z3LZZZfJihUrWIGVcPAq3T0Cq9KE/7d9buj8vqFjJUxR/VmBZeXCQ+7InZWgud4JIsH1CmVzfOQum3VlVhBIEQEvBNaePXtkzZo1MmXKFFmwYIEpz9ixY2X8+PFy+OGHp6hcDDUoAQRWUFLRjkNgIbCiJSjc2eSO3IVLTrSzyJ3fuYuWngqcjUioAFSaLEmA3JVExAEQgEBlCaRSYG3evFnq6uqkoaEhFJ2OHTvK448/Lt26dQt1Pie5TwCBZadG3ND5fUPHSpii+rMCy8qFh9yROytBc70TRILrFcrm+MhdNuvKrCCQIgLeCSyVV9OnT5eLL76YNxCmKKjlDhWBVS6xcMcjsBBY4ZIT7SxyR+6iJSjc2eTO79yFS00Fz0IkVBAuTTdJgNwRDghAIGEC3gismpoa+eY3vyn9+/eXk08+OWHsdF9pAgisShP+3/a5ofP7ho6VMEX1ZwWWlQsPuSN3VoLmeieIBNcrlM3xkbts1pVZQSBFBFIpsFLEl6EmRACBZQc8AguBZSdphb2QO3JH7vIIIE6TiEPyfSISkq+BjyMgdz5WnTlDwCkCCCynysFg4iKAwIqLZPPtIBIQCXaShsBqlvOQ/UmUIbE+WYFVhB6BlVgWE+0YkZAofm87J3felp6JQ8AVAggsVyrBOGIlgMCKFWeTjSGwEFh2kobAQmB9TACBhcBK4rrjXJ+IBOdK4sWAyJ0XZWaSEHCZAALL5eowttAEEFih0ZV1IgILgVVWYGI6mNyRu5iiVFYz5M7v3JUVFhsHIxJsUKaPYgLkjkxAAAIJE3BaYG3ZskVGjRolGzZsiB2TbuQ+depUadeuXext02DyBBBYdmrADZ3fN3SshCmqP49yWbnwkDtyZyVorneCSHC9QtkcH7nLZl2ZFQRSRMBpgbV582apq6uThoaG2JHW1tZKfX29VFdXx942DSZPAIFlpwYILASWnaQV9kLuyB25yyOAOE0iDsn3iUhIvgY+joDc+Vh15gwBpwggsBBYTgUyrsEgsOIi2Xw7iAREgp2kIbCa5cwm7lZiyPXO7+udlZCV0wkioRxaHBsXAXIXF0nagQAEQhJwWmCFnFPBadu3b5dHH31UfvKTn8jatWsP/uy73/2uzJ49m0cI44DsYBsILDtF4YbO7xs6HuUqqj8rYaxceMgdubMSNNc7QSS4XqFsjo/cZbOuzAoCKSKQWYG1Y8cOefLJJ+X222+X3//+9wdLcvbZZ8v48eOlV69e0qpVqxSViqGWQwCBVQ6t8McisBBY4dMT/kxyR+7Cpyf8meTO79yFT06FzkQkVAgszTZLgNwREAhAIGECmRNYO3fulCVLlpgVV6+88kqBuPrBD34gF154IeIq4dDZ6B6BZYOyCDd0ft/QsRKmqP6swLJy4SF35M5K0FzvBJHgeoWyOT5yl826MisIpIhAZgRWU+Kqc+fOouKqX79+ctRRR6WoNAw1CgEEVhR6wc9FYCGwgqclviPJHbmLL03BWyJ3fucueFIsHYlIsASabgoIkDsCAQEIJEwg9QJLxdWzzz4rEyZMKFhxpeJq+PDhcuWVVyKuEg5ZEt0jsOxQ54bO7xs6VsIU1Z8VWFYuPOSO3FkJmuudIBJcr1A2x0fusllXZgWBFBFIrcDas2ePPP/88zJp0iT59a9/fRB5x44d5YYbbpDBgwfLMccck6JSuDtUZa17iY0dO1ZeeuklOe+88xod7Lp16+Suu+6SpUuXmg3zu3btala+aS3at2/f6Dm5lXNz586VZcuWScuWLaVnz54ybNgwqampkaqqqlBgEFihsJV9EgILgVV2aGI4gdyRuxhiVHYT5M7v3JUdmEqfgEioNGHab4wAuSMXEIBAwgRSJ7D27dsnL7zwgtnjqqGh4SC+Y489VkaOHClDhw5tUpYkzDq13f/sZz+TgQMHyrZt25oUWK+99ppcc801smLFCtHVbx06dJA33nhD1q9fL71795a7775bOnXqVMBA5dXUqVNl3Lhx0qZNG+nSpYvs3r1bli9fbn4/efJk02aLFi3KZofAKhtZqBO4ofP7ho6VMEX1ZwVWqOtIuSeRO3JXbmYyeTwiIZNldX5S5M75EjFACGSdQGoEloqr3/zmN0Zc6SbtuY+KK5Uc119/vRx//PFZr5f1+a1Zs0YGDRpkxJR+GluBtWnTJiMO9VHOGTNmyBVXXGGk0/bt2+WOO+4wj3dqfVRWtW7d+uAcFi5cKEOGDJEePXrIrFmzRFfP7d+/X1599VXz+OfGjRulvr6+yRVfzcFAYNmJCgILgWUnaYW9kDtyR+7yCCBOk4hD8n0iEpKvgY8jIHc+Vp05Q8ApAs4LLBVXv/vd78xqnCeffPIgPF2ho9JERcfJJ5/sFNSsDEYF1KhRo2TlypXSrl07eeqppxoVWIsWLZK+ffvKiBEjjKRq1arVQQRbt241NXrmmWdk8eLF0r17d/OzLVu2mEcLdbVV/p/nTnz66aflkksuMfKsuM0gfBFYQShFPwaRgEiInqLyWyB35K781EQ/g9z5nbvoCYq5BURCzEBpLhABchcIEwdBAAKVI+C0wPrggw/klltukfvuu69AXOkKn5tvvlk+85nPVI6M5y3rSijdl0o5z5kzxzwOqI/6Fa/A2rVrl4wePdqsvFLpdMEFFxxC7sEHHzSrsqZPn24e89SPSrE+ffpIr169zOorFZL5H13Vdfnll8uHH34oDz/8sFmdVc4HgVUOrfDHckPn9w0dj3IV1Z+VMOEvJmWcSe7IXRlxye6hiITs1tblmZE7l6vD2CDgBQGnBdbmzZulrq7u4F5X3/ve94wsOe200yQnKLyoUgKT1Mf4dAWU8tdHAKdMmdKowNKVVLo/1oYNG+TRRx81tSn+6ObsX/nKV8yKORVd+hjhI488Iv3795fx48ebX8X13LFjh5Fds2fPbnbj+KbQILDshAaBhcCyk7TCXsgduSN3eQQQp0nEIfk+EQnJ18DHEZA7H6vOnCHgFIFUCaw4ydXW1pr9laqrq+NsNhNtvfvuu0Y26dsHdRXWcccdZ9722NgKLN2kXVdK6aeplVL6RsJLL73UtJNjriLrpptuKliVVQwv1+dDDz1kRFo5HwRWObTCH4tIQCSET0/4M8kduQufnvBnkju/cxc+ORU6E5FQIbA02ywBckdAIACBhAkgsBBYBRFUaTVt2jS59957Zd68eVJTU2N+3pTAakxOFWe6sWOCyKkgxzT1/x8Elp0rCzd0ft/Q8ShXUf1ZCWPlwkPuyJ2VoLneCSLB9Qplc3zkLpt1ZVYQSBEBpwWWPp6mm4jr42lxf3Tjd90cXDcn5/Mxgdzm6WPGjDH7X+nbBNMssPRRSB8+oxoOfXTTxryn1v6hoJuzup1lo9tD+lj56srCcazslsw4zvIjbzm45I7cJfF/NHJH7pLInWt98vetX3/fupI/cpf93J11VjLf5V3JOONwn4DTAst9fNkaoW7UrvtZqdzTvafy5V5aV2AhsCqbUQRWId+VCKzKBu5A6+SO3FkJWlEn5M7v3CWRueb6RCRkXyS4ljkdD7nLfu4QWC7+P48x5RNAYJEHQ2D79u1mtdvzzz8vCxculDPOOKOATFMC6+233z64P5Xub3XCCSccQjT3COFJJ50k8+fPN2JMBdk111xj3jCp+2019sn1qePRPbTK+fAIYTm0wh/LI4RF7IbsDw8zhWfyKFdR0XiE0EqKyR25sxK0Zjr547v7ZMHLu2XFH/fKjl2Vue4ffeRh0u3Uw+WyL7WUv/901aGj4VGupGNgvX9yl4ecv2+t548OIeAKAQSWK5VIeBw5ybR69epAI5k4caKMHTtWeAthIFwVP4gbOm7oKh6yRjogd+SO3CVAoNiXcCNntQgqEUbM2yE799jptlULkZlXtD5UYiGw7BTAkV7IHX/fOhJFhgGBxAkgsBIvgRsDePPNN+WHP/yh/M///E+jA9K3DarkOvfcc+WYY46RCy+8UIYPHy67du2S0aNHi75VUPfPuuCCCw45P7faavr06TJy5Ejz85UrV0qfPn2kV69eMmvWLGnTpk3BebmVXdp+U283bI4cK7Ds5IoVWEWcWYFlJXjkjtxZCVpRJ+TO79zlZj9p8U751X9ZslcHOv3a51rI2ItaFRYAgZXEZSCxPskdAiux8NExBBwjgMByrCCuDqepRwh1vIsWLZK+ffvKiBEjzMb4rVp9/CVr69atRnQ988wzsnjxYunevbuZoq7cGjx4sCxfvrzgz3Pzz20mP2jQoEPaDMIIgRWEUvRjuKHz+4aOFVh8oY5+FSm/BXJH7spPTXxnXPivH1bsscHmRsnft37/fUvuuO7FdxWjJQikmwACK931szb65gTWpk2bzD5Wzz77rFmJNWDAACOxdF+tO+64QyZMmGB+rj9r3br1wTHr3lZDhgyRHj16yMyZM+XUU0+V/fv3i268rtJL3z6px+jPy/0gsMolFu54vlD7/YUakcAX6nBXjmhnkTtyFy1B0c4mf+QvWoLCnU3uyF245HAWBLJHAIGVvZpWZEbNCSzt8OWXX5Zhw4aJ7qHVuXNn6dChg+hbDfXRw969e8vdd98tnTp1KhibCq7JkyebX/oIYZcuXWT37t1mVZb+Xv9cN3pv0aJF2XNCYJWNLNQJCCwEVqjgRDyJ3JG7iBEKdTq58zt3udkjEhAJoS4gEU8id+QuYoQ4HQKZIYDAykwpKzuRUgJLe1+3bp3cddddsnTpUrNfVteuXaVfv37mUcH27ds3OsCdO3fKkiVLZO7cubJs2TJp2bKl9OzZ08iwmpoaqapq5M07AaaKwAoAKYZDuKHz+4aOL9R8oY7hMlJ2E+SO3JUdmhhPIH/kL8Y4BW6K3JG7wGHhQAhknAACK+MF9nV6CCw7lUdgIbDsJK2wF3JH7shdHgHeQmg1DogERILVwB3ojNyRuyRyR58QcJEAAsvFqjCmyAQQWJERBmoAkYBICBSUmA8id+Qu5kgFao7c+Z273OwRCYiEQBeMmA8id+Qu5kjRHARSSwCBldrSMfDmCCCw7OSDGzq/b+j4Qs0XajtXmsJeyB25SyJ3CKwDBPaTvyTyx3WP3CWRO/qEgIsEEFguVoUxRSaAwIqMMFADCCwEVqCgxHwQuSN3MUcqUHPkzu/cIbAQWIEuFBU6CIGFwKpQtGgWAqkjgMBKXckYcBACCKwglKIfww2d3zd0fKHmC3X0q0j5LZA7cld+auI7g/yRv/jSFLwlckfugqeFIyGQbQIIrGzX19vZIbDslB6BhcCyk7TCXsgduSN3eQTYxN1qHBAJiASrgTvQGbkjd0nkjj4h4CIBBJaLVWFMkQkgsCIjDNQAIgGRECgoMR9E7shdzJEK1By58zt3udkjEhAJgS4YMR9E7shdzJGiOQiklgACK7WlY+DNEUBg2ckHN3R+39DxhZov1HauNIW9kDtyl0TuEFgHCLCJeyLx47rHdS+R4NEpBBwkgMBysCgMKToBBFZ0hkFaQGAhsILkJO5jyB25iztTQdojd37nDoGFwApynajUMQgsBFalskW7EEgbAQRW2irGeAMRQGAFwhT5IG7o/L6h4ws1X6gjX0RCNEDuyF2I2MR2Cvkjf7GFqYyGyB25KyMuHAqBTBNAYGW6vP5ODoFlp/YILASWnaQV9kLuyB25yyPAJu5W44BIQCRYDdyBzsgduUsid/QJARcJILBcrApjikwAgRUZYaAGEAmIhEBBifkgckfuYo5UoObInd+5y80ekYBICHTBiPkgckfuYo4UzUEgtQQQWKktHQNvjgACy04+uKHz+4aOL9R8obZzpSnshdyRuyRyh8A6QIBN3BOJH9c9rnuJBI9OIeAgAQSWg0VhSNEJILCiMwzSAgILgRUkJ3EfQ+7IXdyZCtIeufM7dwgsBFaQ60SljkFgIbAqlS3ahUDaCCCw0lYxxhuIAAIrEKbIB3FD5/cNHV+o+UId+SISogFyR+5CxCa2U8gf+YstTGU0RO7IXRlx4VAIZJoAAivT5fV3cggsO7VHYCGw7CStsBdyR+7IXR4BNnG3GgdEAiLBauAOdEbuyF0SuaNPCLhIAIHlYlUYU2QCCKzICAM1gEhAJAQKSswHkTtyF3OkAjVH7vzOXW72iAREQqALRswHkTtyF3OkaA4CqSWAwEpt6Rh4cwQQWHbywQ2d3zd0fKHmC7WdK01hL+SO3CWROwTWAQJs4p5I/Ljucd1LJHh0CgEHCSCwHCwKQ4pOAIEVnWGQFhBYCKwgOYn7GHJH7uLOVJD2yJ3fuUNgIbCCXCcqdQwCC4FVqWzRLgTSRgCBlbaKMd5ABBBYgTBFPogbOr9v6PhCzRfqyBeREA2QO3IXIjaxnUL+yF9sYSqjIXJH7sqIC4dCINMEEFiZLq+/k0Ng2ak9AguBZSdphb2QO3JH7vIIsIm71TggEhAJVgN3oDNyR+6SyB19QsBFAggsF6vCmCITQGBFRhioAUQCIiFQUGI+iNyRu5gjFag5cud37nKzRyQgEgJdMGI+iNyRu5gjRXMQSC0BBFZqS8fAmyOAwLKTD27o/L6h4ws1X6jtXGkKeyF35C6J3CGwDhBgE/dE4sd1j+teIsGjUwg4SACB5WBRGFJ0Agis6AyDtIDAQmAFyUncx5A7chd3poK0R+78zh0CC4EV5DpRqWMQWAisSmWLdiGQNgIIrLRVjPEGIoDACoQp8kHc0Pl9Q8cXar5QR76IhGiA3JG7ELGJ7RTyR/5iC1MZDZE7cldGXDgUApkmgMDKdHn9nRwCy07tEVgILDtJK+yF3JE7cpdHgE3crcYBkYBIsBq4A52RO3KXRO7oEwIuEkBguVgVxhSZAAIrMsJADSASEAmBghLzQeSO3MUcqUDNkTu/c5ebPSIBkRDoghHzQeSO3MUcKZqDQGoJILBSWzoG3hwBBJadfHBD5/cNHV+o+UJt50pT2Au5I3dJ5A6BdYAAm7gnEj+ue1z3EgkenULAQQIILAeLwpCiE0BgRWcYpAUEFgIrSE7iPobckbu4MxWkPXLnd+4QWAisINeJSh2DwEJgVSpbtAuBtBFAYKWtYow3EAEEViBMkQ/ihs7vGzq+UPOFOvJFJEQD5I7chYhNbKeQP/IXW5jKaIjckbsy4sKhEMg0AQRWpsvr7+QQWHZqj8BCYNlJWmEv5I7ckbs8AmzibjUOiAREgtXAHeiM3JG7JHJHnxBwkQACy8WqMKbIBBBYkREGagCRgEgIFJSYDyJ35C7mSAVqjtz5nbvc7BEJiIRAF4yYDyJ35C7mSNEcBFJLAIGV2tIx8OYIILDs5IMbOr9v6PhCzRdqO1eawl7IHblLIncIrAME2MQ9kfhx3eO6l0jw6BQCDhJAYDlYFIYUnQACKzrDIC0gsBBYQXIS9zHkjtzFnakg7ZE7v3OHwEJgBblOVOoYBBYCq1LZol0IpI0AAittFWO8gQggsAJhinwQN3R+39DxhZov1JEvIiEaIHfkLkRsYjuF/JG/2MJURkPkjtyVERcOhUCmCSCwMl1efyeHwLJTewQWAstO0gp7IXfkjtzlEWATd6txQCQgEqwG7kBn5I7cJZE7+oSAiwQQWC5WhTFFJoDAiowwUAOIBERCoKDEfBC5I3cxRypQc+TO79zlZo9IQCQEumDEfBC5I3cxR4rmIJBaAgis1JaOgTdHAIFlJx/c0Pl9Q8cXar5Q27nSFPZC7shdErlDYB0gwCbuicSP6x7XvUSCR6cQcJAAAsvBojCk6AQQWNEZBmkBgYXACpKTuI8hd+Qu7kwFaY/c+Z07BBYCK8h1olLHILAQWJXKFu1CIG0EEFhpqxjjDUQAgRUIU+SDuKHz+4aOL9R8oY58EQnRALkjdyFiE9sp5I/8xRamMhoid+SujLhwKAQyTQCBleny+js5BJad2iOwEFh2klbYC7kjd+QujwCbuFuNAyIBkWA1cAc6I3fkLonc0ScEXCSAwHKxKowpMgEEVmSEgRpAJCASAgUl5oPIHbmLOVKBmiN3fucuN3tEAiIh0AUj5oPIHbmLOVI0B4HUEkBgpbZ0DLw5AggsO/nghs7vGzq+UPOF2s6VprAXckfuksgdAusAATZxTyR+XPe47iUSPDqFgIMEEFgOFoUhRSeAwIrOMEgLCCwEVpCcxH0MuSN3cWcqSHvkzu/cIbAQWEGuE5U6BoGFwKpUtmgXAmkjgMBKW8UYbyACCKxAmCIfxA2d3zd0fKHmC3Xki0iIBsgduQsRm9hOIX/kL7YwldEQuSN3ZcSFQyGQaQIIrEyX19/JIbDs1B6BhcCyk7TCXsgduSN3eQTYxN1qHBAJiASrgTvQGbkjd0nkjj4h4CIBBJaLVWFMkQkgsCIjDNQAIgGRECgoMR9E7shdzJEK1By58zt3udkjEhAJgS4YMR9E7shdzJGiOQiklgACK7WlY+DNEUBg2ckHN3R+39DxhZov1HauNIW9kDtyl0TuEFgHCLCJeyLx47rHdS+R4NEpBBwkgMBysCgMKToBBFZ0hkFaQGAhsILkJO5jyB25iztTQdojd37nDoGFwApynajUMQgsBFalskW7EEgbAQRW2irGeAMRQGAFwhT5IG7o/L6h4ws1X6gjX0RCNEDuyF2I2MR2Cvkjf7GFqYyGyB25KyMuHAqBTBNAYGW6vP5ODoFlp/YILASWnaQV9kLuyB25yyPAJu5W44BIQCRYDdyBzsgduUsid/QJARcJILBcrApjikwAgRUZYaAGEAmIhEBBifkgckfuYo5UoObInd+5y80ekYBICHTBiPkgckfuYo4UzUEgtQQQWKktHQNvjgACy04+uKHz+4aOL9R8obZzpSnshdyRuyRyh8A6QIBN3BOJH9c9rnuJBI9OIeAgAQSWg0VhSNEJILCiMwzSAgILgRUkJ3EfQ+7IXdyZCtIeufM7dwgsBFaQ60SljkFgIbAqlS3ahUDaCCCw0lYxxhuIAAIrEKbIB3FD5/cNHV+o+UId+SISogFyR+5CxCa2U8gf+YstTGU0RO7IXRlx4VAIZJoAAivT5fV3cggsO7VHYCGw7CStsBdyR+7IXR4BNnG3GgdEAiLBauAOdEbuyF0SuaNPCLhIAIHlYlUYU2QCCKzICAM1gEhAJAQKSswHkTtyF3OkAjVH7vzOXW72iAREQqALRswHkTtyF3OkaA4CqSWAwEpt6Rh4cwQQWHbywQ2d3zd0fKHmC7WdK01hL+SO3CWROwTWAQJs4p5I/Ljucd1LJHh0CgEHCSCwHCwKQ4pOAIEVnWGQFhBYCKwgOYn7GHJH7uLOVJD2yJ3fuUNgIbCCXCcqdQwCC4FVqWzRLgTSRgCBlbaKMd5ABBBYgTBFPogbOr9v6PhCzRfqyBeREA2QO3IXIjaxnUL+yF9sYSqjIXJH7sqIC4dCINMEEFiZLq+/k0Ng2ak9AguBZSdphb2QO3JH7vIIsIm71TggEhAJVgN3oDNyR+6SyB19QsBFAggsF6vCmCITQGBFRhioAUQCIiFQUGI+iNyRu5gjFag5cud37nKzRyQgEgJdMGI+iNyRu5gjRXMQSC0BBFZqS8fAmyOAwLKTD27o/L6h4ws1X6jtXGkKeyF35C6J3CGwDhBgE/dE4sd1j+teIsGjUwg4SACB5WBRGFJ0Agis6AyDtIDAQmAFyUncx5A7chd3poK0R+78zh0CC4EV5DpRqWMQWAisSmWLdiGQNgIIrLRVjPEGIoDACoQp8kHc0Pl9Q8cXar5QR76IhGiA3JG7ELGJ7RTyR/5iC1MZDZE7cldGXDgUApkmgMDKdHn9nRwCy07tEVgILDtJK+yF3JE7cpdHgE3crcYBkYBIsBq4A52RO3KXRO7oEwIuEkBguVgVxhSZAAIrMsJADSASEAmBghLzQeSO3MUcqUDNkTu/c5ebPSIBkRDoghHzQeSO3MUcKZqDQGoJILBSWzoG3hwBBJadfHBD5/cNHV+o+UJt50pT2Au5I3dJ5A6BdYAAm7gnEj+ue1z3EgkenULAQQIILAeLwpCiE0BgRWcYpAUEFgIrSE7iPobckbu4MxWkPXLnd+4QWAisINeJSh2DwEJgVSpbtAuBtBFAYKWtYow3EAEEViBMkQ/ihs7vGzq+UPOFOvJFJEQD5I7chYhNbKeQP/IXW5jKaIjckbsy4sKhEMg0AQRWpsvr7+QQWHZqj8BCYNlJWmEv5I7ckbs8AmzibjUOiAREgtXAHeiM3JG7JHJHnxBwkQACy8WqMKbIBBBYkREGagCRgEgIFJSYDyJ35C7mSAVqjtz5nbvc7BEJiIRAF4yYDyJ35C7mSNEcBFJLAIGV2tIx8OYIILDs5IMbOr9v6PhCzRdqO1eawl7IHblLIncIrAME2MQ9kfhx3eO6l0jw6BQCDhJAYDlYFIYUnQACKzrDIC0gsBBYQXIS9zHkjtzFnakg7ZE7v3OHwEJgBblOVOoYBBYCq1LZol0IpI0AAittFWO8gQggsAJhinwQN3R+39DxhZov1JEvIiEaIHfkLkRsYjuF/JG/2MJURkPkjtyVERcOhUCmCSCwMl1efyeHwLJTewQWAstO0gp7IXfkjtzlEWATd6txQCQgEqwG7kBn5I7cJZE7+oSAiwQQWC5WhTFFJoDAiowwUAOIBERCoKDEfBC5I3cxRypQc+TO79zlZo9IQCQEumDEfBC5YJ7N4QAAIABJREFUI3cxR4rmIJBaAgis1JaOgTdHAIFlJx/c0Pl9Q8cXar5Q27nSFPZC7shdErlDYB0gwCbuicSP6x7XvUSCR6cQcJAAAsvBovg0pJ07d8qSJUtk7ty5smzZMmnZsqX07NlThg0bJjU1NVJVVRUKBwIrFLayT0JgIbDKDk0MJ5A7chdDjMpugtz5nTsEFgKr7ItGjCcgsBBYMcaJpiCQagIIrFSXL92DV3k1depUGTdunLRp00a6dOkiu3fvluXLl5vfT548Wa655hpp0aJF2RNFYJWNLNQJ3ND5fUPHF2q+UIe6cEQ8idyRu4gRinQ6+SN/kQIU8mRyR+5CRofTIJA5AgiszJU0PRNauHChDBkyRHr06CGzZs2Sjh07yv79++XVV1+V4cOHy8aNG6W+vl7OO++8sieFwCobWagTEFgIrFDBiXgSuSN3ESMU6nRy53fucrNHJCASQl1AIp5E7shdxAhxOgQyQwCBlZlSpmsiW7ZskcGDB5vVVosXL5bu3bsXTODpp5+WSy65RAYNGmRWabVq1aqsCSKwysIV+mBu6Py+oeMLNV+oQ188IpxI7shdhPhEPpX8kb/IIQrRALkjdyFiwykQyCQBBFYmy+r+pFauXCl9+vSRXr16mdVX+shg/mfTpk1y+eWXy4cffigPP/ywWZ1VzgeBVQ6t8McisBBY4dMT/kxyR+7Cpyf8meTO79zlZo9IQCSEv4qEP5Pckbvw6eFMCGSLAAIrW/VMzWweeeQR6d+/v4wfP978ygmn3AR27NghI0eOlNmzZ8tLL71U9mOECCw7UeCGzu8bOr5Q84XazpWmsBdyR+6SyB0C6wAB3kKYSPy47nHdSyR4dAoBBwkgsBwsig9DmjFjhtx0000yffp0I6oa+0yaNMls8P7QQw9JXV1dWVgQWGXhCn0wAguBFTo8EU4kd+QuQnxCn0ru/M4dAguBFfriEcOJCCwEVgwxogkIZIIAAisTZUzfJILIqSDHNDVzBJadTHBD5/cNHV+o+UJt50pT2Au5I3dJ5A6BhcAidyJyWEIUWPmXEHi6hYB7BBBY7tXEixEFkVNBjkFg/S8Bbui4oUviwkHuyB25S4AAN3IJQP+4S657XPeSCCC5I3dJ5I4+IeAiAQSWi1XxYExB5FSQY0oJrLPOOssDmkwRAhCAAAQgAAEIQAACEIBANAKvvvpqtAY4GwIVJoDAqjBgmm+cgG7Ofs0118h9990nQ4cObfSgnMBauHChXHrppWWj7NatW9nncAIEIAABCEAAAhCAAAQgAAEfCSCwfKx6uuaMwEpXvTIz2kq/hTAzoJgIBCAAAQhAAAIQgAAEIAABCEAAAoLAIgSJEFi5cqX06dNHevXqJbNmzZI2bdoUjOPtt982bx7ctWuXPPzww9KxY8dExkmnEIAABCAAAQhAAAIQgAAEIAABCCRPAIGVfA28HMGWLVtk8ODBsnz5clm8eLF07969gMPTTz8tl1xyiQwaNEimTp0qrVq18pITk4YABCAAAQhAAAIQgAAEIAABCEBAWIFFCJIjoHtbDRkyRHr06CEzZ86UU089Vfbv3y/67PXw4cNlw4YNosfoz/lAAAIQgAAEIAABCEAAAhCAAAQg4C8BVmD5W/vEZ759+3aZPHmy+aWPEHbp0kV2795tVmXp7/XPdaP3Fi1aJD5WBgABCEAAAhCAAAQgAAEIQAACEIBAcgQQWMmxp2cR2blzpyxZskTmzp0ry5Ytk5YtW0rPnj1l2LBhUlNTI1VVVXCCAAQgAAEIQAACEIAABCAAAQhAwHMCCCzPA8D0IQABCEAAAhCAAAQgAAEIQAACEICA6wQQWK5XiPFBAAIQgAAEIAABCEAAAhCAAAQgAAHPCSCwPA8A04cABCAAAQhAAAIQgAAEIAABCEAAAq4TQGC5XiHGBwEIQAACEIAABCAAAQhAAAIQgAAEPCeAwPI8AEwfAhCAAAQgAAEIQAACEIAABCAAAQi4TgCB5XqFGB8EIAABCEAAAhCAAAQgAAEIQAACEPCcAALL8wAwfQhAAAIQgAAEIAABCEAAAhCAAAQg4DoBBJbrFWJ8EEghgb1798rYsWNlypQpTY5+6NChMmPGDGnduvXBY/bt2ycvvPCC3HvvvfLcc8/J7t275bzzzpOrrrpKLrzwQmnVqlUKaTDkShPYs2ePjB8/XlauXCn19fVSXV3daJdh87Vu3Tq56667ZOnSpbJ27Vrp2rWr9OvXTwYPHizt27ev9PRo32ECr7/+uvTv31/GjBkjdXV1jY707bffNj/71a9+1eRMHnrooUPO37lzpyxZskTmzp0ry5Ytk5YtW0rPnj1l2LBhUlNTI1VVVQ6TYWhxEti/f7/84Q9/MFnIXYeOPfbYknngmhdnFfxsSzO0YsUKuf/+++XZZ5+V9evXS8eOHaVXr14yfPhwOeOMM+Swww4rgMM1z8+sMGsI2CKAwLJFmn4g4BGB999/30inxx9/PLDAUumlN3H6hWjbtm1y7rnnmhu21157zfz+1ltvNb+OOuooj0gy1VIEVF7dd999Jhtf/vKXmxRYYfOl+bvmmmvMF/jOnTtLhw4d5I033jBf4nv37i133323dOrUqdQw+XkGCWgOrr/+enn66afNtaspgaVitU+fPvLOO+8EFlgqr6ZOnSrjxo2TNm3aSJcuXYzQX758ufn95MmTTS5btGiRQbJMKZ+AyqtHHnlErrvuOnnvvffMdUgFwtatW00e9NPY349c88hRVAL696v+Q+OkSZPM9zD9xxv9R5tNmzbJqlWrmrwWcc2LSp7zIQCB5gggsMgHBCAQOwG9ub/88svlhBNOMP9i3LZt25J96AoDvQE87rjjZNasWXLWWWeZc958800ZMWKEvPjiizJnzhyz2oEPBJSAfqHWG/nbb7/dAKmtrW1SYIXJl35J15WC+q/O+iX+iiuuMMJg+/btcscdd8iECROMwFDRkL+SkOpkm4AKhd/85jdGKKxevdpMtjmB9fOf/1y+/e1vy/Tp02XkyJGB4CxcuFCGDBkiPXr0MNdDFRba76uvvmok/8aNG03WdYUqn2wTyK3y+/DDD00W/vEf/9GsvsvPgwr24gxyzct2LmzMTuX8JZdcIp/73OfMKuRu3bqZ1Va6Kus//uM/zDVw165dotcrvVblPlzzbFSHPiDgLwEElr+1Z+YQqBgB/VdhXZ2iN/f6L3eHH354s33paoNRo0bJzJkz5YknnpDvfOc7BcfnvsCfdtppZhl7u3btKjZ2GnafgP6r8PPPP28e23rllVfkU5/6lOzYsaPJFVhh87Vo0SLp27evEagqqfIfYdXVDyoSnnnmGVm8eLF0797dfXCMMDIBXUX105/+VO655x7TlorLv/71r80KLH2UWlfI6M3gBRdcUHIMW7ZsMY+n6nW0sWzlbioHDRp0SC5LNs4BqSOg8vymm26SadOmGQFa/LhWLg8XXXSREVy6Qo9rXurK7NyAVUyNHj3a/ONNY9/LVKDqP1CqaP/hD39Y8F2Pa55z5WRAEMgUAQRWpsrJZCDgBgF93EFXSumjXbqCpdQnt2LriCOOMKsKdOVW/kf/5fmGG24we3/84he/OLg6q1S7/DybBHRlwVe+8hVzo3bttdfKP/3TP5n/6uq9xvbACpOv/C/vTYmHBx980KzKKmdlTTYr4sesVJKqQJg9e7acffbZZuXfSy+9ZPZfa2oF1kcffSQ333yzEZ36SLXuF1Pqk3v8RveYyQmJ/HN0ZaCucNXr4sMPP2xWZ/HJJgHNz2233SaPPfaY+cebxlbc6b58l156acH1j2teNvNgc1Yq0v/5n//Z7Puo2dNHV4s/ub+L8/c05Zpns0r0BQE/CSCw/Kw7s4ZAxQjov8rpo1X6S2/8//a3v5kVC/qIwznnnGNu+L/3ve8V7GWVW7GlX8L12E984hOHjE9Xcul+MM09qlOxSdGwUwR01dVTTz1lsnTyySebL9jFN3D5Aw6TL/3yPnDgQNmwYYM8+uijoqv/gnx5dwoUg4mVgAqsO++80+wDc/7555sVeaWuSznZpAPRcxcsWGCuYbqXkW7Irqv7ijdkz/0DgIox/VW84iZfpKlA4zHCWMucusZ0hbI+5nXqqaceFPhc81JXxlQOWMW8rrbPF1hc81JZSgYNgVQRQGClqlwMFgLuE8hfLXXKKaeYNyedeeaZoo995TZk/9a3vnVwXxedUW6/BF3doKsadCVW8UdX1gwYMEAmTpxo3nDIBwI5AqUEVph85VYwaB9NrXIp1S8Vyj6BUgJLr3/6xkrds0ivgfpLV0zlNkFWQj/60Y/MI9S5fdRyj4w1t7KvVL/ZJ88MlYD+g5HmRVf56d+LKjz1kX2ueeSj0gTyH1PVRwn1sWf9cM2rNHnahwAEEFhkAAIQiJVA/uuTr776avP4g761Rj9vvfWW2Qtm/vz5oj/TL976VsEgcirIMbFOhMZSQ6CUSAqSneJjSrWpcIIckxqIDDQUgVIiKbdCQR931eudSnhduaWbIOvjN7qPmm4Er9dEfYmFrrYq1aYONMgxoSbESaki8MILL5iVqLpqWTfSzj2iyjUvVWVM3WBVnOpqUn0Tqm7srtevE0880cyDa17qysmAIZA6Agis1JWMAUPAbQJ6U6+rCfRtbbrR8ac//emCAf/lL38xj2bp27SefPJJ8xhNmC/bblNgdDYJlBJJYfJVqk0Els0Ku9tXKZGkUkEfi9YNtnWVjF4X8z+5Dbj18WrdU+34448PJKdK9esuMUYWF4GXX35Zhg0bZt7Uq/tNXnbZZQcfN+WaFxdl2ikmoPJKv7vpiwX0M2/ePPMYdO7DNY/MQAAClSaAwKo0YdqHAAQKCOiXH12VpY87TJ482by9JsyXbbBCIEeglGwKk69SbSKwyJ8SiCqSdI9AFfq6Gktl1rnnnhuozaj9Ur30EtC/QxsaGuTGG28UXfGsK/t0FVa+HOWal976ujxyfQRas6XySleV3nvvvfKNb3zjkH36mpsD1zyXK8zYIJAOAgisdNSJUUIgUwSKv1znlpwXv4o5f9K5c3LSK1NAmEwkAqVkU5h85R6F1YE19mbMfIF10kknmUco2rVrF2kenJw+AlFFUmMbsutbDvXRnObe4prrV1c76AsM+PhBIF8g6Izvuusu88Zf3WMt/8M1z4882JylXqumTZsmU6dONW+K1uuTrrwqfslEqTFxzStFiJ9DAAKlCCCwShHi5xCAQNkE9AuKfnKbEhc3oI/K6L8Y5zZkD/PGpLIHxQmZJVBKYIXJF28hzGxcYp1YKYGlq2U++OADcy0sfnxQB5J76YVugpx7oyBvIYy1RJlpbPv27WbVsv7q3LlzswKBa15myu7ERPSlE/oItP5Djb71VCX75z//+UbHxjXPiZIxCAhkmgACK9PlZXIQsE8g9watpl4Bv3fvXvP44JQpU8zr5HXj4twb3/Ttg42tdtm2bZtcd9118uyzz8ovfvELOeuss+xPjB6dJVBKYIXJ165du2T06NHm8Rx9tOuCCy44ZP65lTLNvS3OWWgMLBYCzQms999/X6666ip5/PHHRTfb7tGjxyF95lb6qTBVcaViYuXKldKnTx/p1auXeVurPqqT/8mdoxlt6g2ZsUyORpwhoH8H/uAHPzCPbPXu3dvsq3baaac1OT6uec6ULvUD0X1L9fvXz372M/O4s67AOu644xqdF9e81JebCUAgFQQQWKkoE4OEQHoIPPfcc3LxxRcf8maa3AzWrFljNpvVm6/HHnvM/Cte/uuYn3jiCfnOd75TMOHXX3/dPCahX9jvv/9+HtVKTxysjLSUwAqbr0WLFknfvn1lxIgR5ku7vj0u99m6dat5g5w+qrN48WLp3r27lbnSiVsEmhNYKusnTJhg9rTSt6/q/85fhaUrFVTY603hlVdeKXfffbd5K6vKLH0lva6iaSxbuY3fBw0adEgu3aLDaOIgoCuv9MUo+lKU7373u0aq59741lT7XPPiIE8b7777rgwdOtTIK/37TvcvLRbq+ZS45pEZCEDABgEElg3K9AEBjwjkbuz1McGrr77afOFp3769IfCHP/xBbrjhBrOiRYWAbgR6+OGHm5/pJsa6Gkv/ZU/39dBXM+veCvqGJRUIS5cuPbhiyyOcTDUAgVICK2y+9LEJ/fKuK//0pnHAgAFGYukN5R133GGEhP5cf9bU47IBhs8hKSZQ6hHCnHx/6623CjK0b98+UVl/yy23mNmryNJHc3If3dtqyJAhZtXWzJkz5dRTTxUVXvr2Vr2R3LBhg+gxja3qSjFOht4IgVwWvv71r5tHt4rf7NsUtDB/p3LNI4I5AiqjdHWxytNrr73WfGdTwV7qwzWvFCF+DgEIRCWAwIpKkPMhAIFDCLzxxhty/fXXG1F17LHHyplnnim6L5auKNCPrkbQX/lfhnRzWt0UVP9cH5fQt3G1bNlSXnvtNfP7xs4BPQSUQBCBFTZfuVfVr1692jze1aFDB9F86yM6+iiPrprp1KkThfCUQCmBlf/Kec2MZqhjx44mP5pb/d96k6irVvM3Q87f70hXPHTp0kV2795trqH6e90HSTd6b2xfLU9Lkclp597Y9tRTT5WcX21trRGh1dXV5liueSWRcUAzBHJ/r+rffaU++f+QwzWvFC1+DgEIRCWAwIpKkPMhAIFGCegNmK7C0n1ddP8XFVk9e/aUYcOGmTfXFL81SRvRVQl6rO7zoY8i6g2brkrQfWQuvPDCgke4wA6BHIEgAitKvtatW2dWBeoqQO2ra9eu0q9fP/OYV251IdXwk0ApgZWjUpwhFVnf+ta3zGqqz3zmM43C08fAlixZIrrBu66mUaFf6hrqZxWyO+vcfmjvvPNOyUkWCyyueSWRcUAzBH7+85/Lt7/97UCMGluJzDUvEDoOggAEQhBAYIWAxikQgAAEIAABCEAAAhCAAAQgAAEIQAAC9gggsOyxpicIQAACEIAABCAAAQhAAAIQgAAEIACBEAQQWCGgcQoEIAABCEAAAhCAAAQgAAEIQAACEICAPQIILHus6QkCEIAABCAAAQhAAAIQgAAEIAABCEAgBAEEVghonAIBCEAAAhCAAAQgAAEIQAACEIAABCBgjwACyx5reoIABCAAAQhAAAIQgAAEIAABCEAAAhAIQQCBFQIap0AAAhCAAAQgAAEIQAACEIAABCAAAQjYI4DAsseaniAAAQhAAAIQgAAEIAABCEAAAhCAAARCEEBghYDGKRCAAAQgAAEIQAACEIAABCAAAQhAAAL2CCCw7LGmJwhAAAIQgAAEIAABCEAAAhCAAAQgAIEQBBBYIaBxCgQgAAEIQAACEIAABCAAAQhAAAIQgIA9Aggse6zpCQIQgAAEIAABCEAAAhCAAAQgAAEIQCAEAQRWCGicAgEIQAACEIAABCAAAQhAAAIQgAAEIGCPAALLHmt6ggAEIAABCEAAAhCAAAQgAAEIQAACEAhBAIEVAhqnQAACEIAABCAAAQhAAAIQgAAEIAABCNgjgMCyx5qeIAABCEAAAhCAAAQgAAEIQAACEIAABEIQQGCFgMYpEIAABCAAAQhAAAIQgAAEIAABCEAAAvYIILDssaYnCEAAAhCAAAQgAAEIQAACEIAABCAAgRAEEFghoHEKBCAAAQhAAAIQgAAEIAABCEAAAhCAgD0CCCx7rOkJAhCAAAQgAAEIQAACEIAABCAAAQhAIAQBBFYIaJwCAQhAAAIQgAAEIAABCEAAAhCAAAQgYI8AAssea3qCAAQgAAEIQAACEIAABCAAAQhAAAIQCEEAgRUCGqdAAAIQgAAEIAABCEAAAhCAAAQgAAEI2COAwLLHmp4gAAEIQAACEIAABCAAAQhAAAIQgAAEQhBAYIWAxikQgAAEIAABCEAAAhCAAAQgAAEIQAAC9gggsOyxpicIQAACEIAABCAAAQhAAAIQgAAEIACBEAQQWCGgcQoEIAABCEAAAhCAAAQgAAEIQAACEICAPQIILHus6QkCEIAABCAAAQhAAAIQgAAEIAABCEAgBAEEVghonAIBCEAAAhCAAAQgAAEIQAACEIAABCBgjwACyx5reoIABCAAAQhAAAIQgAAEIAABCEAAAhAIQQCBFQIap0AAAhCAAAQgAAEIQAACEIAABCAAAQjYI4DAsseaniAAAQhAAAIQgAAEIAABCEAAAhCAAARCEEBghYDGKRCAAAQgAAEIQAACEIAABCAAAQhAAAL2CCCw7LGmJwhAAAIQgAAEIAABCEAAAhCAAAQgAIEQBBBYIaBxCgQgAAEIQAACEIAABCAAAQhAAAIQgIA9Aggse6zpCQIQgAAEIAABCEAAAhCAAAQgAAEIQCAEAQRWCGicAgEIQAACEIAABCAAAQhAAAIQgAAEIGCPAALLHmt6ggAEIAABCEAAAhCAAAQgAAEIQAACEAhBAIEVAhqnQAACEIAABCAAAQhAAAIQgAAEIAABCNgjgMCyx5qeIAABCEAAAhCAAAQgAAEIQAACEIAABEIQQGCFgMYpEIAABCAAAQhAAAIQgAAEIAABCEAAAvYIILDssaYnCEAAAhCAAAQgAAEIQAACEIAABCAAgRAEEFghoHEKBCAAAQhAAAIQgAAEIAABCEAAAhCAgD0CCCx7rOkJAhCAAAQgAAEIQAACEIAABCAAAQhAIAQBBFYIaJwCAQhAAAIQgAAEIAABCEAAAhCAAAQgYI8AAssea3qCAAQgAAEIQAACEIAABCAAAQhAAAIQCEEAgRUCGqdAAAIQgAAEIAABCEAAAhCAAAQgAAEI2COAwLLHmp4gAAEIQAACEIAABCAAAQhAAAIQgAAEQhBAYIWAxikQgAAEIAABCEAAAhCAAAQgAAEIQAAC9gggsOyxpicIQAACEIAABCAAAQhAAAIQgAAEIACBEAQQWCGgcQoEIAABCEAAAhCAAAQgAAEIQAACEICAPQIILHus6QkCEIAABCAAAQhAAAIQgAAEIACB/9fenQD7XP1/HD/JkDEpa0MTZTQqo5JCqwzDLwpRthakEsqSUbK2SSlFlGQLlUS2ZGkTyRIlNFGasU3JkqYaUyT95/VuPvd/7sfne7/33u/33vvp3udnxqh7P8s5j3O+Zr6veZ/zQQCBXAgQYOUCjUsQQAABBBBAAAEEEEAAAQQQQAABBPJPgAAr/6x5EgIIIIAAAggggAACCCCAAAIIIIBALgQIsHKBxiUIIIAAAggggAACCCCAAAIIIIAAAvknQICVf9Y8CQEEEEAAAQSSCPzxxx+uX79+buLEia5Zs2bujTfecOXLl8ctC4Fdu3a5KVOmuPfee89t2rTJzqxTp45r0aKFGzx4sDvttNOKhB9zp0gMM51EAAEEECjCAgRYRXjw6ToCCCCAQLwEnnjiCTds2LCMRrVs2dJNmjTJVapUKWFDC9uX9sLWn7ycYf/8849btmyZ69Gjh9u9e/dJj+revbt74YUXXKlSpZI2w3cPTs7O9T///LO77bbb3PLly112zk/akBROYO6kgMelCCCAAAII/AcECLD+A4NEExFAAAEEioZAOMBSrydPnuy6detGgFU0pkCOevntt9+69u3bu82bN9t1jRs3dg0bNnQlSpRw27dvd2eeeaZ76qmnch1gnX766W7+/Pl230QHAVaOhoyTEUAAAQQQQCAFAQKsFPC4FAEEEEAAgXQKRAVYTZo0cTNmzHCVK1eOfFRhqzopbP1J5/zw76XqK1VX9e/f3yloevnll12nTp1csWLFcvXIqAos3ahLly5u/PjxrnTp0pH3JcDKFTcXIYAAAggggEAuBAiwcoHGJQgggAACCOSFgB9gaf8i7Wmk49VXX3V33323O+WUU056bGELfApbf/Jinuiev//+u+vVq5ebOXOm+9///md/V6hQIdeP893PP/98V6VKFbdy5UoLx+bOneuaNm1KgJVrXS5EAAEEEEAAgXQIEGClQ5F7IIAAAgggkAYBP8CaNWuWBVcrVqxwjRo1soDi7LPPJsBKg3NhuEW6K5/8AOuSSy5xAwcOdI8//rjbtm2bu/POO924ceNcmTJlTqJLdztSGRvCz1T0uBYBBBBAAIH4CxBgxX+MaCECCCCAQBER8AOs1atXu2+++cbde++91vtEVViF7Ut7YetPXk3ddAdH4QBLb3988803bQ+trKqw0t2OVLyYO6nocS0CCCCAAALxFyDAiv8Y0UIEEEAAgSIiEA6wqlevbtUvH374obv66qvd66+/7s4999xMGsm+tIfvqftEHcnuo0Dj9ttvt0sVrl111VW2UfiYMWPsDXR6C542+9Yb8W688UZXsmRJO1d7NW3ZssWNHTvWLVy40B0+fDjyvKBNUe0oW7asW79+vZsyZYpZ6Fk1a9Z0Wmb5wAMPnGQS7t/x48ft+rffftvaqs3PdTRo0MDuIeOqVauexPLZZ5+5a665xn4ue71t7+jRo27x4sVuwoQJ7qOPPkrpzXu616pVqywoWrt2rbVLYVG9evVc69atXbt27U56A6UfGGX1sVD11NChQ7P9yQkHWLNnz3Zyu/XWW60KS39PnDjRaSz8I7sBVm76GtX4PXv2uLfeesstWbIkY4lj4KV59/TTT1s7mzVr5jRny5cvf9JtTpw4YeGw+qhlups2bbJz6tSpY9WOWq57wQUXRC7Z1XlHjhxx7777rm1wr3ml+ahxu/TSS13t2rVdq1at7POaaN+wbA8KJyKAAAIIIIBAJgECLCYEAggggAACMRGICpv84EhhUe/evTN9sU4WPOVFgPXJJ59YADBkyBALpMJHz5493ahRo2xD8dGjR9t/a8+mROf5X/TD/Xnuuedss/KpU6dGjlK1atXc888/726++ebIwEHhQr9+/SxsSHSUK1fO7qGAqnjx4hmnhQOsWrVqWSikACs4unfvbu0rVapUjmaRwr8BAwbH+imzAAASTklEQVRkulf4BlHtys8Aq0aNGjZ2gwYNsoBGy1gVzvhHdgKs3PbVf47CNH0WHnzwwcg5p3PVRo3DgQMHEgZYmq8aQ216n+jQfR566CHbID88rl9++aV9BjU3sjoUjMorHPjlaJJwMgIIIIAAAghkEiDAYkIggAACCCAQE4GosElfxu+55x63aNGiyCqsggiwVH21Zs0aU1MllEKkgwcPZlSy6OeqUNq7d68tQdOh6paKFStatUpQAaWfB5VNwRD4/VGAo3BL9/Gf9dtvv7l169ZljJqer3AjXF2myqGuXbtalYwOVRGpskkblKuKRtVPkydPtkBEoYWWaXbo0CHjvn6ApWqooNrGny65CbDC7VL7mzdvbo4K+lRlFrRZ7VLgohBO4ZoqmVQxJO8RI0bYeeqTKt9KlCiR0bSzzjrLXXjhhdme2VEVWBpbjVX79u3d5s2bI6uwkgVYqfQ1aLyq+LQn3H333ZcRhAYVTwqYwvNB10VVYO3fv98q5lQJGJyj4FP9/Ouvv6wKTtVwwfxUeKfA7NRTT7Xzd+zY4e644w4z1/NV8aU/wXzasGGDW7Zsmf0+qwqwbA8KJyKAAAIIIIBAJgECLCYEAggggAACMRFIVC01b94817ZtW2ulKpoUZgRvJCyIAEvtUFikcEpL7FRppWVZ+vKv6iu/2kpf8IcPH+4uu+yyyPMUCLz00ksWCOjw+xMMi5b4qVrpoosusnvo2Ldvn9130qRJ9v9dunRx48ePz1i29csvv1hYMWfOHAuGFKjpbX3hNzl+/fXXtmRMoUOTJk3cjBkzXOXKle2efoCl/1eg1qdPH1tKqaWcQVtyMn38duk69UF986vQZLl06VJ7y6ACv6iALllwlJM2hd21ibuW1ynYUXikCjNVI+l45513XJs2bTJun1U70tXXjRs3ultuuSVjqd6wYcNsbzh/U/ljx45ZqKqlk3rxQThAUvA3ePBg+/xorqlPnTt3zlRxp0798MMP5q6QSwGg5o8q78IOqq5SxV54Pum8nTt32nJXhV9RSxhzOjacjwACCCCAAAL/ChBgMRMQQAABBBCIiUCiAMsPAurXr2/VKOedd561uiACLIVUaqsCHf9QcKUv//pyr+PRRx+1pVjhZViHDh2yShZVq6iaS8GXQppwf/QzhVs33HBDZFiksEH3UWCh0En7EtWtW9fuE4R+CiteeeUV17Fjx4R7GvkBoYKLli1b2j38AKtp06a2j5f2Rkrl0J5LaousVFmnICXRXkna60lBjc7VsjVVBAV7i+VXgKW+7tq1y0I7eahiSeFMsDQuq3ako68KnjSHXnzxRWNP9DKDZJ+Fzz//3CrVFHxqnywFcv5yUX9M/XO1tFSBcaIKtVTmAtcigAACCCCAQM4ECLBy5sXZCCCAAAII5JlAVvtVKVhRWKMwQ5VP+lKvpU0FEWBpE/eozeBVffLYY4/ZHwVH77//vm2UHj6yCgOS9ce/l56nZXTBZuXTp0+3Ddn9e6jqSoFahQoVEo6b9mjSEsGtW7daBU9wv6hN3FMZfFUJDRw40EIr+WhfLm18n+hQcNmtWzc7Lxz05WeAJWcFSH379rWm+ss+E7UjXX31lzCGw7Os5pVfgeXPE7+6LJG7lmd26tTJlnIGS0R1roIsbRCvsHTBggW22T4HAggggAACCOSfAAFW/lnzJAQQQAABBLIUyCrA0j4/euOelrj5X8KTBT55sYl7ogBLncvO8/xwIxwoJOtPGPCDDz5wqo7SEYRPP/74oy3v0mbz2jdJS878/aHC91BQpPPCbxVMd4Cl5yiEVGVSOJCKmhh///23hWkjR460X/vu+Rlg6dl+tZsq1LR0s1KlSi5RO9LVV398tdxSf8LL9gK7RHPHrwzUklaFcf7yw7D9n3/+ae7Tpk3LtBRRwaOWBeq44oorrC3XX389bxvk33UEEEAAAQTySYAAK5+geQwCCCCAAALJBJKFP6po0l5AfhWWwqCgMiRq4+hk90z25T/4vf82xFQDLD/oSjXA8kOmRx55xAK077//PmPj8WTm4d/7m7KnO8Dyg7XsbvLthyZaUqgN1XXkd4ClKiZteK8ljTqCKqxE7UhXX/15F97wPzx2iQKs7L65MWqu+OPkL6X0z9ULCq688koLu1SVpQ30E4VsOZ2PnI8AAggggAAC/y9AgMVsQAABBBBAICYCycImvwor2GC6evXqBFjXXGMjGIRPe/bsiWWA5S+Hy26AlSjAye8AS75+FVaw4b0q21Tttnz58gx/7XmWrr7GKcCSgd6IOWTIEKuETHRoGeuTTz7pzjnnnJj8y0IzEEAAAQQQKBwCBFiFYxzpBQIIIIBAIRBIFmCpi1rmpr2AVIU1aNAg9/DDD9t+WNqbp6hXYAVLCP3wRNVp2rQ7qyWEiaZO3CqwsrP3VG4/BtndpFwbuOutjTq0obrmojZ4DwdYqVZgBX1Nd4ClCkZVkp1xxhm5pbI3Eu7fv99ps3f1e+3atW7Tpk2Z7teqVSv7TKoaiwMBBBBAAAEE0iNAgJUeR+6CAAIIIIBAygLZCbD8oEFVWFOnTnWvvfZakQ2wFi1a5BQW6NDbBlWFtXv3btuEe82aNbbnlN5kqE3Tc3qkO8BK175Q6kdBVGDpuQcOHLC3J8q9UaNGbsyYMRaghgOsdPV19uzZrkOHDjZ0wRsBE41joiWEv/76q4Vuc+fOtT2rFIpVqVIlp9Mhy/OPHDlie5vpBQubN2+2c/0ln2l9GDdDAAEEEECgiAoQYBXRgafbCCCAAALxE8hOgKVWr1q1yr7U79u3zzZ2VzWWQqxkFVgrV6501113XWTHk22eHsc9sLTJud54KDcFVEuXLrW3I/qbdgdLLWvVqpXjAU93gOVvyp6dtxAeOnTIArhly5a5unXrWiBSo0YN60dBBVh6tj8XVPWm+ei/sU9LCNPV1y+++MLddNNNNtf9/cmiBjPRHM5pW3I8UbwL5s2b59q2bWs/8d9omco9uRYBBBBAAAEE/hUgwGImIIAAAgggEBOB7AZYR48etaoXvU1NQYgCA1XGRAVY2qunc+fO1sPRo0fbflnhDaZPnDhh4U///v1t76Ko+8QxwNq2bZvr2LGjVbxoKZuWt5UtW9b66i9169mzpxs1alSWb4vTsjBVbB08eNC1bt3a7pHuAEv39JeAqpJJm7SXLl36pBmo9syaNcvejqhArnfv3taHkiVL2rkFGWCpuqpbt25u/vz59iZCBUdqYzhgSkdfFVxpTykFZNWqVbMqqssvvzzyE6v50KtXL7dixYqT5rDfluwu79u+fbuFc9q4Xt5a1njXXXdlWc3nzxlVY+nFAhwIIIAAAgggkB4BAqz0OHIXBBBAAAEEUhbIboClB23cuNHeSKjlcsERFTz5FSz169d348aNswBAIZZCkp07d1qIMn36dAshdMQlwFL11DPPPOOaNm2aEdwEfVW40KdPH6c3MyrE035MwVIznfPTTz/ZsjEt69KhEGLw4MGuatWqmcZJBjLUMkPtWTRhwgTblFxHXgRY/kb8esbAgQNtLzN/iWMQKCqMUdsU3ChAVHVZcBRkgKU2LFy40KrDgjmjn4UDrHT0VeOj+alwVYfmwsiRI53e/BcEsQpvNX+119nhw4cj57CW+Cm8nTRpkv1egacqpFSZFw50/fv17dvXDR06NCMw1LXad65hw4auWLFimeaSgmWFjMOGDbPxVMDXuHHjlP9d4AYIIIAAAggg8K8AARYzAQEEEEAAgZgI5CTA0pdlBTKqqgqOqODJX1YVnNegQQNXpkwZqzYKNp/WF/nixYtbNVNcAqygvQpwtHeRAq1jx45ZpZTCpSA8UcigahdVovmHNtfu0aNHxp5EChXq1avn1H/9t65fvXq109LK4PA3Ss+LAEvPUaVQ165d3fr16+2x6l/z5s3tb7VJ1UbB7/R7BTMKcDQ+wVHQAZaqsBRYzZkzJ6NNUUv80tFXbZiueys0Cw4FWBUrVnQKydatW2c/TlaNuGPHDnf//fdb6Ol/Fq699lpXvnz5yLkVLAP0vXWtwuA2bdrY0k4dW7dudVo++Omnn9r/Z1VdF5N/bmgGAggggAAC/zkBAqz/3JDRYAQQQACBwiqQkwBLBlu2bLGqI4UEOqKCJ/086ou7b6hlUQrDVD2S6G2GBbGEsFy5cra8bu/evZFDrsBCVViqYopahqeLVKk1YMAAt3jx4qTTRkHGiBEjnP7WkVcBVtCuoIIsUcPUf21croowP7zS+QUdYKkNCoJUBRgEiYn2qPKr5XLTV12jpa1atqgxiTpUnabKLM3TRHNY16kyT3NdLz9IdtSuXdsNGTLEtWvXzpZJPvvss27s2LEZVV6JrtfnSaGjAjYOBBBAAAEEEEifAAFW+iy5EwIIIIAAAikJ5DTAOn78uBs+fLhVH+lIFGDpd3oT28yZM20PIVUcKRzR8iZVKGk5lCq6tMQqTgFWixYt3OTJk91XX33lpk2bZlVJWlJXs2ZN66uCgosvvvikJWDhQdCSPFWaLViwwPqu+yl0CSqytCxNG4Xrvv6ysLwMsNRGhSKq2NFeV6oWU0gTtEn7cCk40R5TUUccAqzwEsGsNllPpa9B/7UMUHu66c2EGkdZKbjSUkbta6Wxy2oOB/fRssTvvvvOKro+/vhjt2HDhoxQStV5TZo0cS1btrRliuHgUH3WGxeXLFmSMWa6r85V8KlAWdVZ4eWFKf3DwMUIIIAAAgggYAIEWEwEBBBAAAEEEEAAAQQQQAABBBBAAIFYCxBgxXp4aBwCCCCAAAIIIIAAAggggAACCCCAAAEWcwABBBBAAAEEEEAAAQQQQAABBBBAINYCBFixHh4ahwACCCCAAAIIIIAAAggggAACCCBAgMUcQAABBBBAAAEEEEAAAQQQQAABBBCItQABVqyHh8YhgAACCCCAAAIIIIAAAggggAACCBBgMQcQQAABBBBAAAEEEEAAAQQQQAABBGItQIAV6+GhcQgggAACCCCAAAIIIIAAAggggAACBFjMAQQQQAABBBBAAAEEEEAAAQQQQACBWAsQYMV6eGgcAggggAACCCCAAAIIIIAAAggggAABFnMAAQQQQAABBBBAAAEEEEAAAQQQQCDWAgRYsR4eGocAAggggAACCCCAAAIIIIAAAgggQIDFHEAAAQQQQAABBBBAAAEEEEAAAQQQiLUAAVash4fGIYAAAggggAACCCCAAAIIIIAAAggQYDEHEEAAAQQQQAABBBBAAAEEEEAAAQRiLUCAFevhoXEIIIAAAggggAACCCCAAAIIIIAAAgRYzAEEEEAAAQQQQAABBBBAAAEEEEAAgVgLEGDFenhoHAIIIIAAAggggAACCCCAAAIIIIAAARZzAAEEEEAAAQQQQAABBBBAAAEEEEAg1gIEWLEeHhqHAAIIIIAAAggggAACCCCAAAIIIECAxRxAAAEEEEAAAQQQQAABBBBAAAEEEIi1AAFWrIeHxiGAAAIIIIAAAggggAACCCCAAAIIEGAxBxBAAAEEEEAAAQQQQAABBBBAAAEEYi1AgBXr4aFxCCCAAAIIIIAAAggggAACCCCAAAIEWMwBBBBAAAEEEEAAAQQQQAABBBBAAIFYCxBgxXp4aBwCCCCAAAIIIIAAAggggAACCCCAAAEWcwABBBBAAAEEEEAAAQQQQAABBBBAINYCBFixHh4ahwACCCCAAAIIIIAAAggggAACCCBAgMUcQAABBBBAAAEEEEAAAQQQQAABBBCItQABVqyHh8YhgAACCCCAAAIIIIAAAggggAACCBBgMQcQQAABBBBAAAEEEEAAAQQQQAABBGItQIAV6+GhcQgggAACCCCAAAIIIIAAAggggAACBFjMAQQQQAABBBBAAAEEEEAAAQQQQACBWAsQYMV6eGgcAggggAACCCCAAAIIIIAAAggggAABFnMAAQQQQAABBBBAAAEEEEAAAQQQQCDWAgRYsR4eGocAAggggAACCCCAAAIIIIAAAgggQIDFHEAAAQQQQAABBBBAAAEEEEAAAQQQiLUAAVash4fGIYAAAggggAACCCCAAAIIIIAAAggQYDEHEEAAAQQQQAABBBBAAAEEEEAAAQRiLUCAFevhoXEIIIAAAggggAACCCCAAAIIIIAAAgRYzAEEEEAAAQQQQAABBBBAAAEEEEAAgVgLEGDFenhoHAIIIIAAAggggAACCCCAAAIIIIAAARZzAAEEEEAAAQQQQAABBBBAAAEEEEAg1gL/Bz4LVWUOwKD0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6679" y="770020"/>
            <a:ext cx="4504744" cy="3514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14" descr="Network-Lifetime-in-UWS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30" y="630362"/>
            <a:ext cx="5191562" cy="377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6116BEC-B40D-F394-B0E6-3FE62D51190E}"/>
              </a:ext>
            </a:extLst>
          </p:cNvPr>
          <p:cNvSpPr txBox="1"/>
          <p:nvPr/>
        </p:nvSpPr>
        <p:spPr>
          <a:xfrm>
            <a:off x="259772" y="883227"/>
            <a:ext cx="1153390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200" dirty="0">
              <a:latin typeface="Times New Roman"/>
              <a:cs typeface="Times New Roman"/>
            </a:endParaRPr>
          </a:p>
          <a:p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F5EA6D0-2CA2-9E9C-F257-F4E14B5CDD92}"/>
              </a:ext>
            </a:extLst>
          </p:cNvPr>
          <p:cNvSpPr/>
          <p:nvPr/>
        </p:nvSpPr>
        <p:spPr>
          <a:xfrm>
            <a:off x="-44823" y="6273208"/>
            <a:ext cx="12236823" cy="5847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7A4AA3D-A5BB-732E-8416-FAF0CFC96B96}"/>
              </a:ext>
            </a:extLst>
          </p:cNvPr>
          <p:cNvSpPr txBox="1"/>
          <p:nvPr/>
        </p:nvSpPr>
        <p:spPr>
          <a:xfrm>
            <a:off x="10135720" y="6437779"/>
            <a:ext cx="2050676" cy="3697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A60D97B-1425-F3E4-21D6-549244E462E9}"/>
              </a:ext>
            </a:extLst>
          </p:cNvPr>
          <p:cNvSpPr txBox="1"/>
          <p:nvPr/>
        </p:nvSpPr>
        <p:spPr>
          <a:xfrm>
            <a:off x="10243323" y="6326606"/>
            <a:ext cx="17817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 : </a:t>
            </a:r>
            <a:r>
              <a:rPr lang="en-US" sz="2000" dirty="0" smtClean="0">
                <a:latin typeface="Times New Roman"/>
                <a:cs typeface="Times New Roman"/>
              </a:rPr>
              <a:t>18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3D7C44-3144-41DE-94B5-D44503A9F33A}"/>
              </a:ext>
            </a:extLst>
          </p:cNvPr>
          <p:cNvSpPr txBox="1"/>
          <p:nvPr/>
        </p:nvSpPr>
        <p:spPr>
          <a:xfrm>
            <a:off x="0" y="6313811"/>
            <a:ext cx="2205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 Gupta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F5EA6D0-2CA2-9E9C-F257-F4E14B5CDD92}"/>
              </a:ext>
            </a:extLst>
          </p:cNvPr>
          <p:cNvSpPr/>
          <p:nvPr/>
        </p:nvSpPr>
        <p:spPr>
          <a:xfrm>
            <a:off x="0" y="0"/>
            <a:ext cx="12236823" cy="5847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7A4AA3D-A5BB-732E-8416-FAF0CFC96B96}"/>
              </a:ext>
            </a:extLst>
          </p:cNvPr>
          <p:cNvSpPr txBox="1"/>
          <p:nvPr/>
        </p:nvSpPr>
        <p:spPr>
          <a:xfrm>
            <a:off x="10180543" y="164571"/>
            <a:ext cx="2050676" cy="3697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33918" y="1212111"/>
            <a:ext cx="644332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951" y="634482"/>
            <a:ext cx="11635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10 instances, the initial energy of all nodes is randomly selected from 6 J, 12 J and 18 J, and the nodes in each scenario periodically send packets to the sink node.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8" name="AutoShape 4" descr="data:image/png;base64,iVBORw0KGgoAAAANSUhEUgAABdAAAALmCAYAAABCT7avAAAAAXNSR0IArs4c6QAAIABJREFUeF7snQu8VWP+/7+nTp2uKlEh+bk0JZkplSlCDZV7oUmEhkrI/T4yg7+70LgLIaGmcYmZhDRTkaYht8kllQkNKoSoTrfzf33XzG722WetZ61n77X3Xmuv9/N69VL2s57L+/l+1+Wzvuv7lFVVVVUJBQIQgAAEIAABCEAAAhCAAAQgAAEIQAACEIAABCAAgWoEyhDQsQgIQAACEIAABCAAAQhAAAIQgAAEIAABCEAAAhCAQE0CCOhYBQQgAAEIQAACEIAABCAAAQhAAAIQgAAEIAABCEDAhQACOmYBAQhAAAIQgAAEIAABCEAAAhCAAAQgAAEIQAACEEBAxwYgAAEIQAACEIAABCAAAQhAAAIQgAAEIAABCEAAAsEIEIEejBO1IAABCEAAAhCAAAQgAAEIQAACEIAABCAAAQhAIGEEENATtuBMFwIQgAAEIAABCEAAAhCAAAQgAAEIQAACEIAABIIRQEAPxolaEIAABCAAAQhAAAIQgAAEIAABCEAAAhCAAAQgkDACCOgJW3CmCwEIQAACEIAABCAAAQhAAAIQgAAEIAABCEAAAsEIIKAH40QtCEAAAhCAAAQgAAEIQAACEIAABCAAAQhAAAIQSBgBBPSELTjThQAEIAABCEAAAhCAAAQgAAEIQAACEIAABCAAgWAEENCDcaIWBCAAAQhAAAIQgAAEIAABCEAAAhCAAAQgAAEIJIwAAnrCFpzpQgACEIAABCAAAQhAAAIQgAAEIAABCEAAAhCAQDACCOjBOFELAhCAAAQgAAEIQAACEIAABCAAAQhAAAIQgAAEEkYAAT1hC850IQABCEAAAhCAAAQgAAEIQAACEIAABCAAAQhAIBgBBPRgnKgFAQhAAAIQgAAEIAABCEAAAhCAAAQgAAEIQAACCSOAgJ6wBWe6EIAABCAAAQhAAAIQgAAEIAABCEAAAhCAAAQgEIwAAnowTtSCAAQgAAEIQAACEIAABCAAAQhAAAIQgAAEIACBhBFAQE/YgjNdCEAAAhCAAAQgAAEIQAACEIAABCAAAQhAAAIQCEYAAT0YJ2pBAAIQgAAEIAABCEAAAhCAAAQgAAEIQAACEIBAwgggoCdswZkuBCAAAQhAAAIQgAAEIAABCEAAAhCAAAQgAAEIBCOAgB6ME7UgAAEIQAACEIAABCAAAQhAAAIQgAAEIAABCEAgYQQQ0BO24EwXAhCAAAQgAAEIQAACEIAABCAAAQhAAAIQgAAEghFAQA/GiVoQgAAEIAABCEAAAhCAAAQgAAEIQAACEIAABCCQMAII6AlbcKYLAQhAAAIQgAAEIAABCEAAAhCAAAQgAAEIQAACwQggoAfjRC0IQAACEIAABCAAAQhAAAIQgAAEIAABCEAAAhBIGAEE9IQtONOFAAQgAAEIQAACEIAABCAAAQhAAAIQgAAEIACBYAQQ0INxohYEIAABCEAAAhCAAAQgAAEIQAACEIAABCAAAQgkjAACesIWnOlCAAIQgAAEIAABCEAAAhCAAAQgAAEIQAACEIBAMAII6ME4UQsCEIAABCAAAQhAAAIQgAAEIAABCEAAAhCAAAQSRgABPWELznQhAAEIQAACEIAABCAAAQhAAAIQgAAEIAABCEAgGAEE9GCcqAUBCEAAAhCAAAQgAAEIQAACEIAABCAAAQhAAAIJI4CAnrAFZ7oQgAAEIAABCEAAAhCAAAQgAAEIQAACEIAABCAQjAACejBO1IIABCAAAQhAAAIQgAAEIAABCEAAAhCAAAQgAIGEEUBAT9iCM10IQAACEIAABCAAAQhAAAIQgAAEIAABCEAAAhAIRgABPRgnakEAAhCAAAQgAAEIQAACEIAABCAAAQhAAAIQgEDCCCCgJ2zBmS4EIAABCEAAAhCAAAQgAAEIQAACEIAABCAAAQgEI4CAHowTtSAAAQhAAAIQgAAEIAABCEAAAhCAAAQgAAEIQCBhBBDQE7bgTBcCEIAABCAAAQhAAAIQgAAEIAABCEAAAhCAAASCEUBAD8aJWhCAAAQgAAEIQAACEIAABCAAAQhAAAIQgAAEIJAwAgjoCVtwpgsBCEAAAhCAAAQgAAEIQAACEIAABCAAAQhAAALBCMReQN+4caM8+uijsnjxYuOMd9ppJxkxYoQ0aNAgGBlqQSAmBF555RV5+eWX8zrapk2byqhRo6RJkyZ57YfGIZBkAiZf7t69uxxzzDFSVlYWGNH69evl4YcflmXLltU45he/+IUMGTIkcFtUDJdAVVWVfPXVV/Lqq6/KkiVL5IcffpAtW7Y4ndSpU0caN24set/SsWNH6dChg1RUVIQ7AFqrQcDL/+rVqyfDhw+XNm3aQA0CEIAABCAAAQhAAAIQSCiB2AvoX3zxhTzwwAOydu1a4xLWrl1bhg4dKu3bt0/oUjPtUiWAgF6qK8u8kkbA5Msq4p122mnyf//3f4GxIKAHRlXQiiqWP/300/LRRx+JCummous+bNgw2WWXXQo6xiR2hoCexFVnzhCAAAQgAAEIQAACEAhGIPYC+pw5c+Qvf/lLoNnuu+++ctxxx1lF8AVqmEoQKCIBBPQiwqdrCIRIwM+Xf/aznzkvgjVCOUhBQA9CqbB11q1bJxMmTJBPPvkkUMf61Y9+/aNfAVHySwABPb98aR0CEIAABCAAAQhAAAJxJhBrAV3TtzzyyCPO589Byvbbby8jR46UbbbZJkh16kAgFgT8RLcwJkEKlzAo0gYEzAT8fFnTt+hLYH0ZHKQgoAehVNg6CxYskClTpvhGnqdGpV8c6JcHGolOyS8BBPT88qV1CEAAAhCAAAQgAAEIxJlArAX0zz77TB566CFRkSBIUfHhpJNOkr333jtIdepAIBYE/ES3MCaBgB4GRdqAQG4Cuh6tL4J1P48gEckI6NGyOE3X8vjjj8s///nPwAPbZ599ZPDgwYHrUzF7Agjo2bPjSAhAAAIQgAAEIAABCJQ6gVgL6C+88ILMmjXLao10Qy7dOE1zolMgUAoEENBLYRWZAwREgvryQQcdJIcffrhvOjIE9GhZlWk99J6kV69ezh/dMFQ3FF2zZo0TqR7kZUm0ZhrP0SCgx3PdGDUEIAABCEAAAhCAAAQKQSC2ArrmEX3wwQdl+fLlNTjtuOOOsmnTJlm5cmWN3zSf6BlnnCHNmzcvBF/6gEDeCZhEt759+8ohhxyS9zHQAQQgkDuBoAK6pvMYPny4tGnTxtgpAnruaxJmC6b12GmnnZwvCxo0aBBml7RlQQAB3QIWVSEAAQhAAAIQgAAEIJAwArEV0JcuXSoPP/ywaB70zHLkkUfKjz/+6BmdfvTRR0vPnj0TttRMt1QJIKCX6soyr6QRCCqgK5cgG4oioEfLgvS+5P7773d9uU+u8+KvFQJ68deAEUAAAhCAAAQgAAEIQCCqBGIroD/99NMyf/78Glw1euv000+XyspKGT9+vGzYsKFGnT322ENOPfVUqVOnTlTXpdq4Vq9eLXPnzpX3339fvv/+eye6Xkv9+vWdSHpNS9O5c2dp1qxZqPPRfv/85z/LokWLnBcV2l+7du3k4IMPlpYtW3r29cMPPzhjfffdd+Xrr792Xmbo5+ipou00bNhQdtllF/n5z3/uCEHZptTRz9u/+uorefXVV2Xx4sWifev/Ky8vl1atWkn37t3lF7/4hfNJfJjlp59+cuzvnXfekW+++Wbrixy1KV0TnVO3bt2kRYsWvmkWch1XXAR0taGFCxfKG2+8If/+979FvyLRoraw6667Oi+1VESqVatWVkjUxpYtWyavvfaa819dI7UF3ftA+9BoXbWFDh06hG4P2fpKsew3K8AldpBeIz744APHJvVLJk2XkTq36lTVlxs3buzYTadOnaRt27Z5v2bYCOhBNhTNh4Cutv7222873PTcl/Jj9dtGjRo5vPTcl8t5vZimls/56fX7nnvuke+++67GFIstoOu56PPPP5e///3v1a6l6gd6vQ/rWppPvplQva4JqTntt99+zjUhdS8YloC+efNm59wyb948+fLLL51rkRb1Ed3EXtda79ly8ZEonr+K6bf0DQEIQAACEIAABCAAgXwTiKWAriLpuHHjZNWqVTX4pMRxFUK8UrykRHZN9eJVTPnVf/3rXzsCQZCiouEjjzwiS5YsqVHd75NtfdCcOnWqfPTRR44QaCoqprRv314GDBgQSEh/4oknHIE7s6RSfnzyySfy2GOPydq1a2vU0YfAww47TDQPb3rRdXn22Wflww8/rCaY+3FS0eXYY4+Vvfbay0psDspH11u/StDN2FQkcxMwbFIiTJs2zRGB018KeM1R13jQoEGyww47+GHI+vdiC+he/adsSW1XX6g89dRTrvaUPvFtt91WTjjhBOflStCi7evLk2eeeUa+/fZb38NULOndu7djv0FeouXDV3SQ+bRffYnw/PPPu7I48MADHX8IWv7yl7/InDlzalTXlxIjR450XlTZln/961+eLzj1BcfJJ58c+KWajk3HmFl0bU877TTZfffdq/2k5+TZs2fL3/72N9cvmLzmoucItRnlF8RubJlofRsBXev7bSgapoCuQqD6sL5s8Lse6dgKwSsbxl7H5Gt+umHoxIkTsxqqiru6Z0suxWuz9XTBXl+EPPnkk46Abipq93peP+CAA6xfdOaLr2k9p0yZ4rysNRW9/9BrtAYHzJw5U15++eUa1YPeH+g9wVtvveWcj9zunTIbTr83CfriOMrnr1zslGMhAAEIQAACEIAABCAQdQKxFNA1skcfSDXKJ7OoMKQChxaTCO6XG/qLL76QBx54wPUhyEbgMbWjm4XpRnBu5eOPP5bJkyc70ds2RR/09GFQo9JNxSQKaqSliv5eD4AaLa4Cl3JIFY0Cf/TRRwMJmG7j0hcAffr0caLb9e9+RQU4tYGgfLTNHj16OLahn9BnRgAGeUDWOWqfbi9uTOPVaPhDDz3UER2CzM1v7pm/R1lAV6Fax6diZZAXDjq3oDasdfUcYNt+ip++3Bg6dKjvBn1h+4r2n2/7VUFM7VwjXjOL34u79Pp6DtAXkW4ilM15MHMMpheLGqGp+1Rst912vq5gaqd169ZOTmn94iVVNFpafdjthaZvZ/+toC9p9fyX3m7QY/3q2Qro2p5pQ9EwBPRcfEzHpyK/8srmRYsfrzB+z/f8oi6gq8Buc6+RupYeddRRgV5y5Zuvmw3ol2F/+tOfAr8gU/Fa9wrRa5T6YGYJcn+gEeH6ZaQGJgR5wZTeh55Ljz/+eN9zStTPX2H4I21AAAIQgAAEIAABCEAgqgRiJ6Drg8mkSZOc1BmZJTOy3BTl6CaupLenwowKwhrZmllsIi+9BBFTFLx+Gq+RUyp+ZFM0Skyj5DXtgFfxEgVV5FWxTCPQvYqmJVGBSyO3tGhUt34R4LZpq834VWjW6OO9997beNinn35qFPi9DtYH/3333deJ6M8UFv0ekDXqUiPy3T69DzJHfUDXlzYqKIctokdVQNcXIjrXGTNmWAsKfpG1ylyFGU0xpJ/J2woWqTVTW9YoZY18L4SvaB+FsF/TedIrMttt/l57Tei66ou6Ll26BDF/1zqmKPmg+1R4Rddqh+kvU1P2ohHUCxYsyHrMqQN13gMHDgwkINp0lo2Abjp35Sqg63VQRUGNqs2l6PVO06bZfFmSS39Bjy3E/KIsoOsLa72fChItnc406LW6EHwz11rvDfX+KT0dUxB70HOa2mkq3Ur6MX73Byps//GPf3TStmRb/F7M6fUu6uevbOfOcRCAAAQgAAEIQAACEIgDgdgJ6KbIyszc5vpQ45XGpW7dujJs2DAn97JXUaFFH8TcxLlMccatDVP/GuX9m9/8pkYqAI1uVjFa06HkUlTc1uhLr9QhXgK6RlWmctp69f/LX/5SjjvuOOdnZaOR/poSIYzil59eH24feugh38+ybcdiekAOq08VHU455RQn1U6YJaoCuubNVX+1FTJSbExfaGidf/zjH464l614nurHbzPGsHxF+wvLljLtx81+TV/qBE3j4pW+pUmTJs5LNM33n22xOZd79eH1lZHbS07T+dx2DvoVjkaMml5S2rap9U0vXDUf+4oVK1yb9bLhXAR09StNyaU5scMo+mXB8OHDIxOJXqj5RVVA1/VQBvoCPJviF4RQKL7pY9cUXnrPp+eWMIvp/iDMeyDNM3/MMce4vmSPw/krTOa0BQEIQAACEIAABCAAgagRiJ2AbnqIcEvLYkrj4iciBcm1bsqF6xUB7xW9qRFGjz/+uJMv2q2o6K4pX1KiuOYU1fm5Rcnr8ZrGRfOnum3Q6SUK+hloZvSqSQRr2rSpM17Nba7H6YOmplxRQeHFF190jbD3S99gEouVqwpJmi4lnZH2pSlxTEKr1wOy38OxpiXo37//1s0v9QFex6gRm279+YkOfvzdfo+qgJ4+Vo3s69evnyM4pl7SaASypnbxEthNm+qZXjTpiwr9kmL//fd3NmzTKEj1KfUVty8I/KKpw/IVk0Cqv4Vtv+prmsbF7cuQIGlcTC8AdR31a5FcvqZQ/9AXIPoiJLME2afCNL7Mc5/piyL9+kDPGZoDOZWWRc/FmrLJdO7we9kXpi/ruVRTZmhaCrcvk/Qcr18d6T4P6SUXAV3P0xqd7OWfakP6Iln9VPvXl0O6N8SsWbM8I5p32203J21SPtLf2PIu1PyiKqCn89IvpNR2NCJd/UFTmeg1U1+geH115ReVXSi+qXn4CfaZ51f9t25yrjnP33vvvazuD7RvTQelXyu6bVivjPTcohuGpq57ugGv1/2PV2BHXM5ftj5IfQhAAAIQgAAEIAABCMSJQKwEdBU1VMzSFCeZxethzpTGJTMVSWabuQo8XtGbzZo1kzPPPLNG7mXTWL1SBpg+6zVF2WcrCmYKbyqYqKjjJoCZPtm33fhP2ze90NCHYc1hqgJA5mZcKgbo5mAqNHuJ6F72Y3pB4CUGaR/an1vqEj+xNpuTRzZpH2z68dvIzq9/TdugOZBVzM4spihy08sUrxdjKp5rahG3yGBTdKLpxUZYvlIM+/XipIKnCpmmryG8zkdueyDY2FN63aD7Wbi1b0ovc9JJJ1VLBaUioG4enJm6Sb/U0Uh6vRa4FdP51U9AzIaJly+pgH7WWWfJ3LlzPb/20Tnopq4aqZ4q2QroppcTeg7TvOv6Qszt5ay+3Hr44Yddo4D1WH0R0LNnz2zwhHZMsean9ue2ibVOzPTCMJeJm9Icabv6smrw4MGu5wK/L+K8NlQvBl/Ttdpks3q9fvXVVx1R2+tlkZevm+5JTWmLTGm83AIf4nL+ysVOORYCEIAABCAAAQhAAAJRJxArAV2jhTSi0i29idfDp+lBLogQZBK1TRuRmqI/NQ+3pkBJj940ifWaD1qFETcB0k9Y9oqy9xMFVYjUfN0qdGjklI5P86SqOJ0ePajitH4CrpulKiuN2tR84V27dpXDDjvMM0JV6+in1m7pYlRsdcuDrhFtGqHvJoL7peHwi+73ekD2Evr9ImRNmxvmsvmi2wnFT8DO9SSUi4DuJzKa/NPrWJMQ7eZbQQRbU17wsHylGPZrEs/SUzG52YiX+O53PrKxN9P6+wmKGr0+f/78Gt25jc+Lg6aiGTVqlHEjWRXm9Fyl5+s2bdo4QueOO+7oiO5hR1KbBHQdp577dCxeGxlnbiiarYCueaQ1p7PbRt36ckrT17iJ56nFMAmEmtpJX1pomp1ilWLNL4oCut+G6tlsxl4Mvl4v89XGgtwfaCCAV65/r2uRaZN4vzR/XvcWbi+O43L+KpY/0y8EIAABCEAAAhCAAAQKQSBWArpp0znTQ6DpAdAvFYFJgDBFrXpFVnoJdSbB3S/VjBqKV7S7Cj6ad1YfANOLSRRUoUg3gNRo7lxSNJgM2CQknHjiia4RxF6CWZAXIToW08sQtwdk02fTQURwrwf6IKKdjfNHWUA3pRFKzXHy5MmuwoVXlLRuAjthwoQa4l6QzTH1JZAKkLpRbmbRLxj0PJJZwvKVQtuvzsP0Isf0BY7pvOcnvNvYrtb1sl/TFzSmlyhu50vTiwRNjaVil6Zjytf5LigTPwFdzx0q8qnY5yZu64s93dtj5513drrMRkD3i6o9/fTTnRcIpmJKfRX0fB2UmW29Ys4vagJ6kL0MNP2VbqDt9uLa7VxQLL6m64i+lNdrtqmYzhFeArrXPalfKjodhykgJPMeKC7nL1tfpD4EIAABCEAAAhCAAATiRCA2ArpJCPKLcjUJp0EeIL0ihbwEHn3Q1NyxGoWVWbxEd43YGz9+fI38tiro6MaTmkfcVLwect0209N2TKJgmBGm6WNWLip8aSSuPnhqSg234vYyRPOLalqATz75pMYhfql4UgeYxFM3G/L6bFrb0+h6jdA3Fa8o+yDpM2xOIlEW0I8++mjfdA2m8bt9jaA5a/WYzKK5ezXNhdeXGqn6XkKL18a+YfhKMew3NV8vkcdkh16CTdi2q2M0RXF6bSTrFc3vdU42+XKKk14L9MsX/eJCBWLT/hY2/mlTN4iArtdCfYGkOardil4rNIWNrlU2Arqyuu+++2T16tU1mg/y4jB1UC5fP9gws61bzPlFTUD3OuelMzWto9vXScXgq3aum4vrWDNL0PsDUxtu9wd6P6NfxOm5KLNoerfTTjtN9HzkVUzXhMwXE3E5f9n6IvUhAAEIQAACEIAABCAQJwKxEdBNIovfp/5++Tg1Z7LmGPcqptyabgKPqb7XZ70qtj/55JM1huD3csBPrPASvEyiYFgRphqJpixU6NE/+pLALWVL5qTdBHST8GAj6njN242z10sNHa9Xmpn0uZjGHERYDnoiibKAHoSTbiQ6ffp01+lmHm8SLfzOA6kOvHh5CS1h+Eox7Dc1X9P5yMvXvRgF2Xw0qN2m6pkiVt1eOJrqe23sqcdMnDhR9MugIEVfXGrecd1YVDdX1IhuU8qSIG0GqRNEQNd2TKKmjlNTrOjXVdkI6F5feGi/QV4cpuZpemEZRGAMwiubOsWcX9QEdL/0XMrXlG7N7fhi8DVx1Zdi+kIpyNclNvcHJsE9CFdl69Vf5ouNuJy/svFHjoEABCAAAQhAAAIQgEBcCMRGQDeJhH45PHUxTGlc/ARYk2DjJigtWLBApkyZUuOTZ1Pe7HyKoG4pUUyioNfGYEGM+qeffnLyEmuaAf1EWXOk2xY3cdn0ubMKXLoJWpDixdlNQNfIMhXd8lG80oVk01c+bUfH4ycG2DB1m5+Jc6aAbhIEs2GXfoxXap0wfKUY9puam+n85fbSwMTYKyI8V/Ze50y3tDzZvKDU8amwp6kovDYKNM1B94TYddddndRWuiluEDEuGyZBBXRTihTtN7WhqPLTL3eWLVtWYzhefm3KJR3khVi63Xm9tAj6tUg2DP2OKeb8oiagB7l3Mo3ZzYaKwdck8gdJgZeyGZtrmYmLnw36/e6Wei8O5y+/efE7BCAAAQhAAAIQgAAE4kwgFgJ6NhsNZi6KKWLPK81JehteOc0zI7xNkUKmfNBeOczDMC63h2QvUTDbFA36uf/zzz8vH374YVaiefo83UQa0/oFEQGyeUA2CQG5roufKG3Tfq4vl2z6cqtrIzq4HW8joJuiWnOdh9fXHmH4SjHsN5vzlx7j9bWPKSd5ruxNOc0zo+RNewvo5pTNmzd3HY6em6dNmyZz5851zeccdA760lS/Wtphhx2CHhK4XlABXRvUtA6mDUVV7D/ggAOsBfRc/Tl9sl6+o9H9uimqvrQqdCnm/JIgoBeDbzHOr6aXornatJt/xOH8leu8OR4CEIAABCAAAQhAAAJRJhALAd2UwzwsuF6pVVLtm0T8dIHnq6++knHjxolGYqcXjVg0pYoxRbnmOkcbAT1oypj0MWleco3sVHEzjBIVAT2fkd0I6P+zFBsBPZ9Rf7YCuo2vFEPgSfdF0ybF++67rxx33HFbo6q99nwImiIn23OA11dC6VHypo19g2xYqyKU+rWmDcrm65jU3DQifeDAgdK5c+dQo9FtBHQdi9+Gopq6QvcMsIlAL4YAmq3NZHNcMeeHgD5cNLo6aAn6AqYY51dTn0Hn51XP6wVT1M9fuc6b4yEAAQhAAAIQgAAEIBBlArEQ0PMZnZ1aHK/cuemLF0Tg8RKf/DbmfPrpp53UJ/ko+RTQV61a5bww0AhSv1K/fn0nDYKmzNFN+lR01yjKzBIVAd1r80W/eQb5HQH9f5RsBHSTEByEu6lOKQvoOm+v81f6ucm0WbPfS8Zc+Xu9KE3/KsYrOl7r6HlDzy1BiqaBUWFZbS+blC7ah6bkOvXUU52ULmEVWwHdb0PR3XffXSorK5081pnF6xxUTIE5LI6mdoo5PwT00hHQvYIlwrBhvy80onr+CmPutAEBCEAAAhCAAAQgAIGoEoi8gJ5PwSx9UYJEk3qJN6k8vRpZ9cgjj8iSJUtqrLffxpxhPtQHMTavyC6vPNBubWoeXhX+//GPf7h2WatWLdGoVZ37z372M9FUOaliEhLcBHTTw6qNGG3D2UbYDcI8X3WSlMLFlJ87XxHSYfhKMew3095MAnVKfPYap2n/hrDs2iTep/IYe72g9NoA1m9s2qemnZo3b56zybGtmB4k6t1vDOm/2wroemy2kbBe502vDa21r1LIgV7M+SVBQC8GX1M6lXzdH9jmhrc5DwStG7XzV9BxUw8CEIAABCAAAQhAAAJxJBB5AV03TpowYYLop6v5Ln4b5Jnym6vA07VrV9f0LUFyB3tFO6uwP2zYsFCjHJVj0E+jTcxNm/mp4HbKKafIbrvt5tqE6YHXTaQxPay2bdtWfvOb34i+yDAVFfwff/xxJ+o0s7i9QDHZntvGrPm2T6/2kySgm1J4uG28FsaahOErxbDfzLmbBOpUGhfND657GWSWoD6WK2+v/Oaad1x9XDdnXrx4cY2Fg+eWAAAgAElEQVRu/M7dQcalKV1WrlwpCxcuFN3zQl8m+AnqzZo1kzPPPFM0YjSMko2A7rehqNe4vITFpUuXOnnT1V4yy2GHHSa9e/cONFXTfgV6XTjttNNEr42FLsWcXxIE9GLw1S/g7r33Xvn2229zOndNnjzZSYsU5P7AFNyx9957i6ZPytdmw24+E4XzV6F9mf4gAAEIQAACEIAABCBQSAKRFtD9IpzDBqUizYgRI5xP873KggULHBFHx5ZeNPpVH5r+/Oc/1zg0SGSsSaz99a9/Ld26dQt1umGIgu+//76ThiWThQ7UL92DKWrSTUDfsGGDI+povvXMEjT61CTouAnopqjhVERsqIuSZWNJEtAVkVe6o2222UZ0E8ntttsuS5Luh4XhK8WwX7fZmFJM6Ys6ZesmUOfjHOQ2Pq+XcuqfAwYMcNLQZKaLCvL1UDYGkRKkZs2aJRpV65YzPey+sxHQdW5+G4q6zd9LQDe93NQUOXp+1pQ5fsV0ji/m+bOY80uCgF4Mvqbz67bbbitnnXWW6PXBVGzvD0wvc4PcS/r5T66/F+P8leuYOR4CEIAABCAAAQhAAAJRJhBpAV2FEs2vrXm2C1HSc+169ec1Jo2k0z8alZRZ/MTklABy3333yerVq2scH3aaAO0gDFHQlCPc71N/0wsDr2O9hNOg+Y81qnTixImuXzO4CWGmdCGtW7d2XrZoXvdil6QJ6PoFgX5JkPnixm+j3mzXKQxf0b4Lbb9u8/USqNWHDjnkEFGfztwAWdM66YuJ5s2bZ4sw8HGml6YqhLlFmAbZv0LFrjVr1si///1v+fzzz53ock3JtcMOOzhfypi+XjGNKSoCugI2bSjqtgBeArpJGAyayscUFR/kOhvYYLKoWMz5JUFALxZfr71ygt4fmDar9/Jzr2tvkK8ObUw3LucvmzlRFwIQgAAEIAABCEAAAnEjEGkB3UsoU8hBorrdFsOUhkXrp1IZmD69tdnwM6j4pONSoU7TB2QWfXjTz911zm5l3bp1Mn78eCcKUTfnbNWqley8886iUVCNGzd2FYfCEAX/9re/yfTp013HZIpY1bmqAKoR7G7FS0A3CeCaY33o0KGeQpgy0lRAbhHsOgavB2SvjRf1oVznuM8++7jOQef45JNPij6Ua4S8rktqTTQSTvsLqyRNQDelDtINHdVXvF5s6HroVxP6u/qHpn1Rf9E/mqNf8/ZnljB8Rdsshv1mzsV0nlEm6ieZJR8v8Ey2b5O2K8hLE9vIUrexefmYMtMXafpCLYySbQS69u23oWjm+Ey5oU0vRzt16iTHH3+8MQpd88nrfiDKPrNE4eVjseaXBAFd17sYfE3nDd1MV+8PvK67fvckXvcHJtHdz0/0a0ZNl6X3iKlrkd4n6BdU+qIqdQ8ap/NXGOdA2oAABCAAAQhAAAIQgEBUCURWQDcJPQqzb9++TsRkNsUrz662tf3228vIkSONn/uaHppyEZ9MApsKgyosu32GrJt4qqjvlkrFKzozDFHQtMmml5CpnxXPnDlTVChyG6/y8xLQNTL2/vvvlxUrVtRYdn3YVHs4+OCDa4igaktPPfWU6AOrV/F6QPbaOFbb0YhYzcus4mtm0Y1kH330UdFPyzNLEBuzseukCeimiGC1g4MOOkj69etXQ+DzE0m8vhQJw1d0PYthv252ZDrPZNZXnprLV9NTFaqoiP/ggw/K8uXLfbsM+oLS60WYdqD5uFVc83rpouPR9FEqCmeWoOmjfCfy3wq5COjahM2GoiYBXb+EeuCBB0RfVrnZhJePaV39Ykx5eR173HHHOS+q3UpYvubHu1jzS4qAXgy+pvOG6boQ5J7E6/7AtK9EeXm5HH300c4m6pkBGXoteOihh5wvYjKLW8R8XM5ffn7H7xCAAAQgAAEIQAACEIgzgcgK6KYo01w/mzfl6AwiGJkemtKNIeinw6ljTClDtI4KtoceeqjstddeTqS1ppPRTf9effVV183uTNGZYQgVphzhOl4V0Y899lhHYNaH1GXLlol+Zu320JjOTR86e/bs6epXGtmmeebdxHedb/v27Z386xrFZdOnl02p6PqnP/3JdWMxHaBGiqlYq9FmqQjet99+W1588UXR9XQrYWx4mN6uSUAP8+TkJbh59R/UT00vYrxeppiEQrUD/SJBfUVTdGj58ssvnfzZbvm99XeTEBuGr6TWodD267b+Nqmxwt4kM6g9euVqzzw+yBdDqfVXUd4txVb6uVXPH6koVRXk1F5efvllZ3PRYvqyblI6atQox05NxWZDUZOArn2YbFV/16hZPdfql1F6rVNRUF9Oa854t8hzPcbvS6Ewfc3P1ooxv6QI6MWyH1Mwgdd1Qa/VH3/8secLfZ2L6Vqm+yP88Y9/dE0Np1806Vdq+mJf799S9yTPPfeck0bKrbh9oaHXrzicv/x8jt8hAAEIQAACEIAABCAQZwKRFdBNUeLZpm9JLZRfGpcgKQuCCDzZRCeaIpdtDc0kVoQhVAR9kWA7btPXBaZoUNt+0uubHpA1olJz8WduXphNf2oT+oWDptYJqyRRQLcRCv04q7By1FFHeb60CcNXUmMohv26zd8rX3Bm3aACtR9j299NX36k2rLNpf3Xv/5VXnrpJaNQZjNOFcQ0fUuYueFzjUDX8QfdUNRPQA/y5Y4NL+WkvJSbVwnT1/zGVoz5JUlALwZffWmtqdqWLl3qt/xWv5vuD/y+bLLpSKPWdU8GfZGXWeJw/rKZK3UhAAEIQAACEIAABCAQNwKRFNBNm1Ap4FzSt6QWyCTQB0kLYIqQT/WRTaSxCoOa4mTGjBk5CT1+YkVYQkUugr8KYPrwmVk0XYSmjfDKQ2/Kr2tyQH04VS5uKWD8oqU1ymzKlCmukf5BnV6j1U899VQnMj/MkkQBXfn55bUPyrhLly4ycOBAz5zOYflKajzFsN9MFkHSUNl+QROUd5B6fim8tA3bXNphCnp6Lhk0aJDz5UmYJQwBXccTZENRPwE95WO68bKe53MpGkGvwqBfrviwfc1vzHoOKeT8kiSgF8N+tE/daFijtd1SCPnZQ6NGjZy0a5mp1/zuD3LpMzUmvd/p06ePE63udu8Th/OXH19+hwAEIAABCEAAAhCAQJwJRFJAN0Uf+j3IBF0MPwHctAmm9qFC96RJk0SFVbeSyzi1bU3Lop8Wb9q0KeiUttbTKGfN6au5tr1KWEJFNoK/fta83377iW7spZuJZoroQXKE64ZhkydP9kwVkDnvVD7SNWvWOC8nMkuQ9dINXlVE90rNYloofTDXdCS77rqr9Xr6HZBUAT0l0Ojn85rX27aoSKHi+THHHOO5+ay2GZavpI+vGPab3n+Qr0ey+YLGdg1M9U2bSOtx2bxI1XPNtGnT5PXXX3fSKWRT9Fyh4rl+qRR2CUtAD7KhaBABXeenbWn6o3nz5mXFTDdPPvHEEwNF6ufD1/zWqJDzS5qAXmj7Sa21pkfRPUhU2A5a9OW65ufXa7x+xZFegtwf6DEa/e6Xos5tPHpPpHu4/OpXv3LdyDp1TNTPX0FZUw8CEIAABCAAAQhAAAJxJBBJAd2UHiXX9C3pDyL6sK6iqFvx2nwzva5pM74gx/sZjOa91Ie5oA9kmhddN6zSnNwVFRXG5sMUKlRE19yjzz//vCO2mIp+vq950du2betEiOmmoJmpUUy529Pb1khyFdH9+Gif+mCsfeaar1s3R5s6daqoAOq1CWr6GPXB+Oc//7mTK9htA1g/Gwjye5IFdOWjQqhG3GpaEq/cy5kcNSL28MMPFxURvb50SB0Tpq8U237T+/dLQ3XggQc6dlusYsrVrl9znH766bLjjjtaD0/9VlM86PnKKw+xW6Pqy3vuuaezMaDmhs9HCUtA17H5bSgaVEBPzVOvR8rsk08+CXTu0zXq3bu387JUr01BSr58LUjfhZhfEgX0QtpP+jrrtUD3L9H7NNO1OrV3it4jaL177rknKwFd+9b7n9mzZ8vf/vY333uh1Fh1j5j+/fs7AQVBSpTPX0HGTx0IQAACEIAABCAAAQjElUDkBHS/jTSziTr0WpwFCxY4ArXbw1UQgUY//9ZPhZcvX16jC78I9qAGo2PTDew05YxudKUP4NqvFn3wa9iwobRp08YRAjt06OArnKf6zYdQoWunkZ0ala/ieEpM1zFq5LVuDKovQFSISj1sapSY28aOQV9ApDbl0g3hNC2FbmSnRTf01E3uevTo4XDRdBRavAQqFbfPOOMMZ/PRIEWFdN0sVF/A6N9T/eqxOt+WLVs6a6Liuf47nyXpAnqKrUbnqY/oumiaFP3aIPUFh36BoKmZ9CWKbuqmPpOyQ7+1yYevpPoslv1q/6bNlOvWrSvDhg3LyxcTfrzTf9fIZ92UMrOoT+sXHSm/tmkzVVfPrRqh+u677zp+rBGk6sep64Hah345oiK9CufF9OWgm4imc/DbJ8BWQE+1rS823n//fYebvsRMnfuUl55H9RzfuXNnZ8NQ2/XJp68FtZF8zi/JAnoh7MdtjdVGVdTW+wxdW/WLVDo39WsNOtCX7Ho/5bU+QSLQ0/uurKx0hHv1Eb0/1M2LU1+86MskjXZX/+jWrZvolz5+L3Hd5hXF81dQH6MeBCAAAQhAAAIQgAAE4kggcgJ6HCEy5vgQCDPCMz6zZqSlQiBM+zWlsbLNL14qfJkHBCAAAQhAAAIQgAAEIAABCEAAAhDIJICAjk0kioCmfNF0H5lFo9VHjBgh+uUBBQJRJRCm/Zq+wMlmA+SoMmNcEIAABCAAAQhAAAIQgAAEIAABCEAgFwII6LnQ49iCEtBNBZ966iknJYoK3pomRf/o31X41s+sTcW0cWIYKSEKCoPOYkcgSvZrSpUVlfQtsVtgBgwBCEAAAhCAAAQgAAEIQAACEIBASRJAQC/JZS3NSWne3ccee8w1Z32QjUc1N7vmvE/lxU6nFGZu/dKkz6xyJRAV+9XcuTNnzpQZM2a4+lJYGzXnyovjIQABCEAAAhCAAAQgAAEIQAACEIBAFAggoEdhFRhDIAJfffWVjBs3rtqGnekH6kZ7hx9+uLRv335rNLpGnesmn3PnzpU333xz68am6ccF2TA20ACpBAEDgWLYr25epxs56qa6KpzrJnqaR103JU5tapc+ZH0RddRRRzkb/lIgAAEIQAACEIAABCAAAQhAAAIQgAAERBDQsYLYENi8ebM88cQTsnDhwlDHvM8++8ivf/1rR2ikQCBfBIphv16bjnrNsUWLFjJy5Ehp3LhxvjDQLgQgAAEIQAACEIAABCAAAQhAAAIQiBUBBPRYLReD/fzzz2X8+PGydu3aUGA0b97c2Tx02223DaU9GoGAiUCh7fe1116T559/PtCilJeXy6BBg6RTp06B6lMJAhCAAAQgAAEIQAACEIAABCAAAQgkgQACehJWucTm+PHHH8vkyZNF01PkUjTlyymnnCKtW7fOpRmOhYAVgULar25cOnHiRN/xaeqWHj16OOlb+BLDFxcVIAABCEAAAhCAAAQgAAEIQAACEEgQAQT0BC12KU1V85prZO2HH37omsvZNFeNtO3SpYscccQRW3OllxIb5hJ9AoWy308//dT5YmP9+vWeUOrUqSO6ie4BBxwgtWrVij48RggBCEAAAhCAAAQgAAEIQAACEIAABApIAAG9gLDpKnwC69atkyVLlsgHH3wgKhbqv3/66adqHalAqDmd27RpI3vvvbf87Gc/k4qKivAHQ4sQsCSQb/v95ptvZMqUKbJy5cpqftGwYUNp2bKlaP7/X/ziF/iD5bpRHQIQgAAEIAABCEAAAhCAAAQgAIHkEEBAT85aM1MIQAACEIAABCAAAQhAAAIQgAAEIAABCEAAAhCwIICAbgGLqhCAAAQgAAEIQAACEIAABCAAAQhAAAIQgAAEIJAcAgjoyVlrZgoBCEAAAhCAAAQgAAEIQAACEIAABCAAAQhAAAIWBBDQLWBRFQIQgAAEIAABCEAAAhCAAAQgAAEIQAACEIAABJJDAAE9OWvNTCEAAQhAAAIQgAAEIAABCEAAAhCAAAQgAAEIQMCCAAK6BSyqQgACEIAABCAAAQhAAAIQgAAEIAABCEAAAhCAQHIIIKAnZ62ZKQQgAAEIQAACEIAABCAAAQhAAAIQgAAEIAABCFgQQEC3gEVVCEAAAhCAAAQgAAEIQAACEIAABCAAAQhAAAIQSA4BBPTkrDUzhQAEIAABCEAAAhCAAAQgAAEIQAACEIAABCAAAQsCCOgWsKgKAQhAAAIQgAAEIAABCEAAAhCAAAQgAAEIQAACySGAgJ6ctWamEIAABCAAAQhAAAIQgAAEIAABCEAAAhCAAAQgYEEAAd0CFlUhAAEIQAACEIAABCAAAQhAAAIQgAAEIAABCEAgOQQQ0JOz1swUAhCAAAQgAAEIQAACEIAABCAAAQhAAAIQgAAELAggoFvAoioEIAABCEAAAhCAAAQgAAEIQAACEIAABCAAAQgkhwACenLWmplCAAIQgAAEIAABCEAAAhCAAAQgAAEIQAACEICABQEEdAtYVIUABCAAAQhAAAIQgAAEIAABCEAAAhCAAAQgAIHkEEBAT85aM1MIQAACEIAABCAAAQhAAAIQgAAEIAABCEAAAhCwIICAbgGLqhCAAAQgAAEIQAACEIAABCAAAQhAAAIQgAAEIJAcAgjoyVlrZgoBCEAAAhCAAAQgAAEIQAACEIAABCAAAQhAAAIWBBDQLWBRFQIQgAAEIAABCEAAAhCAAAQgAAEIQAACEIAABJJDAAE9OWvNTCEAAQhAAAIQgAAEIAABCEAAAhCAAAQgAAEIQMCCAAK6BSyqQgACEIAABCAAAQhAAAIQgAAEIAABCEAAAhCAQHIIIKAnZ62ZKQQgAAEIQAACEIAABCAAAQhAAAIQgAAEIAABCFgQQEC3gEVVCEAAAhCAAAQgAAEIQAACEIAABCAAAQhAwJvAp19vkaqQAf3fdrVCbpHmIBCcAAJ6cFbUhAAEIAABCEAAAhCAAAQgAAEIQAACEIAABDwI3PKXSnnpvU2h8zloz3L5/TEVobdLgxAIQgABPQgl6kAAAhCAAAQgAAEIQAACEIAABCAAAQhAAAKeBF5ZuElufL4yb4TO7ltXjulaJ2/t0zAEvAgkQkB/7733ZPDgwTJ69GgZMmSIK4stW7bI/PnzZfz48fLKK6/Ip59+Krvssosccsghcs4558jPf/5zKSsrw5IgAAEIQAACEIAABCAAAQhAAAIQgAAEIACBDAKT522UB/+2IW9cBveoIyN61825/T/84Q8yZsyYwO2cfPLJcvXVV0u9evWcY3I9PrPjzz77TM466yx5++235fzzz5cLL7xQateu7Tk+v/732WcfR88cOHCg7LTTTjXa8TteD2jatKl07dpV+vTpI/3795fGjRsH5lWKFUteQF+8eLGcffbZ8vLLL8vjjz/uKqBv2rRJxo4dK9dee62sWbNGOnfuLNtvv72sWrXKMV41khtuuEHOOOMMKS8vL0U7YE4QgAAEIAABCEAAAhCAAAQgAAEIQAACEMiaAAK6O7pMAT6z1qRJk7YK9DvvvLPce++90qZNm6wF9NSBu+++u9xyyy3SvXv3am2lBHT9vXXr1q79LF++XJYuXer81q9fP7n55psdrTSppWQF9KqqKnn99ddl1KhR8u677zrr6yWgq7iub2U6dOggd911l/OGRaPNNSp9+vTpThsbNmyQyZMny4EHHphUW2HeEIAABCAAAQhAAAIQgAAEIAABCEAAAhBwJRA3Af2SSy5xIr5tS0qAzvb49P5+/PFHJ2PGsmXLnIDeBx98UG699VY54YQTPIeV6l81zGOPPbZaPdUyv/rqKyfDxv333y9HHnmkI6I3adJka70g41dddeHChXLjjTfK7NmzA0XG23KMU/2SFNC//PJLueOOO5w3Nlrq168vK1eudBXQVRi//PLLnQj0p59+uobhqcE89NBDcvrpp8tvf/tbJ0rd9BlFnBafsUIAAhCAAAQgAAEIQAACEIAABCAAAQhAIAwCCOj2FN955x059dRTnShvTT+tgv4ee+wht912WzXRO71lk4Ceqqc66Lnnnutk1tAId03rkipBBPRU3Tlz5jhi/gEHHCD33HOPNG/e3H6SJXBEyQno69atkwsuuEDGjRsn3bp1k5tuuklee+01ueqqq1wF9NWrV8vFF18sixYtct7OtGvXrsayzp07V3r27CkjR450hHYV5CkQgAAEIAABCEAAAhCAAAQgAAEIQAACEIDAfwggoNtZwubNm+X22293cqprNPmhhx7qRKO/8MILjkapWqRbCSKgr1+/3kkLM3HiRJk6daqjkWYjoC9ZssTRQ2vVquVEtGvalySWkhTQ1ZD0s4fevXtLRUWFEzX++9//3jOFi9/Cz5gxQ/r27YuA7geK3yEAAQhAAAIQgAAEIAABCEAAAhCAAAQSSQAB3W7ZU1HimsYllfdcxfMRI0bIsGHD5Morr5S6dWtumhpEQE+1relcNMg4PWA4aAS6ZuV48skn5dJLL5UjjjjCiYpP6maiJSegu5lqLgJ6ZWWlYyh33nmnk8pFDZgCAQhAAAIQgAAEIAABCEAAAhCAAAQgAAEI/I8AArqdNaTEchXMNfK8Tp06opt36l6M33//fQ3hO9W6Xw70zz//XB555BEnn/oVV1zhBASXl5dvHZyfgK7C+XfffScvvfSSk4lD/6551Pv37283wRKqjYBuWEw1GM0TdMYZZzgbi+pnDzvttFMJLT9TgQAEIAABCEAAAhCAAAQgAAEIQAACEIBA7gTiJqAHmXGHDh1qpC5JCdDZHq/HrV271jVdS3paF01HreJ6WVlZta6C9L/ddts57Q8YMKBGFHuQ41MdasqWCy+80NmMNF2EDzL3UqqDgO6xmiqeP/vss46RaJkwYYIcdNBBWa39ggULsjqOgyAAAQhAAAIQgAAEIAABCEAAAhCAAAQgoAS6dOkSaRAI6DWXx02A11q6F6NGhrdu3drJerHttttuPTi1saimXdHfWrRoYS2g6wFe4ndKQNfftf9UWbNmjbz11lvOPwcOHChDhgyRjh07SoMGDSJtd4UYHAK6C+VNmzbJE0884YjnmtvnvvvucxL5Z77xCbpACOhBSVEPAhCAAAQgAAEIQAACEIAABCAAAQhAwI0AAnodGdG7Zk5wW2vxS2Hi116ux2vQrqZXueaaa8QtylzTt1x00UUyffp0p97hhx/uKqDrxqPHHntstd+CpF/xGr8e++677zq51xcvXiyXX365nHzyyYmOPE/BRUDP8Ip169Y5SfE1t8+OO+7ofKahkefZiud+TsfvECg1AotW/0smfDRV5n6xQNZuWp/X6TWu21C6t+okQ9sPkHbNds1rXzQOAQhAAAIQgAAEIAABCEAAAhCAgDeBuEWgX3LJJXL++edbL2muAnpqg89XX33Vt+9BgwbJ9ddfXy0KPMgmoiqGP/PMM3LuuedK7969q0W5+41/3rx5DhfNfX7TTTc5aWCSrosioKeZ6qpVq5w3PJrrfP/993eS9e+1116+xkwFCEDgPwRUPB82c7RUbt5QUCQVtevK+IOvR0QvKHU6gwAEIAABCEAAAhCAAAQgAAEI/I8AAnowa3jttddk2LBh0rJly2opVNKP3rhxo3zwwQdO/nLdELRTp05bfw4ioGvlpUuXOvs6atEAYU3ZosVPQNc87A888IBcd9110rZtWyczx5577hlsciVaCwH9vwv773//29nl9rnnnnM+T9AI9FatWpXosjMtCOSHwBXzxsqMz+bmp3GfVvu02V9u6HFBUfqmUwhAAAIQgAAEIAABCEAAAhCAQNIJIKD7W8CGDRscYXr8+PHiloIl1UJ6PY0G1zTTtWvXriaAm47XitkK6HqsRslffPHFMnPmTCcX+tVXX53oXOgI6CKyYsUKJ3G/iufnnHOO82mE5j6nQAACdgQOevqkvKdtMY3ojeOfshswtSEAAQhAAAIQgAAEIAABCEAAAhAIhQACuj/G1OahjRo1knvvvVfatGnjeVAqUl2jwNPrBo1A1xQuqnPapnBJDWj27Nly+umnO//UzUz79evnP8ESrZF4AV0/S7j99tvl0ksvlbPOOsuJPG/YsGGJLjfTgkB+CXT748D8duDTOgJ6UfHTOQQgAAEIQAACEIAABCAAAQgkmAACuv/iT5o0yYns1hQuulmnpmjxKum50m+99VY54YQTnKp+AvratWudDUjvuOMOJwpdNyvV/lJ5zP1SuKTGs379eidaXlPI7Lfffk7EfFKzdSReQNc3P8cff7yzy6xf0Sj1sWPHSv369f2q8jsEEkkAAT2Ry86kIQABCEAAAhCAAAQgAAEIQAACEjcBPeiSdejQwTWHuO3x2223nbP3oorbKkr37dvX2IRuBPrggw86Avhhhx0mt912mzRp0mSrgB6k/+HDh8tll13muglpkE1UP/zwQznzzDNl8eLFjuCvEempVDJB+i+VOokX0J9//nnp379/oPVEQA+EiUoJJoCAnuDFZ+oQgAAEIAABCEAAAhCAAAQgkGgCCOjuy58S4L/99ls56aSTpHPnzk5KlBYtWvjaiwrYI0aMkFWrVjl503v27OkroHfs2FG0z0GDBkm3bt2kvLy8Wj9BI9D1IBXxtd+rrroq0RuKJkJA97VGKkAAAqEQQEAPBSONQAACEIAABCAAAQhAAAIQgAAEYkcgLgJ67MAy4KITQEAv+hIwAAiUDgEE9NJZS2YSDwKLVv9LJnw0VeZ+sSDvG/g2rttQurfqJEPbD5B2zXaNByBGCQEIQAACEIAABCAAAQgUjAACesFQ01GBCSCgFxg43UGglAkgoJfy6jK3qBFQ8XzYzNFSuXlDQYdWUbuujD/4ekT0glKnMwhAAAIQgAAEIAABCESfAFj0G4IAACAASURBVAJ69NeIEWZHAAE9O24cBQEIuBBAQMcsIFA4AlfMGyszPptbuA7TeurTZn+5occFRembTiEAAQhAAAIQgAAEIACBaBJ4f/lmOfex9Xkb3A2D6skv96idt/ZpGAJeBBDQsQ0IQCA0AgjooaGkIQj4Ejjo6ZPynrbFNIg3jn/Kd4xUgAAEIAABCEAAAhCAAASSRWDm+5tkyt83yqbNIc67TOTYbnXkiE7VN8MMsQeagoCRAAI6BgIBCIRGAAE9NJQ0BAFfAvibLyIqQAACEIAABCAAAQhAAAIQgAAEciaAgJ4zQhqAAARSBBD0sAUIFI4A/lY41vQEAQhAAAIQgAAEIAABCEAAAsklgICe3LVn5hAInQCCXuhIaRACngTwN4wDAhCAAAQgAAEIQAACEIAABCCQfwII6PlnTA8QSAwBBL3ELDUTjQAB/C0Ci8AQIAABCEAAAhCAAAQgAAEIQKDkCSCgl/wSM0EIFI4Agl7hWNMTBPA3bAAChSWwaPW/ZMJHU2XuFwvyvoFv47oNpXurTjK0/QBp12zXwk6U3iAAAQhAAAIQgAAEIACBagQQ0DEICEAgNAIIeqGhpCEI+BLA33wRUQECoRFQ8XzYzNFSuXlDaG0Gaaiidl0Zf/D1iOhBYFEHAhCAAAQgAAEIQAACeSKAgJ4nsDQLgSQSQNBL4qoz52IRwN+KRZ5+k0jginljZcZnc4sy9T5t9pcbelxQlL7pFAIQgAAEIAABCEAAAhAQQUDHCiAAgdAIIOiFhpKGIOBLAH/zRUQFCIRG4KCnT8p72hbTYN84/qnQ5kJDEIAABCAAAQhAAAIQgIAdAQR0O17UhgAEDAQQ9DAPCBSOAP5WONb0BAH8DRuAAAQgAAEIQAACEIBAcgkgoCd37Zk5BEIngMAQOlIahIAnAfwN44BA4Qjgb4VjTU8QgAAEIAABCEAAAhCIGgEE9KitCOOBQIwJIDDEePEYeuwI4G+xWzIGHGMC+FuMF4+hQwACEIAABCAAAQhAIEcCCOg5AuRwCEDgfwQQGLAGCBSOAP5WONb0BAH8DRuAAAQgAAEIQAACEIBAcgkgoCd37Zk5BEIngMAQOlIahIAnAfwN44BA4Qjgb4VjTU8QUAKLVv9LJnw0VeZ+sSDvG/g2rttQurfqJEPbD5B2zXZlASAAAQhAAAIQgEANAgjoGAUEIBAaAQSG0FDSEAR8CeBvvoioAIHQCOBvoaGkIQj4ElDxfNjM0VK5eYNv3TArVNSuK+MPvh4RPUyotAUBCEAAAhAoEQII6CWykEwDAlEggMAQhVVgDEkhgL8lZaWZZxQI4G9RWAXGkBQCV8wbKzM+m1uU6fZps7/c0OOCovRNpxCAAAQgAAEIRJcAAnp014aRQSB2BBAYYrdkDDjGBPC3GC8eQ48dAfwtdkvGgGNM4KCnT8p72hYTnjeOfyrG9Bg6BCAAAQhAAAL5IICAng+qtAmBhBJAYEjowjPtohDA34qCnU4TSgB/S+jCM+2iEMDfioKdTiEAAQhAAAIQMBBAQMc8IACB0AjwwBMaShqCgC8B/M0XERUgEBoB/C00lDQEAV8C+JsvIipAAAIQgAAEIFBgAgjoBQZOdxAoZQI88JTy6jK3qBHA36K2IoynlAngb6W8uswtagTwt6itCOOBAAQgAAEIQAABHRuAAARCI8ADT2goaQgCvgTwN19EVIBAaATwt9BQ0hAEfAngb76IqAABCEAg8gQ2f/qJVFWFO8zy/9st3AZpDQIWBBDQLWBRFQIQMBPggQcLgUDhCOBvhWNNTxDA37ABCBSOAP5WONb0BAElsGj1v2TCR1Nl7hcL8r6Bb+O6DaV7q04ytP0AaddsVxagRAmsGfP/ZP1Lfwl9dhUHHSzb/O7G0NulQQgEIYCAHoQSdSAAgUAEeOAJhIlKEAiFAP4WCkYagUAgAvhbIExUgkAoBPC3UDDSCAQCEVDxfNjM0VK5eUOg+mFVqqhdV8YffD0ielhAI9TO+lemy5qbrsrbiBqdfbHUHzAob+3TMAS8CCCgYxsQgEBoBHjgCQ0lDUHAlwD+5ouIChAIjQD+FhpKGoKALwH8zRcRFSAQGoEr5o2VGZ/NDa09m4b6tNlfbuhxgc0h1I0BgbV/fEx+evDuvI20wfGnSMMRZ4fe/meffSZnnXWWvP3223L++efLhRdeKLVr1w7Uz6ZNm5zj/vznP8usWbNk6dKl0qhRI+nUqZMcdNBB0r9/f9lpp5182/r666/lxRdflBkzZsibb74p3333nbRu3Vo6d+4sgwYNkv3220/q1avn2s4f/vAHGTNmjLGPpk2bSteuXaVPnz7OmBo3bmysnxqPjumNN96QH3/8UXbffXfp0qWLHHPMMdK9e3epW7eu77xKpQICeqmsJPOAQAQI8MATgUVgCIkhgL8lZqmZaAQI4G8RWASGkBgC+FtilpqJRoDAQU+flPe0LaZpvnH8UxGgwBDCJBBXAX3SpEly9dVXOwL1zjvvLPfee6+0adPGF837778vt9xyi7zyyitO3Y4dO0rz5s1l48aN8sEHHzgiuArXl112mZx44olSXl5eo80NGzbIk08+6QjgWl/F97322ssZyzfffCMLFy50jlFB/oorrnCE9LKysmrtpAR0FbhVdHcry5cvd8R9Lf369ZObb75Ztt9++xpV169fLxMnThRtMzX+Dh06SJ06daqN55BDDnGY7bprMtIxIaD7ugMVIACBoAR44AlKinoQyJ0A/pY7Q1qAQFAC+FtQUtSDQO4E8LfcGdICBIISwN+CkqJeUAJxFNA1snr06NGybNkyJ9r7wQcflFtvvVVOOOEE47T//ve/y6WXXiorVqyQoUOHyvDhw6VFixZbj1Ehetq0aY7ArkL0TTfdJAMGDKgmfmv0+rhx4+SGG25worvPO+88Oeyww6RBgwZb21m5cqU89NBDMmHCBEeA17pHH310tXZSAvoll1ziRNC7laqqKkeMv/HGG2X27NmukfZr1651hHXtTwV7Ff5VsE8J/9qGRuvrnKZOnWoU4oPaTFzqIaDHZaUYJwRiQIAbsBgsEkMsGQL4W8ksJROJAQH8LQaLxBBLhgD+VjJLyURiQAB/i8EixWyIcRTQ33nnHTn11FMdMXjw4MGOsLzHHnvIbbfdJk2aNHFdga+++krOOeccee+99xxBW1Oa1KpVq0ZdFZynT58uF1xwgeywww6OWN6uXbut9Z577jlHhG/btq2MHTvW+a+X+K2C9eWXX+60c99998mee+65tWoQAT1Vec6cOc7LgQMOOEDuueceJ2Jei45VI+F1PMpC59WqVSvX8egLAa2nLwhsU97EzKS3DhcBPa4rx7ghEEEC3IBFcFEYUskSwN9KdmmZWAQJ4G8RXBSGVLIE8LeSXVomFkEC+FsEFyXmQ4qbgL5582a5/fbbnXQld911lxx66KFONPoLL7wg48ePl549e7quiKZ8ufjii2XgwIFy3XXXGfOJa1T3NddcI5WVlXLKKafIPvvs47SpkeXnnnuukz/9gQcecPKlm4pGq6uof+edd8qwYcPkyiuv3JqD3EZAX7JkiYwcOdIR/O+//34n8j2b8bz22msON03lcvLJJ0vDhg1jbr3m4SOgl/TyMjkIFJYAN2CF5U1vySaAvyV7/Zl9YQngb4XlTW/JJoC/JXv9mX1hCeBvheWdhN7iJqCnRGxN45LKe67i+YgRI2qI1Kn1W7NmjVx00UVO9LWK7scee2xWS5uKBNeULaZo9/TGP/zwQ2ds9evXryZ+BxXQ06PMjzjiCKff1GaiL7/8shOJ37t3b0ek33bbbbOaV6kehIBeqitbQvNasmKLTJq3UeYv2SzrNlTldWaN6pVJ191qywk96sgeLWt+fpPXzkugcW7ASmARmUJsCOBvsVkqBloCBPC3ElhEphAbAvhbbJaKgZYAAfytBBYxYlOIm4CeEstVlNbIc90oUzfbHDVqlHz//fc1Uq4obs2VfuaZZ4oK6ZovPT2Vis1yqPiuedEvvPBC50/mxqBubaWL9xoFf+CBBzrV/AR0Fc417cpLL73kpIrRv2se8/79+2/tJjUeTU2judRr165tM52Sr4uAXvJLHO8Jqnh+7oR1UrmpsPOoKBe5c2h9RHRL7NyAWQKjOgRyIIC/5QCPQyFgSQB/swRGdQjkQAB/ywEeh0LAkgD+ZgmM6r4E4iSga2oVt3Qt6WldrrrqKifiO13c1rznumlomzZtnBzirVu39uWSWUHTuWhaF90Y9I477nBSwQQpujHp1VdfLRMnTqwW/Z4S0IO0oSlbVLA/8sgjt24OunHjRrn++uudFwLavs6ZUp0AAjoWEWkC106tlFkfFFg9/y+RXh3K5XcDKiLNJ2qD4wYsaivCeEqZAP5WyqvL3KJGAH+L2oownlImgL+V8uoyt6gRwN+itiLxH0+cBPRFixY5ucBVAM9MWZLaWFQ3/NTfWrRosXVx3njjDRkwYID06tVL7r77bmnWrJn1wnkJ4X4NpR+nUeK6gaeWlICu4ni6oK8R62+99ZZTR0X6IUOGSMeOHaVBgwbVusp2PH7jLaXfEdBLaTVLcC5H3ro272lbTNhmXlHamyCEbTLcgIVNlPYg4E0Af8M6IFA4Avhb4VjTEwTwN2wAAoUjgL8VjnVSeoqLgK4pTTTaWqPA3aLMNX2L5jmfPn26U+/www/fuoSpPOTNmzfPOgI9W8HaLwI9XVTXAes83333XWfD0cWLF8vll1/ubPhZXl5ezSQ16n7MmDFOVDsR6O7eioCelLNYTOd58A0/FXXkCOh2+LkBs+NFbQjkQgB/y4Uex0LAjgD+ZseL2hDIhQD+lgs9joWAHQH8zY4Xtf0JxEVAT20e+uqrr/pOatCgQU56k1TUdipH+jfffBObHOjz5s1zotU197nmXdcI+syc66n0LeRAR0D3dQoqRI8AAnr01sQ0Im7A4rVejDbeBPC3eK8fo48XAfwtXuvFaONNAH+L9/ox+ngRwN/itV5xGG1cBPTXXntNhg0bJi1btvTMYa55wT/44AOpW7euPPLII9KpUydnCbKJHn/uuedENyzVNCq/+tWvnA0658yZIyeccIIcdthhctttt0mTJk18lzgV/V6/fn25//77RVO2aPHbRFQjzB944AG57rrrpG3btnLffffV2PxUU9OcdNJJ0q1btxopbdwG9u233zrR+zvvvLOTE15ZlnIhAr2UV7cE5oaAHq9F5AYsXuvFaONNAH+L9/ox+ngRwN/itV6MNt4E8Ld4rx+jjxcB/C1e6xWH0cZBQN+wYYMjJI8fP77aRpyZfNPrafS2brypwreWSZMmycUXX+wI4tpW48aNPZdH85BrCpWnnnqqWnqUVBT822+/7QjW/fr1My7xpk2bnJQxt9xyiyP+a5sq7gcR0LWO9qdjnjlzppMLXVO1pOdCTx+Piu0HHXSQcTyzZ8+W008/Xdq3b591Kps42HRqjAjocVqtBI4VAT1ei84NWLzWi9HGmwD+Fu/1Y/TxIoC/xWu9GG28CeBv8V4/Rh8vAvhbvNYrDqONg4Ce2jy0UaNGcu+990qbNm080aYi1TVqO73u119/LZpv/PXXX5cbbrhBjjnmGKlVq1aNdjQH+dSpU53c43vuuacj2GvEdqpoZPqll17qRIXfeuutjhjtVtLb2WGHHWpEkPtFoKfaTIne+m830f6ZZ54RTeGiYr7Oq1WrVq7jWbVqlVx22WXy0ksvOXnkVdDPTAkTB3u1GSMCug0t6hacAAK6P/KqNe/Ilk/HSNXXL4hs/tH/gFxqlDeVsuZ9pdYul0hZ4/98vpReuAHLBW40jl2yYotMmrdR5i/ZnPcNfBvVK5Ouu9WWE3rUkT1a1rzZiAaR6I4Cf4vu2jCy0iOAv5XemjKj6BLA36K7Noys9Ajgb6W3psWeURwE9FT0eGYUtxu79FzpKnBrypVUSc8rrilMhg8fLi1atNj6u0aeP/HEEzJ27Fjn/7nlHteo8nHjxjlitaZjOe+88+SII46QevXqbW1Hxfo//vGPjuDt1U5QAV3Tz2jEvKak2W+//RxBP10kX7t2rfP7hAkTnJQ1KpJrvdSmo1u2bJF//vOfcvPNN4uK8Sq069+33377Ypte3vtHQM87YjrIhQACupmeiueb3zxQZMu6XDDbH1urvtTuOqeGiM4NmD3KKB2h4vm5E9ZJ5abCjqqiXOTOofUR0S2x42+WwKgOgRwI4G85wONQCFgSwN8sgVEdAjkQwN9ygMehrgSiLqB///33ctFFF8n06dMdEblv377GldTIb91cU6OsM3OV629vvvmmXHHFFU6udC0dO3aU5s2bi4rnb731lvP/VBj/7W9/K4ceeqhrlLaK6M8++6yTUkU3+dTI+L322ssR0XWj0oULFzrtqKCtfamgnRntHVRA13Y0j/qZZ54pixcvdtLAaBqWVGoa/f3HH390hPW7777b6bdp06bSoUMHp86//vUv0U1UtQwePNgZj843CQUBPQmrHOM5IqCbF2/zwiFStWJKUVa4rOUgqd3xiWp9cwNWlKUIrdNrp1bKrA8KrJ7/d/S9OpTL7wZUhDaXJDSEvyVhlZljVAjgb1FZCcaRBAL4WxJWmTlGhQD+FpWVKJ1xRF1AT22U2blzZyeiOz1i3GsVUht3atoSzZves2fPalVVLP/rX//qiPKaz1wFZhXBdTNOFc01orxZs2a+i7x69WqZNm2azJgxwxHmVUxX8b1Lly4yYMAA+eUvf1ktMj29QRsBXYV/nYduAOq1oahGmn/88cfy/PPPy6uvvlrtZUCvXr2kf//+ogzd0tb4TjSmFRDQY7pwSRk2Arp5pTfNapb/tC2GIZQfvBEBvYSc8chb1+Y9bYsJ18wrGpYQzfxPhQee/DOmBwikCOBv2AIECkcAfysca3qCAP6GDYRNIOoCetjzpb3kEEBAT85ax3KmCOg+AvrMOkVdVwT0ouIPvXP8LXSkeW2QB5684qVxCPCCGBuAQJEIcH0rEni6TSQB/C2Ry57XSSOg5xUvjReRAAJ6EeHTtT8BBD0EdH8r+V+NN45/yqY6dTMI4G/xMgkeeOK1Xow23gTwt3ivH6OPFwH8LV7rxWjjTQB/i/f6RXH0COhRXBXGFAYBBPQwKNJG3ggg6CGg2xgXAroNrZp18bfc+BX6aB54Ck2c/pJMAH9L8uoz90ITwN8KTZz+kkwAf0vy6udn7hvff0++O294fhoXkSbXj5W6v9w/b+3TMAS8CCCgYxuRJoCgh4BuY6AI6Da0ENBzo1X8o3ngKf4aMILkEMDfkrPWzLT4BPC34q8BI0gOAfwtOWtdyJlWznxR1v7pCZFN1fdMy20MZVL/mOOl3hEDcmuGoyGQJQEE9CzBcVhhCCCgI6DbWBoCug0tBPRsaFWteUe2fDpGqr5+If8b+JY3lbLmfaXWLpdIWeNONYbLA082KxitY5as2CKT5m2U+Us2530D30b1yqTrbrXlhB51ZI+WtaIFIgajwd9isEgMsWQI4G8ls5RMJAYE8LcYLBJDhAAEIkEAAT0Sy8AgvAggoCOg23gHAroNLQR0W1oqnm9+80CRLetsD82tfq36UrvrnBoiOg88uWEt9tEqnp87YZ1UbirsSCrKRe4cWh8R3RI7/mYJjOoQyIEA/pYDPA6FgCUB/M0SGNUhAIHEEkBAT+zSx2PiCOgI6DaWioBuQwsB3ZbW5oVDpGrFFNvDQqlf1nKQ1O74RLW2eOAJBW3RGrl2aqXM+qDA6vl/Z9urQ7n8bkBF0eYex47xtziuGmOOKwH8La4rx7jjSAB/i+OqMWYIQKAYBBDQi0GdPgMTQEBHQA9sLCKCgG5DCwHdltamWc3yn7bFMKjyg6vnEOSBx3YFo1X/yFvX5j1ti2nGM69oGC0gER8N/hbxBWJ4JUUAfyup5WQyESeAv0V8gRgeBCAQGQII6JFZCgbiRgABHQHdxjMQ0G1oIaDb0to0s47tIaHWR0APFWfRG+P6VvQlsBoAAoMVLipDICcC+FtO+DgYAlYE8DcrXFSGAAQSTAABPcGLH4epIzAgoNvYKQK6DS0EdFtaCOjVieFvthZUvT7Xt9z4FfpoBIZCE6e/JBPA35K8+sy90ATwt0ITpz8IQCCuBBDQ47pyCRk3AgMCuo2pI+jZ0EJAt6WFgI6Abmszpvpc38Kkmf+2EBjyz5geIJAigL9hCxAoHAH8rXCs6QkCEIg3AQT0eK9fyY8egQEB3cbIEdBtaCGg29JCQEdAt7UZBPQwiRW3LQSG4vKn92QRwN+Std7MtrgE8Lfi8qd3CEAgPgQQ0OOzVokcKQI6ArqN4SOg29BCQLelhYCOgG5rMwjouRGrWvOObPl0jFR9/UL+N/AtbyplzftKrV0ukbLGnWoMHIEht7WMwtFLVmyRSfM2yvwlm/O+gW+jemXSdbfackKPOrJHy1pRmH6sxoC/xWq5YjHYTUsWydrJj8mG+XOlat3avI65rFFjqdu1uzQYfIqU79Eur32F0Tj+FgZF2oAABJJAAAE9Casc4zkioCOg25gvAroNLQR0W1oI6AjotjaDgJ49MRXPN795oMiWddk3ks2RtepL7a5zaojoCAzZwIzOMSqenzthnVRuKuyYKspF7hxaHxHdEjv+ZgmM6kYCKp5/d95wqaqsLCipsooKaXrHQ5EX0fG3gpoFnUEAAjEmgIAe48VLwtAR0BHQbewcAd2GFgK6LS0EdAR0W5tBQM+e2OaFQ6RqxZTsG8jhyLKWg6R2xyeqtYDAkAPQCBx67dRKmfVBgdXz/867V4dy+d2AighQiM8Q8Lf4rFUcRvrDdaOlctaMogy1olcf2ebK64vSd9BO8begpKgHAQgknQACetItIOLzR0BHQLcxUQR0G1oI6La0ENAR0G1tBgE9e2KbZjXLf9oWw/DKD96IgJ798kXuyCNvXZv3tC2mSc+8omHkmER5QAh6UV6d+I3t66N65T1ti4nK9q/8I9LQ8LdILw+DgwAEIkQAAT1Ci8FQEPRsbQBBD0HP1mYQ9LInhr/hb9lbD9c3W3b4G/5mazNc38IkVty2EPSKy7/Uel91yL5FnRICuhk/AVBFNU86hwAELAggoFvAomrhCRCBbmaOwIDAEKZX4m/4m4098cBjQwsB3ZYW1zeub7Y2g4AeJrHitoWAXlz+pdY7Arp5RfG3UrN45gMBCOSLAAJ6vsjSbigEEPQQ9GwMCUHPhhaCni0tBD0EPVubQdDLnhj+hr9lbz1c38JkV4y2EPSKQb10+0RAR0AvXetmZhCAQCEJJEJAf++992Tw4MEyevRoGTJkiCffZcuWyV133SXTpk2TRYsWSefOnWXQoEEybNgw2X777Qu5LvT1XwII6AjoNs6AgG5DC4HBlhaCHoKerc0goGdPDH/D37K3Hq5vYbIrRlsI6MWgXrp9IqAjoJeudTMzCECgkARKXkBfvHixnH322fLyyy/L448/7imgv/POO3LGGWfI/PnzpV27drLzzjuLHvvpp59K37595e6775a2bdsWcm3oS0QQ0BHQbRwBAd2GFgKDLS0EPQQ9W5tBQM+eGP6Gv2VvPfG4vm1askjWTn5MNsyfm/cNDssaNZa6XbtLg8GnSPke7VzRVq15R7Z8Okaqvn4h/xv4ljeVsuZ9pdYul0hZ4041xoOAHqb1F6etJSu2yKR5G2X+ks1538C3Ub0y6bpbbTmhRx3Zo2WtGhNGQEdAL44X0CsEIFBqBEpWQK+qqpLXX39dRo0aJe+++66zbl4C+qpVq2TkyJHyyiuvyNixY2Xo0KFSXl4uP/30k4wZM0auueYaR4S/5ZZbpH79+qVmA5GeDwI6ArqNgSKg29CKh8CQ24zCPRpBD0EvTIvi+sb1zcaeuL7Z0Ir+9U3F8+/OGy5VlZW5Tczy6LKKCml6x0M1RHQVzze/eaDIlnWWLeZYvVZ9qd11Tg0RHQE9R65FPlzF83MnrJPKTYUdSEW5yJ1D69cQ0RHQEdALa4n0BgEIlCqBkhTQv/zyS7njjjvk3nvvddZNRe+VK1d6CujPPPOMHHfccXLuuec6InlFRcXW9f7hhx/knHPOkRkzZsjUqVNl332Lu4t3qRqi17wQGBAYbGwegcGGVvQFhtxmE/7RCOgI6GFaFdc3rm829sT1zYZW9K9vP1w3WipnzchtUlkeXdGrj2xz5fXVjt68cIhUrZiSZYu5HVbWcpDU7vhEtUYQ0HNjWuyjr51aKbM+KLB6/t9J9+pQLr8b8L9nef3fCOhmi8Dfiu0x9A8BCMSFQMkJ6OvWrZMLLrhAxo0bJ926dZObbrpJXnvtNbnqqqtcBfQNGzbI5Zdf7kSea5qXPn361Fi7xx57zIlKv/322522KYUjgMCAwGBjbQgMNrSiLzDkNpvwj0ZAR0AP06q4vnF9s7Enrm82tKJ/ffv6qF55T9tiIrb9K/+o9vOmWc3yn7bFMKDygzcioOdm4pE6+shb1+Y9bYtpwjOvaFjtZwR0BPRIOUiCBlP10wehz7asYYfQ26RBCAQlUJIC+h/+8AdnA9DevXs70eTXXnut/P73v3cV0FevXi0nn3yyfPbZZzJlyhRp3759DXZz586Vnj17OmleVGgnjUtQ88q9HgIDAoONFSEw2NCKvsCQ22zCPxoBHQE9TKvi+sb1zcaeuL7Z0Ir+9S1qgh7XN65vuXlY9aOjdn2Lmr+FyTqMtohAD4MibWQS2PLBcNny5YTQwZS1GCi1954Uers0CIEgBEpOQHebtElA101CTzzxROewJ598UnbZZZcaTSxatEiOP/54adWqlTzxxBPSvHnzIGypEwKBqN2AhTClUJvggYcHnjANCn9D0LOxJwQ9G1rRF/Rym034R3N94/oWplVF7foWNUEPf8Pf8LcwCVRvK/OLj/z1lF3LCOjZceMobwJVXz0hEX+sWQAAIABJREFUm9//Td4Q1frZH6TWzqPy1j4NQ8CLQOIF9CDieJA6mFh+CETtgSc/s8y+VR54eODJ3noQ9GzZ4W/4m63NmOpzfTPTxN/wt1L2NwT06qtLCpcwrb34bUXt+hY1fyv+ClUfAQJ61FYk/uPZ8ukY2bLkirxNpNYul0itPW7Iuf033nhDBgwYIL169ZK7775bmjVrtrVNzWoxZswYueuuu+TYY4819qV7Kuq+iZdccomcf/75Nepq1otp06bJiy++KNrnjz/+KK1bt3ayZhx22GFOGukGDRrUOC41Bq/O99lnHznkkENk4MCBstNOO1kfn3mAZua4+uqrpV69es5Pfv2HcXzTpk2la9euDoP+/ftL48aNc17XfDaAgB4guhwBPZ8maG47ajdgxSPh3jMCAwJDmDaJvyHo2dgTEeg2tGrWxd/wNxsLwt9saEXf36Im6HE/yf1kbh5W/eioXd+i5m9hsg6jLQT0MCjSRjoBBPT/0KiqqpJZs2Y5+zEuXbrU00h078abb75Z2rVrV61OUAF79913l1tuuUW6d++e1fGpg/IloOv49IWBW1m+fPlWNv369XM4bL/99pF1KAT0AgjoCxYsiKwBRH1gl75UMyd9Icd8S7+PCtmddV+/+K76SdK6gRwPeLfp36u1cMaSG3NsMbfD79/jt7k1kPCj8TezAeBv1fngb7mdMPA3/M3GgvA3G1o160bN39pcdmZuE8rx6M9uvq9aC1zfuL7laFLVDsffqtPM9LcwWYfRFs9vYVAsbBtdunQpbIeWvSGg/wfYhx9+KGeeeaZ8+eWXcu655zqR4ioO16pVSzZu3ChLlixxIt+nTp0qBx98sNx6663SokWLrbRNUfBbtmyRr776SsaPHy/333+/HHnkkY6I3qRJkxrHe0XG+y1rqv98Hq8vGRYuXCg33nijzJ4924ngv/DCC6V27dp+wyvK74kX0L/44gsZMmSIA1/zm++44441FiIVga5vTSZOnFjt044gq4aAHoSSe52o3YBlP5P8HMkDDw88YVoW/mamib/hb/hbmATwNxuaCOg2tGrWjdr1DQG9+hoRkJGbfUftaPyt+oogoJstlOubvQcjoMcjhcuDDz7opES59NJLZdSoUVJeXl5jsb///nvn97/85S810sUESSOzcuVKR5x/++23ZdKkSaJpXVKlEAK4yXpt+p8zZ46ccMIJcsABB8g999wT2X0nEy+gaz4i/VThs88+kylTpkj79jUjnufOnSs9e/aUkSNHytixY6V+/fr2ZzmOyIpA1D4BzGoSeTyIT26rw+UT99yMDX8z88Pf8LfcPKz60VH0t01LFsnayY/JhvlzpWrd2jCnW6OtskaNpW7X7tJg8ClSvkf1T1a1Mv6Gv4VpgFHzt6illMDf8Df8LUwC1dty20S0as07olG6VV+/ILL5x/x1ri2XN5Wy5n1F80aXNe5Uoy9SuOQXfxJbJwJdZMOGDXLttdfKww8/7JtH/amnnnLSvGj09YgRI2oI4KY87OvXr3dEeg301Uh2TQcTRwFdo/FVb9XofI2o17QvUSyJF9DVsC+//HJHGH/55Zed5PWZZdy4cXLGGWfI7bffLhdccEEU17FkxxS1B56ogeaBhweeMG0Sf0NAt7EnXljZ0KpZN2r+puL5d+cNl6rKytwmZnl0WUWFNL3joRoiOtc3rm+WpmSsHjV/Q0CvvlxsIhqmtRe/LfzNLKCreL75zQNFtqwr7GLVqi+1u86pIaIjoBd2GZLQGwL6f1Y5FYGuG4xqWpK6detaLb9NBLqmc1HdMj2Puk0EuNvACnW8pnF58sknnUj8I444Qm677bbIbiaaeAFdDUV3zT3uuOOcTx80b1BFRcVW+/nhhx+cHXVnzJjhvNHZd999rYyeyrkRiNoNWG6zCf9oBAYEhjCtCn9DQLexJwR0G1rRF9B/uG60VM6akduksjy6olcf2ebK66sdzfWN61uW5uR6WNSubwjoCOhh2nfU2sLfzAL65oVDpGrFlKIsW1nLQVK74xPV+kZAL8pSlHSnCOj/Wd7Fixc7AbiaXuWQQw5xUkdrhHjTpk2lrKzM1wb8cqB//vnn8sgjjzhC/RVXXOFEcKeniSmUAO41Eb/+VTj/7rvv5KWXXnICmvXvqsf279/fl02xKiCgi8iqVascY3vllVechTvppJMcEf2nn36SMWPGyDXXXEP6liJZaNRuwIqEwbNbBAYEhjBtEn9DQLexJwR0G1rRF9C/PqpX3tO2mIhlfuLO9Y3rW24eVv3oqF3fENAR0MO076i1hb+ZBfRNs5rlP22LwSj44iNqHlN64yklAd1mddw223zrrbfkd7/7nbzzzjtbm9L0JJoiulevXtKpUydnY1E3QT0lQJvGsN1228no0aNlwIABNSLcgxyfartDhw41UqcU8nhlolH6uhmqW654m3XIZ10E9P/SnTdvnrND7rvvvut89rDzzjs7b4w+/fRT6du3r7M7btu2bfO5FrTtQiBqN2BRWyQEBgSGMG0Sf0NAt7EnBHQbWtEX0BH0EPRys+hoHx216xv+hr9F22NyGx3+5iOgz6yTG+Acj0ZAzxEgh/sSQECvjkjzlM+fP1+effZZUd1x+fLl1Sqo+H3xxRfLrrvuWu3/BxWwvcTnoMdrp/kU0HV8rVu33jq3NWvWiL5Y0DJw4EAnMr9jx47SoEEDX9sqdgUE9LQVWLZsmZPgf9q0abJo0SLp3LmzDBo0SIYNG+a8FaIUnkDUbsAKTwBBz4Y5gp4NregLernNJvyjeWFVnSn+lpuNRe36hqCHoJebRUf7aPwNQc/GQrm+2dCK/v0k1zeub7lZNEfbEiglAd20gWeKi6aE1rTPbhHomey2bNniZMDQwF3VHTULhqYuUYFZBe8ePXpsPcSUwiVI+hO/FCp+65qv43XsOv8rr7zSCVrWPSlPPvnkSEeep1glQkD3Mwx+jy6BqD3wRI0Ugh6CXpg2ib/xwsrGnhAYbGghMPjRIoWLmRD+5mdB5t+jdn1D0EPQy82io300/sYLKxsL5fpmQysedRHQg6/TN998I/fee6+TPkXTl2gO8CZNmjgNBNlEVMVoFfB1P8fevXvLnXfeKdtuu22144MI+24jzpeAnupLo/HPP/985wXCTTfd5KShCZIbPjjd8GsioIfPlBZDJBC1G7AQpxZKUwjoCOihGNJ/G8HfENBt7IkHHhtaCOh+tBDQEdD9bCSX36N2fUNAR0DPxZ6jfiz+hoBuY6PcT9rQikddBHSRN954w4mw7tKli1x11VXOHoteZcWKFTJq1Cj5/vvvq+UhDyKga5tLly6VM844w2lehXhNmaIl3wK4nzX69b9582Z54IEH5LrrrnPSZd93332y5557+jVb1N8R0IuKn879CETtBsxvvIX+HQG9OnFuwHKzwCj626Yli2Tt5Mdkw/y5ed/gsKxRY6nbtbs0GHyKlO/RrgZM/A1/y83Dqh8dNX9D0EPQC9O+o9YW/oagZ2OT3E/a0KpZF3/D32wsCH+zoRWPugjoIh9++KGMGDFCmjZt6kSYt2nTxnPxVq9eLWeffbasXLkyUQK6AtE5a/73mTNnOrnQr7766kjnQkdAj8c5KLGjjNoNWNQWAkEPQS9Mm4yav6l4/t15w6WqsjLMafq2VVZRIU3veKiGiI6/4W++xmNRIWr+hoCOgG5hvrGrir8h6NkYLYKeDS0EdD9afGFlJoS/+VlQ/H5HQBdZu3atjB49WqZMmSIXXXSRnHXWWVKvXj3XxZw7d64joO+1116uKVj88rCncrDHLYVLCsbs2bPl9NNPd/6pKWj69esXWaNHQI/s0jAwJRC1B56orQqCHoJemDYZNX/74brRUjlrRphTDNxWRa8+ss2V11erj7/hb4ENKEDFqPkbAjoCegCzjW0V/A0B3cZ4EfRsaCGg+9FCQEdA97ORUvsdAf0/K5rK8b18+XI55JBD5Mwzz5ROnTo5QnpqM1HdSPTRRx8VTeOi+c/79++/1Rz8UrioSD99+nS54447nDQu11xzjQwbNmxrHnG/FCp+dleo49evX++kcXnkkUdkv/32E31h0KpVK7/hFeV3BPSiYKfToASi9sATdNyFqoegh6AXpq1Fzd++PqpX3tO2mPjxwMMDT5j+ldlW1PwNAR0BPZ/2Xuy28TcEdBsbREC3oYWA7keL+0nuJ/1spNR+R0D/z4rqBp+zZs1ycqCrwO1VNM3LZZddJieeeKKUl5fXENCD2Mfw4cOdNho0aJDV8XpQhw4dXFPIBOnfdHyQTUw15Y2+YFi8eLGTO14j0mvXrh2064LVQ0AvGGo6yoZA1B54splDPo9BQK9Olwee3Kwtav6GoIegl5tFR/to/A1Bz8ZCub7Z0ELQ86OFoIeg52cjufzO9Y3rm439cH2zoRWPugjo1ddpzZo18te//tWJFn/77bdFI9K19OjRQ371q185Uec77bRTjcVNRYB7rXrHjh0d0XvQoEHSrVu3auK7HuN3fGa7xRTQ9WXD+PHjnZcNUd5QFAE9HuegxI4yajdgUVsIBHQE9DBtMmr+hoCOgB6mfUetLfwNgcHGJhEYbGghoPvRQkBHQPezkVx+5/rG9c3Gfri+2dCKR924COjxoMkoo0QAAT1Kq8FYahCI2g1Y1JYIAR0BPUybjJq/IaAjoIdp31FrC39DYLCxSQQGG1oI6H60ENAR0P1sJJffub5xfbOxH65vNrTiURcBPR7rxCjtCSCg2zPjiAISiNoNWAGnHqgrBHQE9ECGErBS1PwNAR0BPaDpxrIa/obAYGO4CAw2tBDQ/WghoCOg+9lILr9zfeP6ZmM/XN9saMWjLgJ6PNaJUdoTQEC3Z8YRBSQQtRswnfqmJYtk7eTHZMP8uXnf4LCsUWOp27W7NBh8ipTv0a4GeQR0BPQw3TFq/oaAjoAepn1HrS38DYHBxiYRGGxoIaD70UJAR0D3s5Fcfuf6xvXNxn64vtnQikfdqu9fl81vHpS3wdb+xfNStt1heWufhiHgRQABHduINIGo3YCpeP7decOlqrKyoNzKKiqk6R0P1RDREdAR0MM0xKj5GwI6AnqY9h21tvA3BAYbm0RgsKGFgO5HCwEdAd3PRnL5nesb1zcb++H6ZkMrPnWrvpokWz67XWTLhhAHXSZlO58ttXYaHmKbNAWB4AQQ0IOzomYRCETtBuyH60ZL5awZRSAhUtGrj2xz5fXV+kZAR0AP0xij5m8I6AjoYdp31NrC3xAYbGwSgcGGFgK6Hy0EdAR0PxvJ5Xeub1zfbOyH65sNLepCAALFJICAXkz69O1LIGo3YF8f1SvvaVtMUHjg4YHH12lyqBA1f0NAR0DPwZwjfyj+hsBgY6QIDDa0END9aHE/yf2kn43k8jvXN65vNvbD9c2GFnUhAIFiEkBALyZ9+vYlwA0YN2C+RpJWgRswG1oIDH60EBgQGPxsJJffub5xfbOxH65vNrS4vvnR4vrG9c3PRnL5nesb1zcb++H6ZkOLuhCAQDEJIKAXkz59+xLgBowbMF8jQUC3QWSs+//ZuxeoW8u63vvXUjpgIYIdfK0Nw1ccmBXERgvTbKcGmqXhCUvRDINliIXoUkmGB/JEKipxMhgNBUULj1QKHoqKIZgMsoPJyN6EIlM0MDNTEd5xz3zYc8Fi/tePa8nF3fysMfZo7/7Xeu6b7/279/e6fkzm433zviVhcuBJaCn0KloKPYVelZGeOb/xW5Iffkto8VtFi9/4rcqIOQIIzIOAAn0ez2lt79KBx4EnCb8DT0LLgaei5cDjwFNlpGfOb/yW5IffElr8VtHiN36rMtIz5zd+S/LDbwktaxFAYCQBBfpI+q5dErABswErQ7K0wAYsoaVgqGgpGBQMVUZ65vzGb0l++C2hxW8VLX7jtyojPXN+47ckP/yW0LIWAQRGElCgj6Tv2iUBGzAbsDIkCvQE0cq13jfvWxImB56ElkKvoqXQU+hVGemZ8xu/Jfnht4QWv1W0+I3fqoyYI4DAPAgo0OfxnNb2Lh14HHiS8DvwJLQceCpaDjwOPFVGeub8xm9JfvgtocVvFS1+47cqIz1zfuO3JD/8ltCyFgEERhJQoI+k79olARswG7AyJEsLbMASWgqGipaCQcFQZaRnzm/8luSH3xJa/FbR4jd+qzLSM+c3fkvyw28JLWsRQGAkAQX6SPquXRKwAbMBK0OiQE8QrVzrffO+JWFy4EloKfQqWgo9hV6VkZ45v/Fbkh9+S2jxW0WL3/ityog5AgjMg4ACfR7PaW3v0oHHgScJvwNPQsuBp6LlwOPAU2WkZ85v/Jbkh98SWvxW0eI3fqsy0jPnN35L8sNvCS1rEUBgJAEF+kj6rl0SsAGzAStDsrTABiyhpWCoaCkYFAxVRnrm/MZvSX74LaHFbxUtfuO3KiM9c37jtyQ//JbQshYBBEYSUKCPpO/aJQEbMBuwMiQK9ATRyrXeN+9bEiYHnoSWQq+ipdBT6FUZ6ZnzG78l+eG3hBa/VbT4jd+qjJgjgMA8CCjQ5/Gc1vYuHXgceJLwO/AktBx4KloOPA48VUZ65vzGb0l++C2hxW8VLX7jtyojPXN+47ckP/yW0LIWAQRGElCgj6Tv2iUBGzAbsDIkSwtswBJaCoaKloJBwVBlpGfOb/yW5IffElr8VtHiN36rMtIz5zd+S/LDbwktaxFAYCQBBfpI+q5dErABswErQ6JATxCtXOt9874lYXLgSWgp9CpaCj2FXpWRnjm/8VuSH35LaPFbRYvf+K3KiDkCCMyDgAJ9Hs9pbe/SgceBJwm/A09Cy4GnouXA48BTZaRnzm/8luSH3xJa/FbR4jd+qzLSM+c3fkvyw28JLWsRQGAkAQX6SPquXRKwAbMBK0OytMAGLKGlYKhoKRgUDFVGeub8xm9JfvgtocVvFS1+47cqIz1zfuO3JD/8ltCyFgEERhJQoI+k79olARswG7AyJAr0BNHKtd4371sSJgeehJZCr6Kl0FPoVRnpmfMbvyX54beEFr9VtPiN36qMmCOAwDwIKNDn8ZzW9i4deBx4kvA78CS0HHgqWg48DjxVRnrm/MZvSX74LaHFbxUtfuO3KiM9c37jtyQ//JbQmtfa/+/f/6m1G3bsPf+/u/6vHfsD/TQEAgIK9ACWpbc9ARswG7AkdTZgCS0FQ0VLwaBgqDLSM+c3fkvyw28JLX6raPEbv1UZ6ZnzG78l+eG3hNZ81r7kIye38/7xj3f4DT/0f92/vfzHj9nhP9cPRGB7CCjQt4eSNcMI2IDZgCXhswFLaCkYKloKBgVDlZGeOb/xW5Iffkto8VtFi9/4rcpIz5zf+C3JD78ltOax9o8+9afthZe8/pt2s8/+34e1Q+718G/az/eDEbglAgp02bhdE7ABswFLAmoDltBSMFS0FAwKhiojPXN+47ckP/yW0OK3iha/8VuVkZ45v/Fbkh9+S2jNY+2bPvGudtLHzv6m3eyT7/3z7ah9n3Srf/5nPvOZduSRR7Z//dd/bb/zO7/TfuAHfmCbP2uavehFL1rMzjnnnPagBz1om+vOPffc9mu/9mvtV37lV9pv/MZvtG/5lm+5cd1VV13V3v3ud7cPfehD7cMf/vDif3/Pe96z7b///u3ggw9uBxxwQPvWb/3W8p/lL//yL9tTn/rU9tnPfra96lWvar/wC79Q/p1VC97xjne0o446qh166KGLf8Zv//Zvv9nyG264of3zP/9zO++887a6/x/6oR9qP/ZjP9Ye9ahHtf3226/d4Q532Orv/td//dfiZ5511lkr7/H7v//7F3//EY94RPvpn/7pbd5D1z/kN+EvK9C/CVD9yB1HwAbMBixJkw1YQkvBUNFSMCgYqoz0zPmN35L88FtCi98qWvzGb1VGeub8xm9JfvgtoTWPtbf3Av1rX/tae+lLX7ooz0899dT2yEc+8mZg/+M//mNRhk/l+PRny5Yt7ZnPfGbbtGnTVmuXf9ZJJ53UHv3oRy/m1113XXvnO9+5KJKvvfbaW3xwP/uzP9te/OIXt7vd7W63uObrX/96e81rXtPOOOOMRcl8v/vdr7361a9uu+66660ORFWgT/d8yimntDe+8Y1tYjGV3fe4xz0WZflUqv/DP/zD4tpPeMIT2rHHHtvuete73ngvywX6VLYvzzYWXX/99e0f//EfFz9r+vOUpzylveAFL2h3utOdbvU/023xFxXotwVl17jVBGzAbMCS8NiAJbQUDBUtBYOCocpIz5zf+C3JD78ltPitosVv/FZlpGfOb/yW5IffElrzWHt7L9AnimeffXZ77nOfu/gU9nOe85x2xzvecSu4f/d3f7f4RPnee+/dpk+s3/3ud1+U1rvssstW6z7/+c8vPs0+FcHLn2a/8MIL2+GHH97ucpe7tKOPProddNBBi//7VMBPBfP0ifLXv/71bVr3xCc+cVG031J5vPGJ+enau+++e/uDP/iDduaZZ7YHPvCBtzoQqwr0q6++elFmT9d56EMf2p71rGe1H/7hH77xk+ZT+f3Xf/3X7ZWvfOXi/m9afi8X6Mv/UuGmNzv9nD//8z9vxx9/fPv4xz++Qz5Zf6uBbOdfVKBvJyjLxhCwAbMBS5JnA5bQUjBUtBQMCoYqIz1zfuO3JD/8ltDit4oWv/FblZGeOb/xW5IffktozWPtHAr0v/qrv1oUvxuf5r5pMb5RMJ9++untox/96OJrWKZPY++zzz5bPYRt/ZzlT6VPJfn0qfSbfnJ9+iH/9E//tCjwp7J+KvSne9nWnz/6oz9alPnTp+CnrzyZ/u+HHHLIouTenq9/2dbPvKUCffrk/PQvCqb7fvKTn7z4FP53fud3bvO+PvWpT7Vf//Vfb3/xF3+xVfm9vQX6xg/d+JcZv/iLv9he8pKXtJ133vl2G3QF+u320bixiYANmA1Y8ibYgCW0FAwVLQWDgqHKSM+c3/gtyQ+/JbT4raLFb/xWZaRnzm/8luSH3xJa81g7hwL93/7t3xZfyfLpT3+6TSX5XnvtdSPcjQL8oosuaqeddlr72Mc+tii6p09cP+lJW3/3+kYRvfwVL1/4whcWnzo///zz27ve9a5bLMan7xifvprl937v9xafQH/4w2/+i1H/8z//c1FiTyX6VDTvueeei/uevr99uu/pE/K35s8tFeiXX355O+KIIxY/cvp6m1v6fviNa77tbW9bfEf69H3oP//zP7/4/ve0QL/44ovbYx7zmPZ//s//ab/927/ddtttt1vzj3Sb/B0F+m2C2UVuLQEbMBuwJDs2YAktBUNFS8GgYKgy0jPnN35L8sNvCS1+q2jxG79VGemZ8xu/Jfnht4TWPNbOoUCfvlf8t37rt9r0FSM3/QWhG1+Z8n3f932L70qfPik+fep7+sqU5V+4ufxJ8+Wfsfy/n0r36ZPVN/1Fm9v7JDcK7angnz4Zfuc733nxVTHT96a/8IUvXNzXtj7dXv38WyrQN35x6qpfLlr97KRAX/7E+7Z+CWt1rdt6rkC/rYm7XkTABswGLAmMDVhCS8FQ0VIwKBiqjPTM+Y3fkvzwW0KL3ypa/MZvVUZ65vzGb0l++C2hNY+1cyjQJ5IXXHBBe+pTn9qe97znLT5hvvFn+kqS6ZPmz372sxcF9Re/+MV2zDHHLL4L/eSTT178Qs3pz8an2Kf58v9+mn34wx9efL3J9Ms4H/awhy1+2eb0CzVv+lUxq57o9An1jbJ8Ku6ne5n+bHxtzPTp8+mrVr7ne74nDsa2CvSvfOUri2J++qqabX3afnsvsj0F+vT959N3rU+/pHX6Z5i+H3769PktfY3N9l77m71Ogf7NJuzndxGwAbMBSwJkA5bQUjBUtBQMCoYqIz1zfuO3JD/8ltDit4oWv/FblZGeOb/xW5IffktozWPtXAr0f/iHf2ibN29u97nPfRafNN/4ru+ptH7Vq1514/eST0X2VPKecMIJW31afaPInn5B6PIn06enNP2d973vfe3lL395m66z8Wcq0X/qp36q3f/+928/8iM/0nbddddbfKif/exnt/l1LRtf6zJ99ct0rz/zMz8TB2NbBfrGvyj4wz/8w/a7v/u77cADD4x/7vQXlgv07fkBE4djjz22/fiP//it+jT99lxjR61RoO8okn7ON4WADZgNWBIsG7CEloKhoqVgUDBUGemZ8xu/Jfnht4QWv1W0+I3fqoz0zPmN35L88FtCax5r51Kgb+uT5Rv/u+nT5dOnyr/3e793Af1P//RP2y/8wi8sfpHn9B3k09embJTQqz6tPf28D33oQ4vvMP/zP//zxSfSN/5Mhf30M3/1V391m58in9Yfdthh7eCDD75ZQb/xi0Uf//jHL8r/O93pTlE4tlWgX3PNNe0Zz3hG+5M/+ZOV391eXWi5QJ/+hcFd73rXG//K5z//+fY3f/M3i//34Ycfvvhnm75nffru9Dn8UaDP4Smt8T3agNmAJfG3AUtoKRgqWgoGBUOVkZ45v/Fbkh9+S2jxW0WL3/itykjPnN/4LckPvyW05rF2LgX68ifL3/72t7cDDjig/d3f/d3iq1Ie+tCHLn5550ax+8///M/tyCOPXHxifPre9Kn8nr5DffolmtNXnuyzzz7lw5m+73v6paWXXHJJe+9737so1P/jP/6j7bfffu3EE09s97rXvW78GV/96lfbb/7mb7Yzzzxzm58yv/LKKxfF+1VXXbX4tPj0Ke7kz7YK9Olepn/m6WtVdtQn0CdWj370o2+8temrW/74j/948Ynz6c/0Pe7TL0+9Nd/jnvzz7qi1CvQdRdLP+aYQsAGzAUuCZQOW0FIwVLQUDAqGKiM9c37jtyQ//JbQ4reKFr/xW5WRnjm/8VuSH35LaM1j7VwK9InmxifLN75jfKNYvmnxu/Gp6qn0nr42Zfpk+vRJ9OnP9PUuu+++e/xwpl9F6Pr0AAAgAElEQVRO+opXvGLxae8jjjhi8V3s3/qt37r4ORu/PPTv//7vy587fdf6s571rHbHO95x5denPOc5z1l8L/v0Z1sF+k1/+en0PfC35k/1HejTv7iY/pmnf97pu89f+9rXLr7SZg5/FOhzeEprfI82YDZgSfxtwBJaCoaKloJBwVBlpGfOb/yW5IffElr8VtHiN36rMtIz5zd+S/LDbwmteaydU4G+8cnyH/zBH2zPf/7z26tf/er2gQ98YFGST18tsvzn7LPPbs997nPbqaeeuvi0+PRJ9Z/92Z9tUzE9ldcbf9797ncvfs7jHve4rX456bae3sYn3vfcc8/FL9HcbbfdFsvOOeecxS8xvelXoCz/jKmo/tu//dvFvZxyyiltjz326CrQp5+9rWJ9Veqm73efvuf9x37sx9ohhxzS7nznO291Dzf9FxEbP2u69+kT9tMn3afvPp/W3e1ud7vdB1yBfrt/ROt9gzZgNmDJG2ADltBSMFS0FAwKhiojPXN+47ckP/yW0OK3iha/8VuVkZ45v/Fbkh9+S2jNY+2cCvSNT0t/8pOfbC9+8Yvb8ccfvyiBpwJ8l1122Qr4xi8NnT6Zvddeey2+QmVbX3Wy8an26atJpp+z6heFbvwi0+/5nu+5sUD/whe+0I455pj2Z3/2Zzf+ItNtPfmNddPXwUy/9HT6PvXt/XNLRfnGJ9+nnzP9i4Kb/kuE5Z8/fZL8LW95y+J74R/xiEfcyKz6BPrGz5g+XT8x/PjHP774GdNX5Oy0007b+48wZJ0CfQh2F91eAjZgNmDbm5VpnQ1YQkvBUNFSMCgYqoz0zPmN35L88FtCi98qWvzGb1VGeub8xm9JfvgtoTWPtXMq0Cei0yfLp6J7+kqW6etYfumXfunGXxS6THz6xaLTmu/6ru9qO++8c/voRz/aTjvttHbPe95zqwfz2c9+drHusssuW/zyz+mT6NsqhqcCeiqyp7WHHnrojb8odOOXh/7ET/xEWcBvfFJ9e8r65Zu8pQL961//+uLT7NNXyzz5yU9efCf69H3v2/ozFeBHH310m/7nxO2ggw5aLNveAn25gP/+7//+9oY3vKHtu+++t+uQK9Bv14/HzdmA2YAlb4ENWEJLwVDRUjAoGKqM9Mz5jd+S/PBbQovfKlr8xm9VRnrm/MZvSX74LaE1j7VzK9D/4i/+ok2fKr/3ve+9KMWnUvpBD3rQzWBP5fLGLw6dPp0+/fLPl770pTcrmJe/43v6xZyPfexj2+bNmxefWp9+Ken0y0SnX/45ldhnnHHG4u9PX99yv/vdr03XeM1rXrP4XvDpF2xOXxOz6hdsbnxifPrlpNMvHH3gAx+4XSFZ9VUtV1999eKras4///zFL1Odvl/9h3/4h9sd7nCHxc+e7v+iiy5afAXL9OnxpzzlKe0FL3hBu9Od7hQV6NPiz3/+84trTZ+inzhNP/Omn/zfrn+g22iRAv02Au0yt46ADZgNWJIcG7CEloKhoqVgUDBUGemZ8xu/Jfnht4QWv1W0+I3fqoz0zPmN35L88FtCax5r51agf+Yzn1l8fciHP/zhdt/73redfPLJbfpE9Lb+XHDBBe2pT33qYrTxi0e3tW4qmd/5zncu1lx77bW3+OCmT69P373+sIc9bFGUX3nllYuvNZkK9je+8Y1tn332WfnQv/rVry5K56k8P+ywwxZF9sYvIl31F6vvOp8+RT/9y4Fzzz138WMmHve4xz0WBf9Umk//TFPxP13zGc94xo3l+bR2ez+BvnF/F154YTv88MMX/88TTjihPepRj7rdBl2Bfrt9NG5sImADZgOWvAk2YAktBUNFS8GgYKgy0jPnN35L8sNvCS1+q2jxG79VGemZ8xu/Jfnht4TWPNbOrUD/2te+tiiLp18cuvxVKtuivfGd5VPRPX31y/Sp8VV/Pve5z7X3ve997f3vf//i0+0bxfP096bSfPru8I1fHDr9nI1i+/GPf/zinjY+1b3qGhvfuT79MtHTTz+97b333mVQqgJ9+gHTvwSYvobmvPPOa5dcckn7m7/5m8XPnX6x6UMe8pB28MEHLz5Vf9NPyKcF+vQvAaavjJnu/fb+C0UV6GW0LBhJwAbMBizJnw1YQkvBUNFSMCgYqoz0zPmN35L88FtCi98qWvzGb1VGeub8xm9JfvgtoTWPtXMr0OdB1V3eHggo0G8PT8E93CIBGzAbsOT1sAFLaCkYKloKBgVDlZGeOb/xW5Iffkto8VtFi9/4rcpIz5zf+C3JD78ltOaxVoE+j+fkLnMCCvScmb9xGxKwAbMBS+JmA5bQUjBUtBQMCoYqIz1zfuO3JD/8ltDit4oWv/FblZGeOb/xW5IffktozWOtAn0ez8ld5gQU6Dkzf+M2JGADZgOWxM0GLKGlYKhoKRgUDFVGeub8xm9JfvgtocVvFS1+47cqIz1zfuO3JD/8ltCax9qPfe4T7WkffME37WZf+6Bj2wP+n//9Tfv5fjACt0RAgS4bt2sCNmA2YElAbcASWgqGipaCQcFQZaRnzm/8luSH3xJa/FbR4jd+qzLSM+c3fkvyw28Jrfmsfd8Vf9bOvvw97WvXX7fDbnpTa+2Qez2iHXzPh+6wn+kHIZAQUKAntKy9zQnYgNmAJaGzAUtoKRgqWgoGBUOVkZ45v/Fbkh9+S2jxW0WL3/itykjPnN/4LckPvyW0rEUAgZEEFOgj6bt2ScAGzAasDMnSAhuwhJaCoaKlYFAwVBnpmfMbvyX54beEFr9VtPiN36qM9Mz5jd+S/PBbQstaBBAYSUCBPpK+a5cEbMBswMqQKNATRCvXet+8b0mYHHgSWgq9ipZCT6FXZaRnzm/8luSH3xJa/FbR4jd+qzJijgAC8yCgQJ/Hc1rbu3TgceBJwu/Ak9By4KloOfA48FQZ6ZnzG78l+eG3hBa/VbT4jd+qjPTM+Y3fkvzwW0LLWgQQGElAgT6SvmuXBGzAbMDKkCwtsAFLaCkYKloKBgVDlZGeOb/xW5Iffkto8VtFi9/4rcpIz5zf+C3JD78ltKxFAIGRBBToI+m7dknABswGrAyJAj1BtHKt9837loTJgSehpdCraCn0FHpVRnrm/MZvSX74LaHFbxUtfuO3KiPmCCAwDwIK9Hk8p7W9SwceB54k/A48CS0HnoqWA48DT5WRnjm/8VuSH35LaPFbRYvf+K3KSM+c3/gtyQ+/JbSsRQCBkQQU6CPpu3ZJwAbMBqwMydICG7CEloKhoqVgUDBUGemZ8xu/Jfnht4QWv1W0+I3fqoz0zPmN35L88FtCy1oEEBhJQIG+RP9Tn/pUe/3rX9/e8Y53tCuuuKLtvffe7UlPelL75V/+5Xb3u9995HNa22vbgNmAJeG3AUtoKRgqWgoGBUOVkZ45v/Fbkh9+S2jxW0WL3/itykjPnN/4LckPvyW0rEUAgZEEFOjfoH/hhRe2pzzlKTcW53vuuefi/3755Ze3fffdt5166qnt/ve//8hntZbXtgGzAUuCbwOW0FIwVLQUDAqGKiM9c37jtyQ//JbQ4reKFr/xW5WRnjm/8VuSH35LaFmLAAIjCSjQW2uf/vSn25Of/OR2ySWXtBNPPHHxqfNv+7Zva1/5ylfaG97whvYbv/Eb7WEPe1g7/fTT22677Tbyea3dtW3AbMCS0NuAJbQUDBUtBYOCocpIz5zf+C3JD78ltPitosVv/FZlpGfOb/yW5IffElrWIoDASAIK9Nba+9///nbggQe2Zz7zme2EE05YlOcbf77whS+0I488sr3nPe9pF1xwQTvggANGPq+1u7YNmA1YEnobsISWgqGipWBQMFQZ6ZnzG78l+eG3hBa/VbT4jd+qjPTM+Y3fkvzwW0LLWgQQGElAgd5ae/Ob37z41PlLXvKSdtxxx231PK677rrFJ9CnYv3cc89tj3nMY0Y+r7W7tg2YDVgSehuwhJaCoaKlYFAwVBnpmfMbvyX54beEFr9VtPiN36qM9Mz5jd+S/PBbQstaBBAYSUCB3lq76KKL2sMf/vD2yEc+sp188slt1113vfGZXHPNNe2www5rF198cTvvvPPa/vvvP/J5rd21bcBswJLQ24AltBQMFS0Fg4KhykjPnN/4LckPvyW0+K2ixW/8VmWkZ85v/Jbkh98SWtYigMBIAgr01tqXvvSltmXLlnbKKae0F77whe3Xfu3XFt91Pn03+mte85r2qle9qj3jGc9YfAp95513Hvm81u7aNmA2YEnobcASWgqGipaCQcFQZaRnzm/8luSH3xJa/FbR4jd+qzLSM+c3fkvyw28JLWsRQGAkAQX6N+hPJfqpp566+BqXL37xizc+k91337294AUvaJs3b1aeD0iqDZgNWBI7G7CEloKhoqVgUDBUGemZ8xu/Jfnht4QWv1W0+I3fqoz0zPmN35L88FtCy1oEEBhJQIHeWrv++uvbu971rvaiF72o/fVf/3Xbb7/92nd/93e3K664ol1++eXtfve7X3vFK17Rfuqnfqpt2rRp5PNau2vbgNmAJaG3AUtoKRgqWgoGBUOVkZ45v/Fbkh9+S2jxW0WL3/itykjPnN/4LckPvyW0rEUAgZEEFOittbe+9a3t8MMPb/e5z33aSSed1O573/suivKpWP/gBz/YnvOc57Rrr722vfGNb2w/+ZM/OfJ5rd21bcBswJLQ24AltBQMFS0Fg4KhykjPnN/4LckPvyW0+K2ixW/8VmWkZ85v/Jbkh98SWtYigMBIAmtfoC//ktCzzz67PfjBD77Z87jgggvaYx/72PaYxzym/fZv/3b7ju/4juiZXXrppdF6i/8vgS3n33sojhMO+sRW19/juU8fej9XvvLUra6/77UHDL2fj93l4q2uv/mTLx96P6ft9fyh15/7xb1vWz9B79vqRHvf+t5475v3LUmQ9y2hdfO13jfvW5Ig71tCy/tW0bKftJ+sMpLO999///SvWI8AAjuAwNoX6NNXtBxyyCGLr2x5y1vesvifN/3zL//yL+2JT3xi++pXv7pYs+eee0boFegRrq0WO/A48CTpceBJaDnwVLQceBx4qoz0zPmN35L88FtCi98qWvzGb1VGeub8xm9JfvgtofXfaxXoOTN/A4EdQUCBHhTo0y8Xnb7uZa+99toR7P2M7SDgPwHcGpL/5HZ1aPwngNvxUq1Y4n3zviUJ8r4ltG6+1vvmfUsS5H1LaHnfKlr2k/aTVUZ65vzGb0l++C2hZS0CCIwksPYF+he+8IX2tKc9rZ1//vnt3HPPbQceeODNnsfGV7gcdNBB7Ywzzmi77rrryGe2Vte2AbMBSwJvA5bQUjBUtBQMCoYqIz1zfuO3JD/8ltDit4oWv/FblZGeOb/xW5IffktoWYsAAiMJrH2BPsFf/iWir33ta9uP/uiPtjvc4Q6LXyL6kY98pP36r/96+/jHP97OOuus9qhHPWrk81q7a9uA2YAlobcBS2gpGCpaCgYFQ5WRnjm/8VuSH35LaPFbRYvf+K3KSM+c3/gtyQ+/JbSsRQCBkQQU6K216667rp144ont+OOPb9PXtOy3336L70K/+uqr22WXXdZ22WWXdtxxx7Wjjz667bTTTiOf19pd2wbMBiwJvQ1YQkvBUNFSMCgYqoz0zPmN35L88FtCi98qWvzGb1VGeub8xm9JfvgtoWUtAgiMJKBA/wb96dPml1xySTvzzDPbBz7wgXbFFVe0vffeu/3ET/xEe8YzntH22WeftmnTppHPai2vbQNmA5YE3wYsoaVgqGgpGBQMVUZ65vzGb0l++C2hxW8VLX7jtyojPXN+47ckP/yW0LIWAQRGElCgj6Tv2iUBGzAbsDIkSwtswBJaCoaKloJBwVBlpGfOb/yW5IffElr8VtHiN36rMtIz5zd+S/LDbwktaxFAYCQBBfpI+q5dErABswErQ6JATxCtXOt9874lYXLgSWgp9CpaCj2FXpWRnjm/8VuSH35LaPFbRYvf+K3KiDkCCMyDgAJ9Hs9pbe/SgceBJwm/A09Cy4GnouXA48BTZaRnzm/8luSH3xJa/FbR4jd+qzLSM+c3fkvyw28JLWsRQGAkAQX6SPquXRKwAbMBK0OytMAGLKGlYKhoKRgUDFVGeub8xm9JfvgtocVvFS1+47cqIz1zfuO3JD/8ltCyFgEERhJQoI+k79olARswG7AyJAr0BNHKtd4371sSJgeehJZCr6Kl0FPoVRnpmfMbvyX54beEFr9VtPiN36qMmCOAwDwIKNDn8ZzW9i4deBx4kvA78CS0HHgqWg48DjxVRnrm/MZvSX74LaHFbxUtfuO3KiM9c37jtyQ//JbQshYBBEYSUKCPpO/aJQEbMBuwMiRLC2zAEloKhoqWgkHBUGWkZ85v/Jbkh98SWvxW0eI3fqsy0jPnN35L8sNvCS1rEUBgJAEF+kj6rl0SsAGzAStDokBPEK1c633zviVhcuBJaCn0KloKPYVelZGeOb/xW5Iffkto8VtFi9/4rcqIOQIIzIOAAn0ez2lt79KBx4EnCb8DT0LLgaei5cDjwFNlpGfOb/yW5IffElr8VtHiN36rMtIz5zd+S/LDbwktaxFAYCQBBfpI+q5dErABswErQ7K0wAYsoaVgqGgpGBQMVUZ65vzGb0l++C2hxW8VLX7jtyojPXN+47ckP/yW0LIWAQRGElCgj6Tv2iUBGzAbsDIkCvQE0cq13jfvWxImB56ElkKvoqXQU+hVGemZ8xu/Jfnht4QWv1W0+I3fqoyYI4DAPAgo0OfxnNb2Lh14HHiS8DvwJLQceCpaDjwOPFVGeub8xm9JfvgtocVvFS1+47cqIz1zfuO3JD/8ltCyFgEERhJQoI+k79olARswG7AyJEsLbMASWgqGipaCQcFQZaRnzm/8luSH3xJa/FbR4jd+qzLSM+c3fkvyw28JLWsRQGAkAQX6SPquXRKwAbMBK0OiQE8QrVzrffO+JWFy4EloKfQqWgo9hV6VkZ45v/Fbkh9+S2jxW0WL3/ityog5AgjMg4ACfR7PaW3v0oHHgScJvwNPQsuBp6LlwOPAU2WkZ85v/Jbkh98SWvxW0eI3fqsy0jPnN35L8sNvCS1rEUBgJAEF+kj6rl0SsAGzAStDsrTABiyhpWCoaCkYFAxVRnrm/MZvSX74LaHFbxUtfuO3KiM9c37jtyQ//JbQshYBBEYSUKCPpO/aJQEbMBuwMiQK9ATRyrXeN+9bEiYHnoSWQq+ipdBT6FUZ6ZnzG78l+eG3hBa/VbT4jd+qjJgjgMA8CCjQ5/Gc1vYuHXgceJLwO/AktBx4KloOPA48VUZ65vzGb0l++C2hxW8VLX7jtyojPXN+47ckP/yW0LIWAQRGElCgj6Tv2iUBGzAbsDIkSwtswBJaCoaKloJBwVBlpGfOb/yW5IffElr8VtHiN36rMtIz5zd+S/LDbwktaxFAYCQBBfpI+q5dErABswErQ6JATxCtXOt9874lYXLgSWgp9CpaCj2FXpWRnjm/8VuSH35LaPFbRYvf+K3KiDkCCMyDgAJ9Hs9pbe/SgceBJwm/A09Cy4GnouXA48BTZaRnzm/8luSH3xJa/FbR4jd+qzLSM+c3fkvyw28JLWsRQGAkAQX6SPquXRKwAbMBK0OytMAGLKGlYKhoKRgUDFVGeub8xm9JfvgtocVvFS1+47cqIz1zfuO3JD/8ltCyFgEERhJQoI+k79olARswG7AyJAr0BNHKtd4371sSJgeehJZCr6Kl0FPoVRnpmfMbvyX54beEFr9VtPiN36qMmCOAwDwIKNDn8ZzW9i4deBx4kvA78CS0HHgqWg48DjxVRnrm/MZvSX74LaHFbxUtfuO3KiM9c37jtyQ//JbQshYBBEYSUKCPpO/aJQEbMBuwMiRLC2zAEloKhoqWgkHBUGWkZ85v/Jbkh98SWvxW0eI3fqsy0jPnN35L8sNvCS1rEUBgJAEF+kj6rl0SsAGzAStDokBPEK1c633zviVhcuBJaCn0KloKPYVelZGeOb/xW5Iffkto8VtFi9/4rcqIOQIIzIOAAn0ez2lt79KBx4EnCb8DT0LLgaei5cDjwFNlpGfOb/yW5IffElr8VtHiN36rMtIz5zd+S/LDbwktaxFAYCQBBfpI+q5dErABswErQ7K0wAYsoaVgqGgpGBQMVUZ65vzGb0l++C2hxW8VLX7jtyojPXN+47ckP/yW0LIWAQRGElCgj6Tv2iUBGzAbsDIkCvQE0cq13jfvWxImB56ElkKvoqXQU+hVGemZ8xu/Jfnht4QWv1W0+I3fqoyYI4DAPAgo0OfxnNb2Lh14HHiS8DvwJLQceCpaDjwOPFVGeub8xm9JfvgtocVvFS1+47cqIz1zfuO3JD/8ltCyFgEERhJQoI+k79olARswG7AyJEsLbMASWgqGipaCQcFQZaRnzm/8luSH3xJa/FbR4jd+qzLSM+c3fkvyw28JLWsRQGAkAQX6SPquXRKwAbMBK0OiQE8QrVzrffO+JWFy4EloKfQqWgo9hV6VkZ45v/Fbkh9+S2jxW0WL3/ityog5AgjMg4ACfR7PaW3v0oHHgScJvwNPQsuBp6LlwOPAU2WkZ85v/Jbkh98SWvxW0eI3fqsy0jPnN35L8sNvCS1rEUBgJAEF+kj6rl0SsAGzAStDsrTABiyhpWCoaCkYFAxVRnrm/MZvSX74LaHFbxUtfuO3KiM9c37jtyQ//JbQshYBBEYSUKCPpO/aJQEbMBuwMiQK9ATRyrXeN+9bEiYHnoSWQq+ipdBT6FUZ6ZnzG78l+eG3hBa/VbT4jd+qjJgjgMA8CCjQ5/Gc1vYuHXgceJLwO/AktBx4KloOPA48VUZ65vzGb0l++C2hxW8VLX7jtyojPXN+47ckP/yW0LIWAQRGElCgj6Tv2iUBGzAbsDIkSwtswBJaCoaKloJBwVBlpGfOb/yW5IffElr8VtHiN36rMtIz5zd+S/LDbwktaxFAYCQBBfpI+q5dErABswErQ6JATxCtXOt9874lYXLgSWgp9CpaCj2FXpWRnjm/8VuSH35LaPFbRYvf+K3KiDkCCMyDgAJ9Hs9pbe/SgceBJwm/A09Cy4GnouXA48BTZaRnzm/8luSH3xJa/FbR4jd+qzLSM+c3fkvyw28JLWsRQGAkAQX6SPquXRKwAbMBK0OytMAGLKGlYKhoKRgUDFVGeub8xm9JfvgtocVvFS1+47cqIz1zfuO3JD/8ltCyFgEERhJQoI+k79olARswG7AyJAr0BNHKtd4371sSJgeehJZCr6Kl0FPoVRnpmfMbvyX54beEFr9VtPiN36qMmCOAwDwIKNDn8ZzW9i4deBx4kvA78CS0HHgqWg48DjxVRnrm/MZvSX74LaHFbxUtfuO3KiM9c37jtyQ//JbQshYBBEYSUKCPpO/aJQEbMBuwMiRLC2zAEloKhoqWgkHBUGWkZ85v/Jbkh98SWvxW0eI3fqsy0jPnN35L8sNvCS1rEUBgJAEF+kj6rl0SsAGzAStDokBPEK1c633zviVhcuBJaCn0KloKPYVelZGeOb/xW5Iffkto8VtFi9/4rcqIOQIIzIOAAn0ez2lt79KBx4EnCb8DT0LLgaei5cDjwFNlpGfOb/yW5IffElr8VtHiN36rMtIz5zd+S/LDbwktaxFAYCQBBfpI+q5dErABswErQ7K0wAYsoaVgqGgpGBQMVUZ65vzGb0l++C2hxW8VLX7jtyojPXN+47ckP/yW0LIWAQRGElCgj6Tv2iUBGzAbsDIkCvQE0cq13jfvWxImB56ElkKvoqXQU+hVGemZ8xu/Jfnht4QWv1W0+I3fqoyYI4DAPAgo0OfxnNb2Lh14HHiS8DvwJLQceCpaDjwOPFVGeub8xm9JfvgtocVvFS1+47cqIz1zfuO3JD/8ltCyFgEERhJQoI+k79olARswG7AyJEsLbMASWgqGipaCQcFQZaRnzm/8luSH3xJa/FbR4jd+qzLSM+c3fkvyw28JLWsRQGAkAQX6SPquXRKwAbMBK0OiQE8QrVzrffO+JWFy4EloKfQqWgo9hV6VkZ45v/Fbkh9+S2jxW0WL3/ityog5AgjMg4ACfR7PaW3v0oHHgScJvwNPQsuBp6LlwOPAU2WkZ85v/Jbkh98SWvxW0eI3fqsy0jPnN35L8sNvCS1rEUBgJAEF+kj6rl0SsAGzAStDsrTABiyhpWCoaCkYFAxVRnrm/MZvSX74LaHFbxUtfuO3KiM9c37jtyQ//JbQshYBBEYSUKCPpO/aJQEbMBuwMiQK9ATRyrXeN+9bEiYHnoSWQq+ipdBT6FUZ6ZnzG78l+eG3hBa/VbT4jd+qjJgjgMA8CCjQ5/Gc1vYuHXgceJLwO/AktBx4KloOPA48VUZ65vzGb0l++C2hxW8VLX7jtyojPXN+47ckP/yW0LIWAQRGElCgj6Tv2iUBGzAbsDIkSwtswBJaCoaKloJBwVBlpGfOb/yW5IffElr8VtHiN36rMtIz5zd+S/LDbwktaxFAYCQBBfpI+q5dErABswErQ6JATxCtXOt9874lYXLgSWgp9CpaCj2FXpWRnjm/8VuSH35LaPFbRYvf+K3KiDkCCMyDgAJ9Hs9pbe/SgceBJwm/A09Cy4GnouXA48BTZaRnzm/8luSH3xJa/FbR4jd+qzLSM+c3fkvyw28JLWsRQGAkAQX6SPquXRKwAbMBK0OytMAGLKGlYKhoKRgUDFVGeub8xm9JfvgtocVvFS1+47cqIz1zfuO3JD/8ltCyFgEERhJQoI+k79olARswG7AyJAr0BNHKtd4371sSJgeehJZCr6Kl0FPoVRnpmfMbvyX54beEFr9VtPiN36qMmCOAwDwIKNDn8ZzW9i4deBx4kvA78CS0HHgqWg48DjxVRnrm/MZvSX74LaHFbxUtfuO3KiM9c37jtyQ//JbQshYBBEYSUKCPpKdDZj8AACAASURBVO/aJQEbMBuwMiRLC2zAEloKhoqWgkHBUGWkZ85v/Jbkh98SWvxW0eI3fqsy0jPnN35L8sNvCS1rEUBgJAEF+kj6rl0SsAGzAStDokBPEK1c633zviVhcuBJaCn0KloKPYVelZGeOb/xW5Iffkto8VtFi9/4rcqIOQIIzIOAAn0ez2lt79KBx4EnCb8DT0LLgaei5cDjwFNlpGfOb/yW5IffElr8VtHiN36rMtIz5zd+S/LDbwktaxFAYCQBBfpI+q5dErABswErQ7K0wAYsoaVgqGgpGBQMVUZ65vzGb0l++C2hxW8VLX7jtyojPXN+47ckP/yW0LIWAQRGElCgj6Tv2iUBGzAbsDIkCvQE0cq13jfvWxImB56ElkKvoqXQU+hVGemZ8xu/Jfnht4QWv1W0+I3fqoyYI4DAPAgo0Jee05e+9KX2pje9qb3tbW9rF154Ydtll13aQx7ykLZ58+bF/9xpp53m8VT/B92lA48DTxJnB56ElgNPRcuBx4GnykjPnN/4LckPvyW0+K2ixW/8VmWkZ85v/Jbkh98SWtYigMBIAgr0b9D/zGc+04444oj27ne/u+2+++5t3333bV/+8pfbxRdfvFjxile8oh1zzDFK9Ns4rTZgNmBJ5GzAEloKhoqWgkHBUGWkZ85v/Jbkh98SWvxW0eI3fqsy0jPnN35L8sNvCS1rEUBgJAEFemtt+uT5li1b2imnnNKe97zntWOPPXbx6fMbbrihffSjH21HHXVU+/jHP97e+c53Lj6J7s9tR8AGzAYsSZsNWEJLwVDRUjAoGKqM9Mz5jd+S/PBbQovfKlr8xm9VRnrm/MZvSX74LaFlLQIIjCSgQG+tffCDH2wHH3zw4v+cdNJJ7c53vvNWz+Qd73hH+6Vf+qX2ohe9qD3rWc8a+bzW7to2YDZgSehtwBJaCoaKloJBwVBlpGfOb/yW5IffElr8VtHiN36rMtIz5zd+S/LDbwktaxFAYCSBtS/Qv/71r7fjjjuuvfzlL28XXHBB++mf/umRz8O1b0LABswGLHkpbMASWgqGipaCQcFQZaRnzm/8luSH3xJa/FbR4jd+qzLSM+c3fkvyw28JLWsRQGAkgbUv0K+55pp26KGHtul/vuUtb2l77rnnyOfh2gr0lRlw4HHg+Wb+fxIOPA48Sb4ceBJaCr2KFr/xW5WRnjm/8VuSH35LaPFbRYvf+K3KiDkCCMyDwNoX6J/85CfbE57whHaPe9yjveENb2hXXnlle93rXrf4ZaLTn4MOOmjxHegHHHBA27Rp0zye6v+gu3TgceBJ4uzAk9By4KloOfA48FQZ6ZnzG78l+eG3hBa/VbT4jd+qjPTM+Y3fkvzwW0LLWgQQGElg7Qv0yy+/vB1yyCFtv/32a3vvvXd72cte1u5+97svPol+9dVXt8suu2zxC0Wn//3mzZvbTjvtNPJ5rd21bcBswJLQ24AltBQMFS0Fg4KhykjPnN/4LckPvyW0+K2ixW/8VmWkZ85v/Jbkh98SWtYigMBIAmtfoF988cXtwAMPbF/84hcXpflv/uZvtsc97nHt277t29r111/f3vve97Zjjjmm/cu//Es799xzF2vTP5deemn6V6z/BoEt5997KIsTDvrEVtff47lPH3o/V77y1K2uv++1Bwy9n4/d5eKtrr/5ky8fej+n7fX8odef+8W9b1s/Qe/b6kR73/reeO+b9y1JkPctoXXztd4371uSIO9bQsv7VtGyn7SfrDKSzvfff//0r1iPAAI7gMDaF+hTuf1zP/dz7dOf/nR77Wtf2575zGfe7Kta3vzmN7cnPelJi9kJJ5ywKNeTPwr0hNbWax14HHiS9DjwJLQceCpaDjwOPFVGeub8xm9JfvgtocVvFS1+47cqIz1zfuO3JD/8ltD677UK9JyZv4HAjiCw9gX6xle4/Od//ufiE+b77LPPzbh+4hOfaI9//OMXX+0ylel3vetddwR7P2M7CPhPALeG5D+5XR0a/wngdrxUK5Z437xvSYK8bwmtm6/1vnnfkgR53xJa3reKlv2k/WSVkZ45v/Fbkh9+S2hZiwACIwmsfYE+fTXLE5/4xHbNNde0t73tbYvvQb/pn+m70H/xF3+x3fGOd1Sg38ZptQGzAUsiZwOW0FIwVLQUDAqGKiM9c37jtyQ//JbQ4reKFr/xW5WRnjm/8VuSH35LaFmLAAIjCax9gT599/mRRx7Z3vWudy2+7/wBD3jAzZ7HxifQ99hjj3bWWWe13XbbbeQzW6tr24DZgCWBtwFLaCkYKloKBgVDlZGeOb/xW5Iffkto8VtFi9/4rcpIz5zf+C3JD78ltKxFAIGRBNa+QJ/gn3nmme1pT3taO/bYY9uLX/zittNOO934TG644YZ2xhlntMMPP7wdd9xx7YUvfOHik+j+3DYEbMBswJKk2YAltBQMFS0Fg4KhykjPnN/4LckPvyW0+K2ixW/8VmWkZ85v/Jbkh98SWtYigMBIAgr01tpVV13VDj300PbRj360HX/88YuyfOedd27XX3/94lPp0yfU73SnO7W3vvWt2/yO9JEP8H/6tW3AbMCSjNuAJbQUDBUtBYOCocpIz5zf+C3JD78ltPitosVv/FZlpGfOb/yW5IffElrWIoDASAIK9G/Qv/TSSxdF+SWXXNL23HPPdq973at9/vOfb5dddlnbfffd28knn9wOOeSQtmnTppHPa+2ubQNmA5aE3gYsoaVgqGgpGBQMVUZ65vzGb0l++C2hxW8VLX7jtyojPXN+47ckP/yW0LIWAQRGElCgL9Gfflnom970pvb7v//7Nxbpj370o9uv/MqvtHvf+97K8wFJtQGzAUtiZwOW0FIwVLQUDAqGKiM9c37jtyQ//JbQ4reKFr/xW5WRnjm/8VuSH35LaFmLAAIjCSjQR9J37ZKADZgNWBmSpQU2YAktBUNFS8GgYKgy0jPnN35L8sNvCS1+q2jxG79VGemZ8xu/Jfnht4SWtQggMJKAAn0kfdcuCdiA2YCVIVGgJ4hWrvW+ed+SMDnwJLQUehUthZ5Cr8pIz5zf+C3JD78ltPitosVv/FZlxBwBBOZBQIE+j+e0tnfpwOPAk4TfgSeh5cBT0XLgceCpMtIz5zd+S/LDbwktfqto8Ru/VRnpmfMbvyX54beElrUIIDCSgAJ9JH3XLgnYgNmAlSFZWmADltBSMFS0FAwKhiojPXN+47ckP/yW0OK3iha/8VuVkZ45v/Fbkh9+S2hZiwACIwko0EfSd+2SgA2YDVgZEgV6gmjlWu+b9y0JkwNPQkuhV9FS6Cn0qoz0zPmN35L88FtCi98qWvzGb1VGzBFAYB4EFOjzeE5re5cOPA48SfgdeBJaDjwVLQceB54qIz1zfuO3JD/8ltDit4oWv/FblZGeOb/xW5IffktoWYsAAiMJKNBH0nftkoANmA1YGZKlBTZgCS0FQ0VLwaBgqDLSM+c3fkvyw28JLX6raPEbv1UZ6ZnzG78l+eG3hJa1CCAwkoACfSR91y4J2IDZgJUhUaAniFau9b5535IwOfAktBR6FS2FnkKvykjPnN/4LckPvyW0+K2ixW/8VmXEHAEE5kFAgT6P57S2d+nA48CThN+BJ6HlwFPRcuBx4Kky0jPnN35L8sNvCS1+q2jxG79VGemZ8xu/Jfnht4SWtQggMJKAAn0kfdcuCdiA2YCVIVlaYAOW0FIwVLQUDAqGKiM9c37jtyQ//JbQ4reKFr/xW5WRnjm/8VuSH35LaFmLAAIjCSjQR9J37ZKADZgNWBkSBXqCaOVa75v3LQmTA09CS6FX0VLoKfSqjPTM+Y3fkvzwW0KL3ypa/MZvVUbMEUBgHgQU6PN4Tmt7lw48DjxJ+B14EloOPBUtBx4HniojPXN+47ckP/yW0OK3iha/8VuVkZ45v/Fbkh9+S2hZiwACIwko0EfSd+2SgA2YDVgZkqUFNmAJLQVDRUvBoGCoMtIz5zd+S/LDbwktfqto8Ru/VRnpmfMbvyX54beElrUIIDCSgAJ9JH3XLgnYgNmAlSFRoCeIVq71vnnfkjA58CS0FHoVLYWeQq/KSM+c3/gtyQ+/JbT4raLFb/xWZcQcAQTmQUCBPo/ntLZ36cDjwJOE34EnoeXAU9Fy4HHgqTLSM+c3fkvyw28JLX6raPEbv1UZ6ZnzG78l+eG3hJa1CCAwkoACfSR91y4J2IDZgJUhWVpgA5bQUjBUtBQMCoYqIz1zfuO3JD/8ltDit4oWv/FblZGeOb/xW5IffktoWYsAAiMJKNBH0nftkoANmA1YGRIFeoJo5Vrvm/ctCZMDT0JLoVfRUugp9KqM9Mz5jd+S/PBbQovfKlr8xm9VRswRQGAeBBTo83hOa3uXDjwOPEn4HXgSWg48FS0HHgeeKiM9c37jtyQ//JbQ4reKFr/xW5WRnjm/8VuSH35LaFmLAAIjCSjQR9J37ZKADZgNWBmSpQU2YAktBUNFS8GgYKgy0jPnN35L8sNvCS1+q2jxG79VGemZ8xu/Jfnht4SWtQggMJKAAn0kfdcuCdiA2YCVIVGgJ4hWrvW+ed+SMDnwJLQUehUthZ5Cr8pIz5zf+C3JD78ltPitosVv/FZlxBwBBOZBQIE+j+e0tnfpwOPAk4TfgSeh5cBT0XLgceCpMtIz5zd+S/LDbwktfqto8Ru/VRnpmfMbvyX54beElrUIIDCSgAJ9JH3XLgnYgNmAlSFZWmADltBSMFS0FAwKhiojPXN+47ckP/yW0OK3iha/8VuVkZ45v/Fbkh9+S2hZiwACIwko0EfSd+2SgA2YDVgZEgV6gmjlWu+b9y0JkwNPQkuhV9FS6Cn0qoz0zPmN35L88FtCi98qWvzGb1VGzBFAYB4EFOjzeE5re5cOPA48SfgdeBJaDjwVLQceB54qIz1zfuO3JD/8ltDit4oWv/FblZGeOb/xW5IffktoWYsAAiMJKNBH0nftkoANmA1YGZKlBTZgCS0FQ0VLwaBgqDLSM+c3fkvyw28JLX6raPEbv1UZ6ZnzG78l+eG3hJa1CCAwkoACfSR91y4J2IDZgJUhUaAniFau9b5535IwOfAktBR6FS2FnkKvykjPnN/4LckPvyW0+K2ixW/8VmXEHAEE5kFAgT6P57S2d+nA48CThN+BJ6HlwFPRcuBx4Kky0jPnN35L8sNvCS1+q2jxG79VGemZ8xu/Jfnht4SWtQggMJKAAn0kfdcuCdiA2YCVIVlaYAOW0FIwVLQUDAqGKiM9c37jtyQ//JbQ4reKFr/xW5WRnjm/8VuSH35LaFmLAAIjCSjQR9J37ZKADZgNWBkSBXqCaOVa75v3LQmTA09CS6FX0VLoKfSqjPTM+Y3fkvzwW0KL3ypa/MZvVUbMEUBgHgQU6PN4Tmt7lw48DjxJ+B14EloOPBUtBx4HniojPXN+47ckP/yW0OK3iha/8VuVkZ45v/Fbkh9+S2hZiwACIwko0EfSd+2SgA2YDVgZkqUFNmAJLQVDRUvBoGCoMtIz5zd+S/LDbwktfqto8Ru/VRnpmfMbvyX54beElrUIIDCSgAJ9JH3XLgnYgNmAlSFRoCeIVq71vnnfkjA58CS0FHoVLYWeQq/KSM+c3/gtyQ+/JbT4raLFb/xWZcQcAQTmQUCBPo/ntLZ36cDjwJOE34EnoeXAU9Fy4HHgqTLSM+c3fkvyw28JLX6raPEbv1UZ6ZnzG78l+eG3hJa1CCAwkoACfSR91y4J2IDZgJUhWVpgA5bQUjBUtBQMCoYqIz1zfuO3JD/8ltDit4oWv/FblZGeOb/xW5IffktoWYsAAiMJKNBH0nftkoANmA1YGRIFeoJo5Vrvm/ctCZMDT0JLoVfRUugp9KqM9Mz5jd+S/PBbQovfKlr8xm9VRswRQGAeBBTo83hOa3uXDjwOPEn4HXgSWg48FS0HHgeeKiM9c37jtyQ//JbQ4reKFr/xW5WRnjm/8VuSH35LaFmLAAIjCSjQR9J37ZKADZgNWBmSpQU2YAktBUNFS8GgYKgy0jPnN35L8sNvCS1+q2jxG79VGemZ8xu/Jfnht4SWtQggMJKAAn0kfdcuCdiA2YCVIVGgJ4hWrvW+ed+SMDnwJLQUehUthZ5Cr8pIz5zf+C3JD78ltPitosVv/FZlxBwBBOZBQIE+j+e0tnfpwOPAk4TfgSeh5cBT0XLgceCpMtIz5zd+S/LDbwktfqto8Ru/VRnpmfMbvyX54beElrUIIDCSgAJ9JH3XLgnYgNmAlSFZWmADltBSMFS0FAwKhiojPXN+47ckP/yW0OK3iha/8VuVkZ45v/Fbkh9+S2hZiwACIwko0EfSd+2SgA2YDVgZEgV6gmjlWu+b9y0JkwNPQkuhV9FS6Cn0qoz0zPmN35L88FtCi98qWvzGb1VGzBFAYB4EFOjzeE5re5cOPA48SfgdeBJaDjwVLQceB54qIz1zfuO3JD/8ltDit4oWv/FblZGeOb/xW5IffktoWYsAAiMJKNBH0nftkoANmA1YGZKlBTZgCS0FQ0VLwaBgqDLSM+c3fkvyw28JLX6raPEbv1UZ6ZnzG78l+eG3hJa1CCAwkoACfSR91y4J2IDZgJUhUaAniFau9b5535IwOfAktBR6FS2FnkKvykjPnN/4LckPvyW0+K2ixW/8VmXEHAEE5kFAgT6P57S2d+nA48CThN+BJ6HlwFPRcuBx4Kky0jPnN35L8sNvCS1+q2jxG79VGemZ8xu/Jfnht4SWtQggMJKAAn0kfdcuCdiA2YCVIVlaYAOW0FIwVLQUDAqGKiM9c37jtyQ//JbQ4reKFr/xW5WRnjm/8VuSH35LaFmLAAIjCSjQR9J37ZKADZgNWBkSBXqCaOVa75v3LQmTA09CS6FX0VLoKfSqjPTM+Y3fkvzwW0KL3ypa/MZvVUbMEUBgHgQU6PN4Tmt7lw48DjxJ+B14EloOPBUtBx4HniojPXN+47ckP/yW0OK3iha/8VuVkZ45v/Fbkh9+S2hZiwACIwko0EfSd+2SgA2YDVgZkqUFNmAJLQVDRUvBoGCoMtIz5zd+S/LDbwktfqto8Ru/VRnpmfMbvyX54beElrUIIDCSgAJ9JH3XLgnYgNmAlSFRoCeIVq71vnnfkjA58CS0FHoVLYWeQq/KSM+c3/gtyQ+/JbT4raLFb/xWZcQcAQTmQUCBPo/ntLZ36cDjwJOE34EnoeXAU9Fy4HHgqTLSM+c3fkvyw28JLX6raPEbv1UZ6ZnzG78l+eG3hJa1CCAwkoACfSR91y4J2IDZgJUhWVpgA5bQUjBUtBQMCoYqIz1zfuO3JD/8ltDit4oWv/FblZGeOb/xW5IffktoWYsAAiMJKNBH0nftkoANmA1YGRIFeoJo5Vrvm/ctCZMDT0JLoVfRUugp9KqM9Mz5jd+S/PBbQovfKlr8xm9VRswRQGAeBBTo83hOa3uXDjwOPEn4HXgSWg48FS0HHgeeKiM9c37jtyQ//JbQ4reKFr/xW5WRnjm/8VuSH35LaFmLAAIjCSjQR9J37ZKADZgNWBmSpQU2YAktBUNFS8GgYKgy0jPnN35L8sNvCS1+q2jxG79VGemZ8xu/Jfnht4SWtQggMJKAAn0kfdcuCdiA2YCVIVGgJ4hWrvW+ed+SMDnwJLQUehUthZ5Cr8pIz5zf+C3JD78ltPitosVv/FZlxBwBBOZBQIE+j+e0tnfpwOPAk4TfgSeh5cBT0XLgceCpMtIz5zd+S/LDbwktfqto8Ru/VRnpmfMbvyX54beElrUIIDCSgAJ9JH3XLgnYgNmAlSFZWmADltBSMFS0FAwKhiojPXN+47ckP/yW0OK3iha/8VuVkZ45v/Fbkh9+S2hZiwACIwko0EfSd+2SgA2YDVgZEgV6gmjlWu+b9y0JkwNPQkuhV9FS6Cn0qoz0zPmN35L88FtCi98qWvzGb1VGzBFAYB4EFOjzeE5re5cOPA48SfgdeBJaDjwVLQceB54qIz1zfuO3JD/8ltDit4oWv/FblZGeOb/xW5IffktoWYsAAiMJKNBH0nftkoANmA1YGZKlBTZgCS0FQ0VLwaBgqDLSM+c3fkvyw28JLX6raPEbv1UZ6ZnzG78l+eG3hJa1CCAwkoACfSR91y4J2IDZgJUhUaAniFau9b5535IwOfAktBR6FS2FnkKvykjPnN/4LckPvyW0+K2ixW/8VmXEHAEE5kFAgT6P57S2d+nA48CThN+BJ6HlwFPRcuBx4Kky0jPnN35L8sNvCS1+q2jxG79VGemZ8xu/Jfnht4SWtQggMJKAAn0kfdcuCdiA2YCVIVlaYAOW0FIwVLQUDAqGKiM9c37jtyQ//JbQ4reKFr/xW5WRnjm/8VuSH35LaFmLAAIjCSjQV9D/0Ic+1J70pCe1pz/96e24444b+ZzW9to2YDZgSfhtwBJaCoaKloJBwVBlpGfOb/yW5IffElr8VtHiN36rMtIz5zd+S/LDbwktaxFAYCQBBfot0P/Upz61KM8vuuii9pKXvESBPiilNmA2YEn0bMASWgqGipaCQcFQZaRnzm/8luSH3xJa/FbR4jd+qzLSM+c3fkvyw28JLWsRQGAkAQX6Nuh/6Utfalu2bGmnnHLKYqpAHxdRGzAbsCR9NmAJLQVDRUvBoGCoMtIz5zd+S/LDbwktfqto8Ru/VRnpmfMbvyX54beElrUIIDCSgAL9JvRvuOGGds4557Sjjz66HXjgge3ss89WoA9MqA2YDVgSPxuwhJaCoaKlYFAwVBnpmfMbvyX54beEFr9VtPiN36qM9Mz5jd+S/PBbQstaBBAYSUCBfhP6f/VXf9We8IQntIc85CHtkY985KJE9wn0cRG1AbMBS9JnA5bQUjBUtBQMCoYqIz1zfuO3JD/8ltDit4oWv/FblZGeOb/xW5IffktoWYsAAiMJKNCX6F9zzTXtiCOOaJ/73OfaWWed1abvQX/gAx+oQB+YUBswG7AkfjZgCS0FQ0VLwaBgqDLSM+c3fkvyw28JLX6raPEbv1UZ6ZnzG78l+eG3hJa1CCAwkoAC/Rv0r7vuuvbqV7+6ve51r1t8bcuDH/zgxS8QVaCPjGdrNmA2YEkCbcASWgqGipaCQcFQZaRnzm/8luSH3xJa/FbR4jd+qzLSM+c3fkvyw28JLWsRQGAkAQX6N+hfeOGF7SlPeUp7+tOf3o455pi20047KdBHJvMb17YBswFLYmgDltBSMFS0FAwKhiojPXN+47ckP/yW0OK3iha/8VuVkZ45v/Fbkh9+S2hZiwACIwko0FtrV111VTv00EPbne9853b66ae37/3e7108E59AHxnN/762DZgNWJJCG7CEloKhoqVgUDBUGemZ8xu/Jfnht4QWv1W0+I3fqoz0zPmN35L88FtCy1oEEBhJYO0L9C9/+ctty5Yt7bzzzmvnnntuu+9973vj89hRBfqll1468hnP+tpbzr/30Ps/4aBPbHX9PZ779KH3c+UrT93q+vtee8DQ+/nYXS7e6vqbP/nyofdz2l7PH3r9uV/c+7b1E/S+rU60963vjfe+ed+SBHnfElo3X+t9874lCfK+JbS8bxUt+0n7ySoj6Xz//fdP/4r1CCCwAwisdYF+ww03tHPOOadt3rx58f3nT3va09qmTZsU6DsgWDvqRzjwOPAkWXLgSWg58FS0HHgceKqM9Mz5jd+S/PBbQovfKlr8xm9VRnrm/MZvSX74LaH132sV6DkzfwOBHUFgrQv06dPnRx999OJrW7bnz0EHHdTe/OY3t7ve9a7bs9yaHUDAfwK4NUT/ye3qUPlPAPteOu+b9y1JkPctoXXztd4371uSIO9bQsv7VtGyn7SfrDLSM+c3fkvyw28JLWsRQGAkgbUu0P/rv/6rvfSlL20f+chHtvkM/v3f/71dfPHFbe+992577rln22OPPdoJJ5zQdtttt5HPbK2ubQNmA5YE3gYsoaVgqGgpGBQMVUZ65vzGb0l++C2hxW8VLX7jtyojPXN+47ckP/yW0LIWAQRGEljrAr0Cv6O+A726jvktE7ABswFL3g8bsISWgqGipWBQMFQZ6ZnzG78l+eG3hBa/VbT4jd+qjPTM+Y3fkvzwW0LLWgQQGElAgb6CvgJ9ZDT/+9o2YDZgSQptwBJaCoaKloJBwVBlpGfOb/yW5IffElr8VtHiN36rMtIz5zd+S/LDbwktaxFAYCQBBboCfWT+ymvbgNmAlSFZWmADltBSMFS0FAwKhiojPXN+47ckP/yW0OK3iha/8VuVkZ45v/Fbkh9+S2hZiwACIwko0BXoI/NXXtsGzAasDIkCPUG0cq33zfuWhMmBJ6Gl0KtoKfQUelVGeub8xm9JfvgtocVvFS1+47cqI+YIIDAPAgr0eTyntb1LBx4HniT8DjwJLQeeipYDjwNPlZGeOb/xW5Iffkto8VtFi9/4rcpIz5zf+C3JD78ltKxFAIGRBBToI+m7dknABswGrAzJ0gIbsISWgqGipWBQMFQZ6ZnzG78l+eG3hBa/VbT4jd+qjPTM+Y3fkvzwW0LLWgQQGElAgT6SvmuXBGzAbMDKkCjQE0Qr13rfvG9JmBx4EloKvYqWQk+hV2WkZ85v/Jbkh98SWvxW0eI3fqsyYo4AAvMgoECfx3Na27t04HHgScLvwJPQcuCpaDnwOPBUGemZ8xu/Jfnht4QWv1W0+I3fqoz0zPmN35L88FtCy1oEEBhJQIE+kr5rlwRswGzAypAsLbABS2gpGCpaCgYFQ5WRnjm/8VuSH35LaPFbRYvf+K3KSM+c3/gtyQ+/JbSsRQCBkQQU6CPpu3ZJwAbMBqwMiQI9QbRyrffN+5aEyYEnoaXQq2gp9BR6VUZ65vzGb0l++C2hxW8VLX7jtyoj5gggMA8CCvR5PKe1vUsHHgeeJPwOPAktB56KlgOPA0+VkZ45v/Fbkh9+S2jxW0WLa24JugAAIABJREFU3/itykjPnN/4LckPvyW0rEUAgZEEFOgj6bt2ScAGzAasDMnSAhuwhJaCoaKlYFAwVBnpmfMbvyX54beEFr9VtPiN36qM9Mz5jd+S/PBbQstaBBAYSUCBPpK+a5cEbMBswMqQKNATRCvXet+8b0mYHHgSWgq9ipZCT6FXZaRnzm/8luSH3xJa/FbR4jd+qzJijgAC8yCgQJ/Hc1rbu3TgceBJwu/Ak9By4KloOfA48FQZ6ZnzG78l+eG3hBa/VbT4jd+qjPTM+Y3fkvzwW0LLWgQQGElAgT6SvmuXBGzAbMDKkCwtsAFLaCkYKloKBgVDlZGeOb/xW5Iffkto8VtFi9/4rcpIz5zf+C3JD78ltKxFAIGRBBToI+m7dknABswGrAyJAj1BtHKt9837loTJgSehpdCraCn0FHpVRnrm/MZvSX74LaHFbxUtfuO3KiPmCCAwDwIK9Hk8p7W9SwceB54k/A48CS0HnoqWA48DT5WRnjm/8VuSH35LaPFbRYvf+K3KSM+c3/gtyQ+/JbSsRQCBkQQU6CPpu3ZJwAbMBqwMydICG7CEloKhoqVgUDBUGemZ8xu/Jfnht4QWv1W0+I3fqoz0zPmN35L88FtCy1oEEBhJQIE+kr5rlwRswGzAypAo0BNEK9d637xvSZgceBJaCr2KlkJPoVdlpGfOb/yW5IffElr8VtHiN36rMmKOAALzIKBAn8dzWtu7dOBx4EnC78CT0HLgqWg58DjwVBnpmfMbvyX54beEFr9VtPiN36qM9Mz5jd+S/PBbQstaBBAYSUCBPpK+a5cEbMBswMqQLC2wAUtoKRgqWgoGBUOVkZ45v/Fbkh9+S2jxW0WL3/itykjPnN/4LckPvyW0rEUAgZEEFOgj6bt2ScAGzAasDIkCPUG0cq33zfuWhMmBJ6Gl0KtoKfQUelVGeub8xm9JfvgtocVvFS1+47cqI+YIIDAPAgr0eTyntb1LBx4HniT8DjwJLQeeipYDjwNPlZGeOb/xW5Iffkto8VtFi9/4rcpIz5zf+C3JD78ltKxFAIGRBBToI+m7dknABswGrAzJ0gIbsISWgqGipWBQMFQZ6ZnzG78l+eG3hBa/VbT4jd+qjPTM+Y3fkvzwW0LLWgQQGElAgT6SvmuXBGzAbMDKkCjQE0Qr13rfvG9JmBx4EloKvYqWQk+hV2WkZ85v/Jbkh98SWvxW0eI3fqsyYo4AAvMgoECfx3Na27t04HHgScLvwJPQcuCpaDnwOPBUGemZ8xu/Jfnht4QWv1W0+I3fqoz0zPmN35L88FtCy1oEEBhJQIE+kr5rlwRswGzAypAsLbABS2gpGCpaCgYFQ5WRnjm/8VuSH35LaPFbRYvf+K3KSM+c3/gtyQ+/JbSsRQCBkQQU6CPpu3ZJwAbMBqwMiQI9QbRyrffN+5aEyYEnoaXQq2gp9BR6VUZ65vzGb0l++C2hxW8VLX7jtyoj5gggMA8CCvR5PKe1vUsHHgeeJPwOPAktB56KlgOPA0+VkZ45v/Fbkh9+S2jxW0WL3/itykjPnN/4LckPvyW0rEUAgZEEFOgj6bt2ScAGzAasDMnSAhuwhJaCoaKlYFAwVBnpmfMbvyX54beEFr9VtPiN36qM9Mz5jd+S/PBbQstaBBAYSUCBPpK+a5cEbMBswMqQKNATRCvXet+8b0mYHHgSWgq9ipZCT6FXZaRnzm/8luSH3xJa/FbR4jd+qzJijgAC8yCgQJ/Hc1rbu3TgceBJwu/Ak9By4KloOfA48FQZ6ZnzG78l+eG3hBa/VbT4jd+qjPTM+Y3fkvzwW0LLWgQQGElAgT6SvmuXBGzAbMDKkCwtsAFLaCkYKloKBgVDlZGeOb/xW5Iffkto8VtFi9/4rcpIz5zf+C3JD78ltKxFAIGRBBToI+m7dknABswGrAyJAj1BtHKt9837loTJgSehpdCraCn0FHpVRnrm/MZvSX74LaHFbxUtfuO3KiPmCCAwDwIK9Hk8p7W9SwceB54k/A48CS0HnoqWA48DT5WRnjm/8VuSH35LaPFbRYvf+K3KSM+c3/gtyQ+/JbSsRQCBkQQU6CPpu3ZJwAbMBqwMydICG7CEloKhoqVgUDBUGemZ8xu/Jfnht4QWv1W0+I3fqoz0zPmN35L88FtCy1oEEBhJQIE+kr5rlwRswGzAypAo0BNEK9d637xvSZgceBJaCr2KlkJPoVdlpGfOb/yW5IffElr8VtHiN36rMmKOAALzIKBAn8dzWtu7dOBx4EnC78CT0HLgqWg58DjwVBnpmfMbvyX54beEFr9VtPiN36qM9Mz5jd+S/PBbQstaBBAYSUCBPpK+a5cEbMBswMqQLC2wAUtoKRgqWgoGBUOVkZ45v/Fbkh9+S2jxW0WL3/itykjPnN/4LckPvyW0rEUAgZEEFOgj6bt2ScAGzAasDIkCPUG0cq33zfuWhMmBJ6Gl0KtoKfQUelVGeub8xm9JfvgtocVvFS1+47cqI+YIIDAPAgr0eTyntb1LBx4HniT8DjwJLQeeipYDjwNPlZGeOb/xW5Iffkto8VtFi9/4rcpIz5zf+C3JD78ltKxFAIGRBBToI+m7dknABswGrAzJ0gIbsISWgqGipWBQMFQZ6ZnzG78l+eG3hBa/VbT4jd+qjPTM+Y3fkvzwW0LLWgQQGElAgT6SvmuXBGzAbMDKkCjQE0Qr13rfvG9JmBx4EloKvYqWQk+hV2WkZ85v/Jbkh98SWvxW0eI3fqsyYo4AAvMgoECfx3Na27t04HHgScLvwJPQcuCpaDnwOPBUGemZ8xu/Jfnht4QWv1W0+I3fqoz0zPmN35L88FtCy1oEEBhJQIE+kr5rlwRswGzAypAsLbABS2gpGCpaCgYFQ5WRnjm/8VuSH35LaPFbRYvf+K3KSM+c3/gtyQ+/JbSsRQCBkQQU6CPpu3ZJwAbMBqwMiQI9QbRyrffN+5aEyYEnoaXQq2gp9BR6VUZ65vzGb0l++C2hxW8VLX7jtyoj5gggMA8CCvR5PKe1vUsHHgeeJPwOPAktB56KlgOPA0+VkZ45v/Fbkh9+S2jxW0WL3/itykjPnN/4LckPvyW0rEUAgZEEFOgj6bt2ScAGzAasDMnSAhuwhJaCoaKlYFAwVBnpmfMbvyX54beEFr9VtPiN36qM9Mz5jd+S/PBbQstaBBAYSUCBPpK+a5cEbMBswMqQKNATRCvXet+8b0mYHHgSWgq9ipZCT6FXZaRnzm/8luSH3xJa/FbR4jd+qzJijgAC8yCgQJ/Hc1rbu3TgceBJwu/Ak9By4KloOfA48FQZ6ZnzG78l+eG3hBa/VbT4jd+qjPTM+Y3fkvzwW0LLWgQQGElAgT6SvmuXBGzAbMDKkCwtsAFLaCkYKloKBgVDlZGeOb/xW5Iffkto8VtFi9/4rcpIz5zf+C3JD78ltKxFAIGRBBToI+m7dknABswGrAyJAj1BtHKt9837loTJgSehpdCraCn0FHpVRnrm/MZvSX74LaHFbxUtfuO3KiPmCCAwDwIK9Hk8p7W9SwceB54k/A48CS0HnoqWA48DT5WRnjm/8VuSH35LaPFbRYvf+K3KSM+c3/gtyQ+/JbSsRQCBkQQU6CPpu3ZJwAbMBqwMydICG7CEloKhoqVgUDBUGemZ8xu/Jfnht4QWv1W0+I3fqoz0zPmN35L88FtCy1oEEBhJQIE+kr5rlwRswGzAypAo0BNEK9d637xvSZgceBJaCr2KlkJPoVdlpGfOb/yW5IffElr8VtHiN36rMmKOAALzIKBAn8dzWtu7dOBx4EnC78CT0HLgqWg58DjwVBnpmfMbvyX54beEFr9VtPiN36qM9Mz5jd+S/PBbQstaBBAYSUCBPpK+a5cEbMBswMqQLC2wAUtoKRgqWgoGBUOVkZ45v/Fbkh9+S2jxW0WL3/itykjPnN/4LckPvyW0rEUAgZEEFOgj6bt2ScAGzAasDIkCPUG0cq33zfuWhMmBJ6Gl0KtoKfQUelVGeub8xm9JfvgtocVvFS1+47cqI+YIIDAPAgr0eTyntb1LBx4HniT8DjwJLQeeipYDjwNPlZGeOb/xW5Iffkto8VtFi9/4rcpIz5zf+C3JD78ltKxFAIGRBBToI+m7dknABswGrAzJ0gIbsISWgqGipWBQMFQZ6ZnzG78l+eG3hBa/VbT4jd+qjPTM+Y3fkvzwW0LLWgQQGElAgT6SvmuXBGzAbMDKkCjQE0Qr13rfvG9JmBx4EloKvYqWQk+hV2WkZ85v/Jbkh98SWvxW0eI3fqsyYo4AAvMgoECfx3Na27t04HHgScLvwJPQcuCpaDnwOPBUGemZ8xu/Jfnht4QWv1W0+I3fqoz0zPmN35L88FtCy1oEEBhJQIE+kr5rlwRswGzAypAsLbABS2gpGCpaCgYFQ5WRnjm/8VuSH35LaPFbRYvf+K3KSM+c3/gtyQ+/JbSsRQCBkQQU6CPpu3ZJwAbMBqwMiQI9QbRyrffN+5aEyYEnoaXQq2gp9BR6VUZ65vzGb0l++C2hxW8VLX7jtyoj5gggMA8CCvR5PKe1vUsHHgeeJPwOPAktB56KlgOPA0+VkZ45v/Fbkh9+S2jxW0WL3/itykjPnN/4LckPvyW0rEUAgZEEFOgj6bt2ScAGzAasDMnSAhuwhJaCoaKlYFAwVBnpmfMbvyX54beEFr9VtPiN36qM9Mz5jd+S/PBbQstaBBAYSUCBPpK+a5cEbMBswMqQKNATRCvXet+8b0mYHHgSWgq9ipZCT6FXZaRnzm/8luSH3xJa/FbR4jd+qzJijgAC8yCgQJ/Hc1rbu3TgceBJwu/Ak9By4KloOfA48FQZ6ZnzG78l+eG3hBa/VbT4jd+qjPTM+Y3fkvzwW0LLWgQQGElAgf4N+tdff3275JJL2plnntk+8IEPtCuuuKLtueee7aEPfWg76qij2j777NM2bdo08lmt5bVtwGzAkuDbgCW0FAwVLQWDgqHKSM+c3/gtyQ+/JbT4raLFb/xWZaRnzm/8luSH3xJa1iKAwEgCCvTW2nXXXddOPPHEdvzxx7cvfvGLbb/99mvf/d3f3a6++up22WWXtV122aW97GUva5s3b2477bTTyOe1dte2AbMBS0JvA5bQUjBUtBQMCoYqIz1zfuO3JD/8ltDit4oWv/FblZGeOb/xW5IffktoWYsAAiMJKNBbaxdccEF77GMf2+5zn/u0k046qd33vvddfNp8+lT6e9/73nbkkUe2r371q+2tb31re9CDHjTyea3dtW3AbMCS0NuAJbQUDBUtBYOCocpIz5zf+C3JD78ltPitosVv/FZlpGfOb/yW5IffElrWIoDASAJrX6BPxfjznve8xSfQ3/72t7dHP/rRWz2PG264oZ1xxhnt8MMPb89//vMXn1K/4x3vOPKZrdW1bcBswJLA24AltBQMFS0Fg4KhykjPnN/4LckPvyW0+K2ixW/8VmWkZ85v/Jbkh98SWtYigMBIAmtfoF9zzTXt2c9+drv88ssX33++99573+x5XHTRRe2BD3xgO+KIIxZF+8477zzyma3VtW3AbMCSwNuAJbQUDBUtBYOCocpIz5zf+C3JD78ltPitosVv/FZlpGfOb/yW5IffElrWIoDASAJrX6BvD/z3v//97cADD1Sgbw+sHbzGBswGLImUDVhCS8FQ0VIwKBiqjPTM+Y3fkvzwW0KL3ypa/MZvVUZ65vzGb0l++C2hZS0CCIwkoEAv6H/lK19pW7Zsaa9//esXX+Vy2GGHjXxea3dtGzAbsCT0NmAJLQVDRUvBoGCoMtIz5zd+S/LDbwktfqto8Ru/VRnpmfMbvyX54beElrUIIDCSgAJ9Bf3p+8/POeectnnz5sUvFj3rrLPa933f9418Xmt3bRswG7Ak9DZgCS0FQ0VLwaBgqDLSM+c3fkvyw28JLX6raPEbv1UZ6ZnzG78l+eG3hJa1CCAwkoAC/RboT+X5O9/5zvasZz1rseKNb3xj+8mf/Mlb9awuvfTSW/X3/KXWtpx/76EYTjjoE1tdf4/nPn3o/Vz5ylO3uv6+1x4w9H4+dpeLt7r+5k++fOj9nLbX84def+4X975t/QS9b6sT7X3re+O9b963JEHet4TWzdd637xvSYK8bwkt71tFy37SfrLKSDrff//9079iPQII7AACCvRtQLzuuuvam9/85kV5vssuu7RTTz21PexhD2ubNm26VcgV6LcK2+IvOfA48CTpceBJaDnwVLQceBx4qoz0zPmN35L88FtCi98qWvzGb1VGeub8xm9JfvgtofXfaxXoOTN/A4EdQUCBfhOKX/7yl9urX/3qdsIJJ7S73/3u7bTTTlt88vzWluc74iGt88/wnwBu/fT9J7er3wb/CWDf/2/hffO+JQnyviW0br7W++Z9SxLkfUtoed8qWvaT9pNVRnrm/MZvSX74LaFlLQIIjCSgQF+if/XVV7djjjlm8V3nD3jAA9rpp5/efvAHf3Dk81n7a9uA2YAlL4ENWEJLwVDRUjAoGKqM9Mz5jd+S/PBbQovfKlr8xm9VRnrm/MZvSX74LaFlLQIIjCSgQP8G/auuuqodeeSR7d3vfnc79NBDF59Av9vd7jby2bh2a80GzAYseRFswBJaCoaKloJBwVBlpGfOb/yW5IffElr8VtHiN36rMtIz5zd+S/LDbwktaxFAYCQBBXpr7TOf+Uw74ogjFuX5UUcd1V760pcuvvvcn/EEbMBswJIU2oAltBQMFS0Fg4KhykjPnN/4LckPvyW0+K2ixW/8VmWkZ85v/Jbkh98SWtYigMBIAmtfoH/9619vr3nNa9qWLVvar/7qry4+ef4d3/EdI5+Jay8RsAGzAUteCBuwhJaCoaKlYFAwVBnpmfMbvyX54beEFr9VtPiN36qM9Mz5jd+S/PBbQstaBBAYSWDtC/TLL7+8HXLIIe1jH/tY+RymT6mfeOKJbeeddy7XWrBjCNiA2YAlSbIBS2gpGCpaCgYFQ5WRnjm/8VuSH35LaPFbRYvf+K3KSM+c3/gtyQ+/JbSsRQCBkQTWvkB/z3ve0x71qEdt1zNQoG8Xph26yAbMBiwJlA1YQkvBUNFSMCgYqoz0zPmN35L88FtCi98qWvzGb1VGeub8xm9JfvgtoWUtAgiMJLD2BfpI+K5dE7ABswGrU/J/V9iAJbQUDBUtBYOCocpIz5zf+C3JD78ltPitosVv/FZlpGfOb/yW5IffElrWIoDASAIK9JH0XbskYANmA1aGZGmBDVhCS8FQ0VIwKBiqjPTM+Y3fkvzwW0KL3ypa/MZvVUZ65vzGb0l++C2hZS0CCIwkoEAfSd+1SwI2YDZgZUgU6AmilWu9b963JEwOPAkthV5FS6Gn0Ksy0jPnN35L8sNvCS1+q2jxG79VGTFHAIF5EFCgz+M5re1dOvA48CThd+BJaDnwVLQceBx4qoz0zPmN35L88FtCi98qWvzGb1VGeub8xm9JfvgtoWUtAgiMJKBAH0nftUsCNmA2YGVIlhbYgCW0FAwVLQWDgqHKSM+c3/gtyQ+/JbT4raLFb/xWZaRnzm/8luSH3xJa1iKAwEgCCvSR9F27JGADZgNWhkSBniBaudb75n1LwuTAk9BS6FW0FHoKvSojPXN+47ckP/yW0OK3iha/8VuVEXMEEJgHAQX6PJ7T2t6lA48DTxJ+B56ElgNPRcuBx4GnykjPnN/4LckPvyW0+K2ixW/8VmWkZ85v/Jbkh98SWtYigMBIAgr0kfRduyRgA2YDVoZkaYENWEJLwVDRUjAoGKqM9Mz5jd+S/PBbQovfKlr8xm9VRnrm/MZvSX74LaFlLQIIjCSgQB9J37VLAjZgNmBlSBToCaKVa71v3rckTA48CS2FXkVLoafQqzLSM+c3fkvyw28JLX6raPEbv1UZMUcAgXkQUKDP4zmt7V068DjwJOF34EloOfBUtBx4HHiqjPTM+Y3fkvzwW0KL3ypa/MZvVUZ65vzGb0l++C2hZS0CCIwkoEAfSd+1SwI2YDZgZUiWFtiAJbQUDBUtBYOCocpIz5zf+C3JD78ltPitosVv/FZlpGfOb/yW5IffElrWIoDASAIK9JH0XbskYANmA1aGRIGeIFq51vvmfUvC5MCT0FLoVbQUegq9KiM9c37jtyQ//JbQ4reKFr/xW5URcwQQmAcBBfo8ntPa3qUDjwNPEn4HnoSWA09Fy4HHgafKSM+c3/gtyQ+/JbT4raLFb/xWZaRnzm/8luSH3xJa1iKAwEgCCvSR9F27JGADZgNWhmRpgQ1YQkvBUNFSMCgYqoz0zPmN35L88FtCi98qWvzGb1VGeub8xm9JfvgtoWUtAgiMJKBAH0nftUsCNmA2YGVIFOgJopVrvW/etyRMDjwJLYVeRUuhp9CrMtIz5zd+S/LDbwktfqto8Ru/VRkxRwCBeRBQoM/jOa3tXTrwOPAk4XfgSWg58FS0HHgceKqM9Mz5jd+S/PBbQovfKlr8xm9VRnrm/MZvSX74LaFlLQIIjCSgQB9J37VLAjZgNmBlSJYW2IAltBQMFS0Fg4KhykjPnN/4LckPvyW0+K2ixW/8VmWkZ85v/Jbkh98SWtYigMBIAgr0kfRduyRgA2YDVoZEgZ4gWrnW++Z9S8LkwJPQUuhVtBR6Cr0qIz1zfuO3JD/8ltDit4oWv/FblRFzBBCYBwEF+jye09repQOPA08SfgeehJYDT0XLgceBp8pIz5zf+C3JD78ltPitosVv/FZlpGfOb/yW5IffElrWIoDASAIK9JH0XbskYANmA1aGZGmBDVhCS8FQ0VIwKBiqjPTM+Y3fkvzwW0KL3ypa/MZvVUZ65vzGb0l++C2hZS0CCIwkoEAfSd+1SwI2YDZgZUgU6AmilWu9b963JEwOPAkthV5FS6Gn0Ksy0jPnN35L8sNvCS1+q2jxG79VGTFHAIF5EFCgz+M5re1dOvA48CThd+BJaDnwVLQceBx4qoz0zPmN35L88FtCi98qWvzGb1VGeub8xm9JfvgtoWUtAgiMJKBAH0nftUsCNmA2YGVIlhbYgCW0FAwVLQWDgqHKSM+c3/gtyQ+/JbT4raLFb/xWZaRnzm/8luSH3xJa1iKAwEgCCvSR9F27JGADZgNWhkSBniBaudb75n1LwuTAk9BS6FW0FHoKvSojPXN+47ckP/yW0OK3iha/8VuVEXMEEJgHAQX6PJ7T2t6lA48DTxJ+B56ElgNPRcuBx4GnykjPnN/4LckPvyW0+K2ixW/8VmWkZ85v/Jbkh98SWtYigMBIAgr0kfRduyRgA2YDVoZkaYENWEJLwVDRUjAoGKqM9Mz5jd+S/PBbQovfKlr8xm9VRnrm/MZvSX74LaFlLQIIjCSgQB9J37VLAjZgNmBlSBToCaKVa71v3rckTA48CS2FXkVLoafQqzLSM+c3fkvyw28JLX6raPEbv1UZMUcAgXkQUKDP4zmt7V068DjwJOF34EloOfBUtBx4HHiqjPTM+Y3fkvzwW0KL3ypa/MZvVUZ65vzGb0l++C2hZS0CCIwkoEAfSd+1SwI2YDZgZUiWFtiAJbQUDBUtBYOCocpIz5zf+C3JD78ltPitosVv/FZlpGfOb/yW5IffElrWIoDASAIK9JH0XbskYANmA1aGRIGeIFq51vvmfUvC5MCT0FLoVbQUegq9KiM9c37jtyQ//JbQ4reKFr/xW5URcwQQmAcBBfo8ntPa3qUDjwNPEn4HnoSWA09Fy4HHgafKSM+c3/gtyQ+/JbT4raLFb/xWZaRnzm/8luSH3xJa1iKAwEgCCvSR9F27JGADZgNWhmRpgQ1YQkvBUNFSMCgYqoz0zPmN35L88FtCi98qWvzGb1VGeub8xm9JfvgtoWUtAgiMJKBAH0nftUsCNmA2YGVIFOgJopVrvW/etyRMDjwJLYVeRUuhp9CrMtIz5zd+S/LDbwktfqto8Ru/VRkxRwCBeRBQoM/jOa3tXTrwOPAk4XfgSWg58FS0HHgceKqM9Mz5jd+S/PBbQovfKlr8xm9VRnrm/MZvSX74LaFlLQIIjCSgQB9J37VLAjZgNmBlSJYW2IAltBQMFS0Fg4KhykjPnN/4LckPvyW0+K2ixW/8VmWkZ85v/Jbkh98SWtYigMBIAgr0kfRduyRgA2YDVoZEgZ4gWrnW++Z9S8LkwJPQUuhVtBR6Cr0qIz1zfuO3JD/8ltDit4oWv/FblRFzBBCYBwEF+jye09repQOPA08SfgeehJYDT0XLgceBp8pIz5zf+C3JD78ltPitosVv/FZlpGfOb/yW5IffElrWIoDASAIK9JH0XbskYANmA1aGZGmBDVhCS8FQ0VIwKBiqjPTM+Y3fkvzwW0KL3ypa/MZvVUZ65vzGb0l++C2hZS0CCIwkoEAfSd+1SwI2YDZgZUgU6AmilWu9b963JEwOPAkthV5FS6Gn0Ksy0jPnN35L8sNvCS1+q2jxG79VGTFHAIF5EFCgz+M5re1dOvA48CThd+BJaDnwVLQceBx4qoz0zPmN35L88FtCi98qWvzGb1VGeub8xm9JfvgtoWUtAgiMJKBAH0nftUsCNmA2YGVIlhbYgCW0FAwVLQWDgqHKSM+c3/gtyQ+/JbT4raLFb/xWZaRnzm/8luSH3xJa1iKAwEgCCvSR9F27JGADZgNWhkSBniBaudb75n1LwuTAk9BS6FW0FHoKvSojPXN+47ckP/yW0OK3iha/8VuVEXMEEJgHAQX6PJ7T2t6lA48DTxJ+B56ElgNPRcuBx4GnykjPnN/4LckPvyW0+K2ixW/8VmWkZ85v/Jbkh98SWtYigMBIAgr0kfRduyRgA2YDVoZkaYENWEJLwVDRUjAoGKqM9Mz5jd+S/PBbQovfKlr8xm9VRnrm/MZvSX74LaFlLQIIjCSgQB9J37VLAjZgNmBlSBToCaKVa71v3rckTA40KaICAAAgAElEQVQ8CS2FXkVLoafQqzLSM+c3fkvyw28JLX6raPEbv1UZMUcAgXkQUKDP4zmt7V068DjwJOF34EloOfBUtBx4HHiqjPTM+Y3fkvzwW0KL3ypa/MZvVUZ65vzGb0l++C2hZS0CCIwkoEAfSd+1SwI2YDZgZUiWFtiAJbQUDBUtBYOCocpIz5zf+C3JD78ltPitosVv/FZlpGfOb/yW5IffElrWIoDASAIK9JH0XbskYANmA1aGRIGeIFq51vvmfUvC5MCT0FLoVbQUegq9KiM9c37jtyQ//JbQ4reKFr/xW5URcwQQmAcBBfo8ntPa3qUDjwNPEn4HnoSWA09Fy4HHgafKSM+c3/gtyQ+/JbT4raLFb/xWZaRnzm/8luSH3xJa1iKAwEgCCvSR9F27JGADZgNWhmRpgQ1YQkvBUNFSMCgYqoz0zPmN35L88FtCi98qWvzGb1VGeub8xm9JfvgtoWUtAgiMJKBAH0nftUsCNmA2YGVIFOgJopVrvW/etyRMDjwJLYVeRUuhp9CrMtIz5zd+S/LDbwktfqto8Ru/VRkxRwCBeRBQoM/jOa3tXTrwOPAk4XfgSWg58FS0HHgceKqM9Mz5jd+S/PBbQovfKlr8xm9VRnrm/MZvSX74LaFlLQIIjCSgQB9J37VLAjZgNmBlSJYW2IAltBQMFS0Fg4KhykjPnN/4LckPvyW0+K2ixW/8VmWkZ85v/Jbkh98SWtYigMBIAgr0kfRduyRgA2YDVoZEgZ4gWrnW++Z9S8LkwJPQUuhVtBR6Cr0qIz1zfuO3JD/89v+3dy/AV1T3HcBPFKWE5qEEJRqKMSUQTVSq8VGpjkGYWjRRMfiOsfiABkjQiSU6xmLio5BgFOLbJNVoDCpqIm0CGmMrjVqsYB+RYapI4iOhkRZrjc90fme6zP3/uX/2v/cP3Pv/38+dYSLs3t2zn3M2Z+93z56toqV/K9PSv+nfytqI5QQI9A4BAXrvqKe2LaUfPH7wVGn8fvBU0fKDp0zLDx4/eMraSE+W69/0b1Xaj/6tipb+rUxL/6Z/K2sjPVmuf9O/VWk/+rcqWtYlQKCZAgL0Zurbd6mACzAXYKWNpGYFF2BVtAQMZVoCBgFDWRvpyXL9m/6tSvvRv1XR0r+Vaenf9G9lbaQny/Vv+rcq7Uf/VkXLugQINFNAgN5MffsuFXAB5gKstJEI0KsQbXJd55vzrUpj8oOnipZAr0xLoCfQK2sjPVmuf9O/VWk/+rcqWvq3Mi39m/6trI1YToBA7xAQoPeOemrbUvrB4wdPlcbvB08VLT94yrT84PGDp6yN9GS5/k3/VqX96N+qaOnfyrT0b/q3sjbSk+X6N/1blfajf6uiZV0CBJopIEBvpr59lwq4AHMBVtpIalZwAVZFS8BQpiVgEDCUtZGeLNe/6d+qtB/9WxUt/VuZlv5N/1bWRnqyXP+mf6vSfvRvVbSsS4BAMwUE6M3Ut+9SARdgLsBKG4kAvQrRJtd1vjnfqjQmP3iqaAn0yrQEegK9sjbSk+X6N/1blfajf6uipX8r09K/6d/K2ojlBAj0DgEBeu+op7YtpR88fvBUafx+8FTR8oOnTMsPHj94ytpIT5br3/RvVdqP/q2Klv6tTEv/pn8rayM9Wa5/079VaT/6typa1iVAoJkCAvRm6tt3qYALMBdgpY2kZgUXYFW0BAxlWgIGAUNZG+nJcv2b/q1K+9G/VdHSv5Vp6d/0b2VtpCfL9W/6tyrtR/9WRcu6BAg0U0CA3kx9+y4VcAHmAqy0kQjQqxBtcl3nm/OtSmPyg6eKlkCvTEugJ9ArayM9Wa5/079VaT/6typa+rcyLf2b/q2sjVhOgEDvEBCg9456attS+sHjB0+Vxu8HTxUtP3jKtPzg8YOnrI30ZLn+Tf9Wpf3o36po6d/KtPRv+reyNtKT5fo3/VuV9qN/q6JlXQIEmikgQK/RX716dZo3b15atGhRWrlyZRo1alSaOHFimjRpUho8eHAz66lt9+0CzAVYlcbvAqyKloChTEvAIGAoayM9Wa5/079VaT/6typa+rcyLf2b/q2sjfRkuf5N/1al/ejfqmhZlwCBZgoI0P9ff/ny5Wny5Mnp0UcfTSNGjEhDhw5Nq1atSs8++2waN25cmj9/fho+fHgz66ot9+0CzAVYlYbvAqyKloChTEvAIGAoayM9Wa5/079VaT/6typa+rcyLf2b/q2sjfRkuf5N/1al/ejfqmhZlwCBZgoI0FNKa9euTWeffXa6//770xVXXJFOO+201K9fv/TKK6+kOXPmpFmzZqWpU6em2bNnpwEDBjSzvtpu3y7AXIBVafQuwKpoCRjKtAQMAoayNtKT5fo3/VuV9qN/q6KlfyvT0r/p38raSE+W69/0b1Xaj/6tipZ1CRBopoAAPaW0cOHCNGHChDR9+vQckvfv339Dnaxfvz5NmzYtLVmyJN1zzz1p//33b2Z9td2+XYC5AKvS6F2AVdESMJRpCRgEDGVtpCfL9W/6tyrtR/9WRUv/Vqalf9O/lbWRnizXv+nfqrQf/VsVLesSINBMgbYP0F9//fU0c+bMPPJ88eLFaezYsRvVx80335xHpc+dOzfNmDGjmfXVdvt2AeYCrEqjdwFWRUvAUKYlYBAwlLWRnizXv+nfqrQf/VsVLf1bmZb+Tf9W1kZ6slz/pn+r0n70b1W0rEuAQDMF2j5AX7duXTr11FPTmjVr0oIFC9LIkSM3qo+lS5em0aNH52leImg3jcvWa7IuwFyAVWltLsCqaAkYyrQEDAKGsjbSk+X6N/1blfajf6uipX8r09K/6d/K2khPluvf9G9V2o/+rYqWdQkQaKZA2wfo8ZLQk046KdfBbbfdloYNG7ZRfaxcuTIdf/zxaciQIenWW29NgwYNamadtdW+XYC5AKvS4F2AVdESMJRpCRgEDGVtpCfL9W/6tyrtR/9WRUv/Vqalf9O/lbWRnizXv+nfqrQf/VsVLesSINBMgbYP0LsTjndnnWZWYl/etwswF2BV2rcLsCpaAoYyLQGDgKGsjfRkuf5N/1al/ejfqmjp38q09G/6t7I20pPl+jf9W5X2o3+romVdAgSaKSBA78bocgF685qoCzAXYFVanwuwKloChjItAYOAoayN9GS5/k3/VqX96N+qaOnfyrT0b/q3sjbSk+X6N/1blfajf6uiZV0CBJopIEDfCgH6fvvt18w6tm8CBAgQIECAAAECBAgQIECAAIFeLrBs2bJefgSKT6B3CrR9gP7888+nk08+OddezG++yy67bFSTxQj0D3zgA+mWW25JO+ywQ6XaFqBX4rIyAQIECBAgQIAAAQIECBAgQIBAJwEBuiZBoDkCbR+gr1u3Lp166qlpzZo1acGCBWnkyJEb1cTSpUvT6NGj09lnn52uuOKKNGDAgObUlr0SIECAAAECBAgQIECAAAECBAgQIECAwFYTaPsA/fXXX08zZ87MwfjixYvT2LFjN8K/7rrr0uTJk9PcuXPTjBkztlrl2BEBAgQIECBAgAABAgQIECBAgAABAgQINE+g7QP0oF+4cGGaMGFCmj59epo9e3bq37//hhpZv359mjZtWlqyZEm655570v7779+82rJnAgQIECBAgAABAgQIECBAgAABAgQIENhqAgL0lNLatWvz9Cz3339/Hol+yimn5BD9lVdeSXPmzEmzZs0yfctWa5J2RIAAAQIECBAgQIAAAQIECBAgQIAAgdYQEKD/fz387Gc/S1OmTEkrVqxII0aMSEOHDk2rVq1Kzz77bBo3blyaP39+Gj58eGvUmlIQIECAAAECBAgQIECAAAECBAgQIECAwBYXEKDXEK9evTrNmzcvLVq0KK1cuTKNGjUqTZw4MU2aNCkNHjx4i1eGHRAgQIAAAQIECBAgQIAAAQIECBAgQIBA6wgI0FunLpSEAAECBAgQIECAAAECBAgQIECAAAECBFpIQIDeQpWhKAQIECBAgAABAgQIECBAgAABAgQIECDQOgIC9NapCyUhQIAAAQIECBAgQIAAAQIECBAgQIAAgRYSEKC3UGUoCgECBAgQIECAAAECBAgQIECAAAECBAi0joAAvXXqQkkIECBAgAABAgQIECBAgAABAgQIECBAoIUEBOgtVBmKQoAAAQIECBAgQIAAAQIECBAgQIAAAQKtIyBAb526UBICBAgQIECAAAECBAgQIECAAAECBAgQaCEBAXoLVYaitK/AW2+9lS688MJ02WWXdYlw9tlnpyuuuCINGDBgwzpvv/12euihh9I111yTHnjggfTGG2+kgw8+OJ1xxhnpyCOPTP37929fVEdOoJPAk08+mU444YR0wQUXpJNPPrlLn7Vr16abbropLViwID3xxBNpxIgRafz48WnatGlpt912q/u91157Ld13333pxhtvTEuXLk3bbbddGjNmTJoyZUo69NBD0zbbbKM+CLSVQHfOt1jnuOOOS6tWrerS5uGHH879Wu3H+dZWTcnB1hF45ZVX0r333ptuueWW3Oe8/PLLadSoUWnixIlp0qRJafDgwXXdVq9enebNm5cWLVqUVq5c2a3vON80wXYXaOR8a7R/a+QatN3rx/ETIEBgawkI0LeWtP0Q2ITAf//3f+fQ+8477+x2gB6h+3e/+90c6sUPpwMPPDCHdsuXL89/P//88/OfgQMHsifQ9gIR0E2dOjUtXrw4nzddBei//OUv0+TJk3O4MGzYsDR8+PD0i1/8IgcNe++9d75ZddBBB20U5s2ePTt9+ctfTu9617vSPvvsk29mPfLII/nvl156ad5mv3792r4eALSHQHfPtx/84AfpU5/61CZROgfoEeY539qjHTnK+gK/+tWv8rXfHXfcsaHPiQETcd49++yzXfZVcX0YfdGjjz6abwwPHTp0w3fGjRuX5s+fn/u8zjernG9aYjsLNHq+NdK/NXIN2s5149gJECCwtQUE6Ftb3P4I1BGIHzwnnXRS2mWXXfII1ve85z2lTjHiKELAIUOGpG9+85tp3333zd95+umn0/Tp09Pf//3fp+uvvz6PuPUh0K4Cv/vd79I//uM/ps997nNpxYoVmaGrAP3VV19N5513Xg4R/uqv/ir/dzzxEYFdfGfGjBnp8MMPT9ddd12H0X233357Ouuss9IhhxySz8UI3mO/y5YtyyHHiy++mG699daNRtG2a5047r4rUOV8C4V4quqcc87JI2k/+clPdgvG+dYtJiv1UYE333wzXXTRRfnG7JlnnpkuueSSDf1RjJKdM2dOmjVrVj6fbrjhhrTTTjtliRjVGk8y3n///fm8O+200/JN3drvxE3mCMtrn3R0vvXRhuSwuiXQ6PnWSP/W6DVotw7ESgQIECCwWQQE6JuF0UYI9EwgRqrG6J/48fKVr3wlbbvttpvcYAR6Ee5dddVV6a677krHHntsh/WLR+dHjhyZp6LYYYcdelZA3ybQCwVeeOGFdOWVV6arr746lz5CgV//+tddBuiPPfZYOvroo/PTHJ3Pm9ofUbXn3Lp16/Lj8nEO33PPPWn//ffvIBUj3mOKitNPPz0HE6ZV6oUNSZG7JVD1fPvtb3+bzj333LRkyZL89NVee+1Vuh/nWymRFfq4QDHgIp5C/N73vpc++MEPdjji9evX5xu3N998c37iauzYsXn5woUL04QJE/IAi859UfGdOBdr+zHnWx9vTA6vVKDR862R/q2Ra9DSA7ACAQIECGxWAQH6ZuW0MQKNCXz/+9/PI8WvvfbaPEKo7FNc0G2//fZ5ZGuMXK/9/O///m/6/Oc/n6eh+OEPf7hhdHrZdi0n0FcEYiRPjBiP0eIf//jH0+WXX55iKogYudfVCPRiNGxX52E81RHzmcd2Y3tx/j3++OPpqKOOyiPTY/R5TNlS+4lRf/F0SZyTt912Wx6d7kOgrwk0cr5FOHfqqafmEbD1+rF6Rs63vtZyHE9VgTgHog/ac88909y5czuMFi+2FQMxYkqxoq97/fXX08yZM/PI89pQvXbfEbjHqPTYZmw/Ps63qrVj/b4m0Mj5FgaN9G+NXIP2NW/HQ4AAgVYXEKC3eg0pX58XiEfe43Hb+BM/bP7zP/8zj5qNOSoPOOCA/IPmM5/5TIe5zIsR68cff3xe953vfOdGTp1/QPV5SAdIoEYgAr1vfOMb+QVphx12WB75valzohgtFKPV48W8MR1L50/Mgx7nXEybFIHfoEGDUnHzK4L5+POOd7yjw9dqg8V6L0NUaQT6gkDV8y2O+amnnsovPIx+7gtf+ELuy+LpjvjEvOhxEzhGpdeeU863vtBaHMOWFKh9KX0RoBdh3po1a/LLsePpxM6fmBZw9OjReRBH8cJ659uWrCnb7gsC9c63Rvq3Rq9B+4KhYyBAgEBvEhCg96baUtY+KVA7WjwexY1QIV5WGFNGFC8EHT9+/Ia5lQOheDFN7UjYzjgR8J1yyinp4osvThdeeGGftHNQBKoIbCpAL17kGyFCV09t/OY3v8nvHYg5zSNYiJewFSOGakftdS6Tm1lVasm6fUWgrN0XT3TETa7oB+NG8ODBg/NLEONmVTzNUTtXc7g43/pK63AcW0rgmWeeSSeeeGKKaVniJaMxUr14ajH22dWTUPVuEDvftlQt2W5fEah3vsWxVe3fGr0G7SuOjoMAAQK9RUCA3ltqSjn7rMDzzz+fQ7mf/vSnG70QKt7Gfv7556dbbrklL4sfMwMHDsyjX8vC8e6s02dRHRiBOgKbCvTqheOdN1FvnbKQMLbRnXVUGIG+JlDW7mN6pcmTJ+dpjWL6oyOOOCJts802+eZxzNcc7/mIqSdiFO0nPvGJzFO2ze6u09esHQ+BEIjpkOK8iSep4toxnmyMF4XWC8c7i9Vbx/mmXRHoWqCr8y2+UbV/a/QaVP0QIECAwNYVEKBvXW97I7CRQPxoiR888SMnfvTsvPPOHdZ57rnn8jyxy5YtS3fffXcaM2aMAF07ItCAgAC9ATRfIdCgwKbOt7fffjvfEI6XIJ5zzjl5xGztVC0xtdmNN96YzjrrrPTZz342zZ8/P988Fug1WBm+1ucFIsy79NJL85+YAikCvOJ6UoDe56vfAW5lgU2db430bzGFS+cnHDsfUndC9q3MYHcECBBoOwEBettVuQPubQIRJFxyySV5Gpb4YfSlL31JgN7bKlF5W0JAgN4S1aAQbSLQnbB7UxRF6Bc3l2+//fb0h3/4hwL0Nmk7DrOawEsvvZSvEWMQRucp/2JLAvRqntYmsCmBsvOtO3qd+7cddthBgN4dOOsQIECgyQIC9CZXgN0T6I5A5+lYlixZksaNG5fD9Agptt122402U3ynCN27sx/rEOjLApsK9F5++eX0uc99LsULeu+888788sLOn2L0T7zotwj0isd0r7322vzytXqfYr/xnXgJqQ+BdhDoaYBeb7Sd860dWo5jrCIQ85vH+3DiCcVPf/rT+cmOXXfdtcMmiqkC4x/j2nCXXXbZaBdFoPeBD3wgTxsYgZ7zrUpNWLcdBLpzvnXHoXP/FudkI9eg3dmXdQgQIEBg8wkI0DefpS0RaFjg1Vdfzd8dMGBA3W3cfPPN6bTTTtvwQtAI+SJAjzDuyiuvzC9f6/zpaXjR8MH4IoEWFdjUORGPz5577rl5BN9DDz2UDjnkkC4DhiFDhuQQYtCgQflloieccEK66KKL8p/aaShiA3FuR7gRQcTDDz+cDj744BbVUSwCm1egrA+Kx9zjxlW8LDTmPu/8Wbt2bTrppJNS/G/x0l7n2+atI1vr3QI/+9nP0pQpU9KKFSvStGnT8tOKcT51/qxbty5PBbhmzZq0YMGCNHLkyI3WiRdojx49Ot8IjhA+rkedb727fSj95hXo7vkWe63av8W7QBq5Bt28R2hrBAgQIFAmIEAvE7KcwBYWiB8qMQdsVwHcW2+9lR/Nveyyy/LL1GKOvBgBEcHC9ttvX3c0UTGa9v77708//OEP07777ruFj8LmCbS+QFmgV5yLXY0mL578iED88ssvz+ff448/no466qh0+OGH5xchdg4vipF/8TLE2267Lb8w0YdAOwhs6nwr+rDoq7oK9J588sl03HHHpQ996EN5ROz73vc+51s7NBzHWCoQU/s9+OCD6c///M9TTCcRwXm8L6B///51vxv9z8yZM3Mwvnjx4jR27NiN1itGm8+dOzff9I2P/q20KqzQBgJVz7dG+7dGrkHbgN8hEiBAoKUEBOgtVR0K044CDzzwQDrmmGPSfvvtl0OCzo/e/vznP88vWIsfQHfccUfac88902uvvZZfPHrVVVelu+66Kx177LEd6CJ4iFGxMcropptuyo/i+hBod4GyAP2xxx5LRx99dDrwwAM3Om/efPPNfJMrpkSqPediZN+kSZPy1C/33HNP2n///TswR1gRIeDpp5+eZs+e3WXA0e514/j7nsCmzrd4AdvUqVPTd77znXT99denM844o8PTG3G+xU2quHkcf+Lci6nKnG99r504ouoC8ZRUPJUYN6DmzZuXr/fqPcVRu+WFCxemCRMmpOnTp2/UF61fvz6PYI+bxLX9mPOtet34Rt8TqHq+Ndq/NXIN2ve0HREBAgRaW0CA3tr1o3RtIFD8cIlpWs4888w8kmjw4MH5yJ966qn0+c9/Po8YivAtRqoX853H47YxGj2mk4gfUBHAx/QRTz/9dP6BtGjRog0j1tuA0SESKBUoC9BjupW4MTV//vwc2H3xi19MAwcOzDes4umPGJV32GGHpRtuuCHttNNOG/YXc5vH6L+Y9iVuau2+++4pRiwtW7YshxLx2HysU29amNJCW4FALxUoO9+Km0s77rhjfnrjiCOOyCFgnG8Rql9wwQVpjz32yDeWhw8f7nzrpe1AsTevQExpFNOsxBOG8bRUDLDoPHVYvT3Wfi9Gup5yyin5hm6EfXPmzEmzZs3qMH1LsQ392+atP1vrXQKNnm+N9G+NXoP2LlGlJUCAQO8WEKD37vpT+j4isGrVqjwaLy64IkzYe++989zJMao1Pueff37+E2Fe8YkRevHjKf49RiHFqNntttsuLV++PP+93nf6CJfDINCQQFmgFxutPRdjupUI7n7xi1+keMFanJfXXHNNOuiggzrsPwKIGJkef2IKl3322Se98cYb+fyNv8e/T548OfXr16+hcvsSgd4oUHa+de7DRo0ald8rEOdgPALvfOuNta7MW1qgeEF8d/ZTTPtXrFs7h/OIESPS0KFDN5xv8V6duHlce7Mqvqd/6460dfqqQKPnW6P9WyPXoH3V3nERIECgFQUE6K1YK8rUlgLxIyVGocdLm+JxwQjSx4wZk18Qdeihh9Z9PDdeUhPrRqgXU8FEaBcvKYzH4Y888kjTRbRlS3LQXQmUBXrF92LEUUx9FHMzP/HEEymChvHjx+fR5Lvttlvdzceo2fvuuy/deOONKZ4OiZtZZeevmiLQlwW6c77Fkxox5Vg8RRUjaiM4jyB94sSJeWqk4mmszk7Ot77cchxbVwK1c5l3R6lzgB7fWb16dT7f4inFuDHsfOuOpHXaUaCn51uj/Vsj16DtWD+OmQABAs0QEKA3Q90+CRAgQIAAAQIECBAgQIAAAQIECBAgQKDlBQToLV9FCkiAAAECBAgQIECAAAECBAgQIECAAAECzRAQoDdD3T4JECBAgAABAgQIECBAgAABAgQIECBAoOUFBOgtX0UKSIAAAQIECBAgQIAAAQIECBAgQIAAAQLNEBCgN0PdPgkQIECAAAECBAgQIECAAAECBAgQIECg5QUE6C1fRQpIgAABAgQIECBAgAABAgQIECBAgAABAs0QEKA3Q90+CRAgQIAAAQIECBAgQIAAAQIECBAgQKDlBQToLV9FCkiAAAECBAgQIECAAAECBAgQIECAAAECzRAQoDdD3T4JECBAgAABAgQIECBAgAABAgQIECBAoOUFBOgtX0UKSIAAAQIECBAgQIAAAQIECBAgQIAAAQLNEBCgN0PdPgkQIECAAAECBAgQIECAAAECBAgQIECg5QUE6C1fRQpIgAABAgQIECBAgAABAgQIECBAgAABAs0QEKA3Q90+CRAgQIAAAQIECBAgQIAAAQIECBAgQKDlBQToLV9FCkiAAAECBAgQIECAAAECBAgQIECAAAECzRAQoDdD3T4JECBAgAABAgQIECBAgAABAgQIECBAoOUFBOgtX0UKSIAAAQIECBAgQIAAAQIECBAgQIAAAQLNEBCgN0PdPgkQIECAAAECBAgQIECAAAECBAgQIECg5QUE6C1fRQpIgAABAgQIECBAgAABAgQIECBAgAABAs0QEKA3Q90+CRAgQIAAAQIECBAgQIAAAQIECBAgQKDlBQToLV9FCkiAAAECBAgQIECAAAECBAgQIECAAAECzRAQoDdD3T4JECBAgAABAgQIECBAgAABAgQIECBAoOUFBOgtX0UKSIAAAQIECBAgQIAAAQIECBAgQIAAAQLNEBCgN0PdPgkQIECAAAECBAgQIECAAAECBAgQIECg5QUE6C1fRQpIgAABAgQIECBAgAABAgQIECBAgAABAs0QEKA3Q90+CRAgQIAAAQIECBAgQIAAAQIECBAgQKDlBQToLV9FCkiAAAECBAgQIECAAAECBAgQIECAAAECzRAQoDdD3T4JECBAgAABAgQIECBAgAABAgQIECBAoOUFBOgtX0UKSIAAAQIECBAgQIAAAQIECBAgQIAAAQLNEBCgN0PdPgkQIECAAAECBAgQIECAAAECBAgQIECg5QUE6C1fRQpIgAABAgQIECBAgAABAgQIECBAgAABAs0QEKA3Q90+CRAgQIAAAQIECBAgQIAAAQIECBAgQKDlBQToLV9FCkiAAAECBAgQIECAAAECBAgQIECAAAECzRAQoDdD3T4JECBAgAABAgQIECBAgGSZmEQAABU8SURBVAABAgQIECBAoOUFBOgtX0UKSIAAAQIECBAgQIAAAQIECBAgQIAAAQLNEBCgN0PdPgkQIECAAAECBAgQIECAAAECBAgQIECg5QUE6C1fRQpIgAABAgQIECBAgAABAgQIECBAgAABAs0QEKA3Q90+CRAgQIAAAQIECBAgQIAAAQIECBAgQKDlBQToLV9FCkiAAAECBAgQIECAAAECBAgQIECAAAECzRAQoDdD3T4JECBAgAABAgQIECBAgAABAgQIECBAoOUFBOgtX0UKSIAAAQIECBAgQIAAAQIECBAgQIAAAQLNEBCgN0PdPgkQIECAAAECBAgQIECAAAECBAgQIECg5QUE6C1fRQpIgAABAgQIECBAgAABAgQIECBAgAABAs0QEKA3Q90+CRAgQIAAAQIECBAgQIAAAQIECBAgQKDlBQToLV9FCkiAAAECBAg0Q+ArX/lK+vKXv5w+9alPpeuuuy7tvPPOXRZj6dKlafTo0enss89OV1xxRRowYEAzilx3nytXrkzHH398GjJkSLr11lvToEGDWqZsm6MgL774Yvr617+e7rjjjvTss8+mUaNGpZtvvjl99KMfrbv5V199Nc2YMSPX6V/8xV+k2bNnp4EDB3ZZlDA75ZRT0sUXX5wuvPDCzVHkLrdRtLnvfve76eSTT96i+7JxAgQIECBAgAABAgS6JyBA756TtQgQIECAAIE2EyjCzDjsyy+/PJ177rmpX79+dRUE6M1pHK+88kqaOnVq+s53vpOGDRuWhg8fnm8QRCj+B3/wB6UB+rve9a507bXXphNPPDG94x3vqLu+AL05dWuvBAgQIECAAAECBFpFQIDeKjWhHAQIECBAgEBLCdQG6BHO/s3f/E069NBDBegtVEu/+c1v8kjt//qv/0rf+9730gc/+MHS0tWOQI+VDzjggPTtb387feQjHxGgl+pZgQABAgQIECBAgED7CQjQ26/OHTEBAgQIECDQDYEiQH//+9+fXnjhhTR+/Ph044035qlQOn+MQO8G6BZYpQjQY9PdnZ6mNkAv6vbMM8/MU+/Um8rFCPQtUHE2SYAAAQIECBAgQKAXCQjQe1FlKSoBAgQIECCw9QSKAH3+/Pnpsccey/Nqx7/NnDlzo6lcugrQy+a0rre8mLP8wAMPzFPH/N3f/V268sor06OPPppGjBiRpkyZks4444wc9v7Lv/xLDn7vvffeDBPztX/pS1/KU5kUn9o50L/1rW+lH/3oR+n666/P24vR16eddlr6zGc+Uzc8fvvtt9NDDz2UrrnmmvTAAw+kl156KY/CjznV632nOJ6f/vSn6amnnkqXXXZZLsYJJ5yQ/vIv/zLtsMMOm6zA1157LT344IMpyrmp/RXB+Y9//OONtlc2f3htgB6j1sMi9nnLLbfk0eydp3LZVIDe3fLWFrIwveqqq/Ix7rjjjnmO9XPOOSd985vfzPPu1zuG2Nd9992Xb+JEe4vPwQcfnNvCkUcemfr379/Bol7dxfzwxx57bK67rqa42XpnmD0RIECAAAECBAgQ6B0CAvTeUU9KSYAAAQIECGxlgdpw+2Mf+1gOgWOqkAg3P/GJT3QozZYI0D/84Q/nUDT2F2H6dtttl5YvX55efvnlPB/72LFj80tLf+/3fi8NHTo0rVq1Kr9EM0LxCIOLEL0I0KPAH/rQh9LChQvzizbf+973phUrVuRQvN6LUmN+8UsvvTT/iU+U4fd///c37GfcuHEpbi7UhvWFWQTCixcvzoH/G2+8kYPeSy65ZKOQtxZx7dq1+bii7DE3+T777JNvVBRljG3cdNNNeZvr1q1L5513XvqP//iPvDw+e++9dzaKF4PG8XT1qQ3QH3744RTHedxxx6Xdd989TwPTeSqXrgL0KuUtyvLmm2/mF57GTZjCNF44G8fwJ3/yJ/kGQ8zn3jlAL9vXqaeemrc7ePDgvN3a/RSWsZ9oH9EewipuCO21115b+ayyOwIECBAgQIAAAQK9T0CA3vvqTIkJECBAgACBrSBQG6CfdNJJeeTvWWedlQ477LAc8u66664bSrElAvQIVSMMnzdvXtpvv/3yyOh//ud/zqOVf/nLX+YwO8oYf4+gPYL1GMUc5YwXY0a4Hp8iQI/tRfgcQesRRxyRttlmmxTB7AUXXJBuuOGGHF4XIffvfve7FCOkv/CFL+Spa+K/I2COTwTOMSL94osvTsccc0wu37vf/e68rHbamwhox4wZsyHQjXC7q08EvhdddFEO62ObX/va1zbsL44r/j1G48ey6667bkNQ3NMpXCJAD+Ni3zEyu/Z4orz1AvRGyxtPCkTYvccee3So1xdffDHfEIh2FZ/aAD1GnkcdRb3FVDNRR0VQHvUXL0wNr/PPPz/NmjUr33T4t3/7t/TpT386xU2YGNVetNXY1ty5c/O606dPz9/tPHJ9K5xadkGAAAECBAgQIECgVwkI0HtVdSksAQIECBAgsLUEOk+vEsHxjBkzcthcG1ZGebZUgH7XXXflKTeKz29/+9scdF999dV1A9Af/OAHefR1lDMC5+23375DgF5vapDnnnsuh7oR4t5xxx1pzz33zCOV46ZBHHO9UdnFKO7bbrst3X333RuC8sIswvuYWiZGPXfnUwS+Ud7vf//7Oeiv/axfvz5NmzYtj5quNdkcAXqMbI9jj6lQFi1alKd0if8upnKpF6A3Ut6wnDp1ai7/nXfemWIEf+3nmWeeSSeeeGKeWqe2nh5//PF01FFHpT/6oz+qOwf/r3/96xysxxMIRf0V7TFuDMSf2mlpnn/++TRp0qS08847pzlz5mwI47tTT9YhQIAAAQIECBAg0I4CAvR2rHXHTIAAAQIECJQK1Juf/Oc//3kOOZ9++ukOIeiWCNCjgPXC5E3Nq16vHMUI9JgeJMLgXXbZpcOxx2jzGLkcf26//fY8v/mSJUtywFsbxHcGi7LFtDYxOjzmXY9PUbbafyuFTikH4zEXe2wntrHttttu9LV6Nwc2V4AeO/vJT36SR/PH1DbhUExvUi9Ab6S8a9asyV5RD3HjoRhFXhzoW2+9lS688MI8b3xtgB4j7idPnpxHjkd91PvEd+KmTlF/Rei+0047Zc+YcqjeC1K7UzfWIUCAAAECBAgQINDuAgL0dm8Bjp8AAQIECBCoK1AvqI6wOQLVGLEdI5cj6Nxtt922yAj0IUOG5H0NGjSoQ/kaDdA//vGP55eRvvOd79zoeDuHxEVoGyPBhw0bVtcnRoU/8sgjeaqYYrR52UtTu2pq3fleEQqHe0xT8573vCdtzgA9pmWJUfsRYsf0J2FQ3HSIYD2mrIll8WmkvHHzJW5KxMj+rkbnF8F8EaDXhuoxb33n0L3wjKlcnnjiiQ1ljCcEIlD/xje+kVeJedDD7ZOf/GT6sz/7szxnfkzh40OAAAECBAgQIECAQLmAAL3cyBoECBAgQIBAGwp0FZLWTuVSzBu+bNmyNHr06A5hcneC1nr7KEaMb+4APV4C2lVw2zlAL8rVnWrfWgF6PZfNGaDHsdZO5RLhc8wTHqPFGwnQO5f3qaeeqttGao2LeigC9NoXnnanLmpD/pjv/L777svz1T/wwAMdvh4vLI2bBQcddFCH6V26sw/rECBAgAABAgQIEGg3AQF6u9W44yVAgAABAgS6JbCpUcYxmvj0009P//7v/55f/Pi+972v5QP07oxAL6ZeiaA9XkhadSqW7ozMroffne8VI9APP/zw/GLMGFW9uQP0KNtDDz2Up5OJT8xVHkF4IwF65/LGvOkxAj2myCl7EqAI0F9//fU0c+bMfOOjmJ6lW42300rr1q1L//RP/5QD9ZgKJ+a4/8hHPrJhzvRGtuk7BAgQIECAAAECBNpFQIDeLjXtOAkQIECAAIFKApsKdWMql3i5ZsxNvccee+SXTsaLHDu/PHNT26gNR2vnvN5SI9Bj+o+yubeLkLaYb7zqy0C7E4TXq4Ri5PWm5kBfuHBhmjBhQod52bdEgB5TuXz961/PwfUxxxyT/viP/zh98Ytf7DCFSyPlfeGFF/L0LfGi1LK56GvbQ3EzI2wvuOCCHo8Yf/nll/PNkZgGp95LZSudJFYmQIAAAQIECBAg0AYCAvQ2qGSHSIAAAQIECFQXKAuDYyqX8847L1199dXp/e9/f4qAtHPgXMxpXS/8fO655/Jc6g8++GCHIHNLBeidX3xaiKxevTqPsP6f//mfDS8tfeaZZ/LLUmOe89oXahbfibm5Z8+enUcwx2jtadOm5Tm1y8y6qoUYnR3zjke4XO/FqVGO2Ed41oa+WyJAjzL+6le/ynV57733bqjb2ulRGilvTKkS7eWqq65Kd911Vzr22GM7cHTVHh577LF09NFHp5EjR+anHXbdddcO3yumeVmxYkWKKYWOO+64NG/evHyzJIL/zvuJLzdaT9XPIt8gQIAAAQIECBAg0PsFBOi9vw4dAQECBAgQILAFBLoTMhZTuTz66KO5BJ0D9KVLl6Yjjjgij1KPaUf23XffvF689DFGE99www3571tjBHoErAcccEAOV/fbb788kjnm/I5QN4LZCMRjZPK2226bIiCfO3duXhbTjlx22WUpXmIZ34kR2jEaPJbFJ6Y5ie31JJiNbV500UV5ypgY9f21r30t7b777nmbMWI6/j3m7I5l8XLP4mWaWypAj/0WU7nEdCfxqQ3QGy1vtIeTTz45vfe9783tIUa3h+mm2kME5GE9f/78fFMjLOLFtfGJZddff31+uelee+214aW2Med5WEW7i+Uf+9jHNoxc/9d//df8xETUfW3dbYFTyCYJECBAgAABAgQI9AkBAXqfqEYHQYAAAQIECGxuge4E6LVTuUTQ2zlArw0/Y87uffbZJxdz+fLl+QWOEUr/9V//9VYJ0D/84Q+n/v37533FC0UHDBiQIlR/6aWX0pQpU3I5oozFJ0bYR8gf83XHJ77z7ne/O8+fHaPkd9xxxxwCx5zeEQLHpztmXdVThMgxgjrC/MKqX79+G8p48MEHp5tuuimNGDFiwya2ZIBeO5VL7LA2QI+/N1Lezu0l6j/C9KiH+Oy5557pH/7hHzaaWiVGxMcI/BjxX9hEXa5atSrXR5hEUH7IIYfk7US7++pXv5rD9vjEfuKmQ4zkf+SRR/I2YllMQRTGPgQIECBAgAABAgQIdC0gQNc6CBAgQIAAAQJ1BLobBteG5PXmDI/lCxYsSN/+9rfzqOYIOz/72c+mSZMmpcWLF+fpU7bGCPQIwCNUjfm3r7nmmhyCjxkzJofnRx55ZA7XO38iRI4yx6jvGNUcYXuUf/z48TnQLUZCF9/rrllXDS6mOfnbv/3bPL98sb8oY4y8PuGEE9LAgQM7fHVLBuixowjJo07vvvvujQL0WF61vPGdCNGffPLJfGMipoh544030p/+6Z/mOdfjpbQxrU+9ucmjHcVLQL/1rW+lGMkeN2wiGJ84cWJuS8Wo/AIoyhbTA0W7iyckImgfNmxYipewRt3FiPXixof/AyBAgAABAgQIECBAQICuDRAgQIAAAQIECBAgQIAAAQIECBAgQIAAgUoCRqBX4rIyAQIECBAgQIAAAQIECBAgQIAAAQIECLSLgAC9XWracRIgQIAAAQIECBAgQIAAAQIECBAgQIBAJQEBeiUuKxMgQIAAAQIECBAgQIAAAQIECBAgQIBAuwgI0Nulph0nAQIECBAgQIAAAQIECBAgQIAAAQIECFQSEKBX4rIyAQIECBAgQIAAAQIECBAgQIAAAQIECLSLgAC9XWracRIgQIAAAQIECBAgQIAAAQIECBAgQIBAJQEBeiUuKxMgQIAAAQIECBAgQIAAAQIECBAgQIBAuwgI0Nulph0nAQIECBAgQIAAAQIECBAgQIAAAQIECFQSEKBX4rIyAQIECBAgQIAAAQIECBAgQIAAAQIECLSLgAC9XWracRIgQIAAAQIECBAgQIAAAQIECBAgQIBAJQEBeiUuKxMgQIAAAQIECBAgQIAAAQIECBAgQIBAuwgI0Nulph0nAQIECBAgQIAAAQIECBAgQIAAAQIECFQSEKBX4rIyAQIECBAgQIAAAQIECBAgQIAAAQIECLSLgAC9XWracRIgQIAAAQIECBAgQIAAAQIECBAgQIBAJQEBeiUuKxMgQIAAAQIECBAgQIAAAQIECBAgQIBAuwgI0Nulph0nAQIECBAgQIAAAQIECBAgQIAAAQIECFQSEKBX4rIyAQIECBAgQIAAAQIECBAgQIAAAQIECLSLgAC9XWracRIgQIAAAQIECBAgQIAAAQIECBAgQIBAJQEBeiUuKxMgQIAAAQIECBAgQIAAAQIECBAgQIBAuwgI0Nulph0nAQIECBAgQIAAAQIECBAgQIAAAQIECFQSEKBX4rIyAQIECBAgQIAAAQIECBAgQIAAAQIECLSLgAC9XWracRIgQIAAAQIECBAgQIAAAQIECBAgQIBAJQEBeiUuKxMgQIAAAQIECBAgQIAAAQIECBAgQIBAuwgI0Nulph0nAQIECBAgQIAAAQIECBAgQIAAAQIECFQSEKBX4rIyAQIECBAgQIAAAQIECBAgQIAAAQIECLSLgAC9XWracRIgQIAAAQIECBAgQIAAAQIECBAgQIBAJQEBeiUuKxMgQIAAAQIECBAgQIAAAQIECBAgQIBAuwgI0Nulph0nAQIECBAgQIAAAQIECBAgQIAAAQIECFQSEKBX4rIyAQIECBAgQIAAAQIECBAgQIAAAQIECLSLgAC9XWracRIgQIAAAQIECBAgQIAAAQIECBAgQIBAJQEBeiUuKxMgQIAAAQIECBAgQIAAAQIECBAgQIBAuwgI0Nulph0nAQIECBAgQIAAAQIECBAgQIAAAQIECFQSEKBX4rIyAQIECBAgQIAAAQIECBAgQIAAAQIECLSLgAC9XWracRIgQIAAAQIECBAgQIAAAQIECBAgQIBAJQEBeiUuKxMgQIAAAQIECBAgQIAAAQIECBAgQIBAuwgI0Nulph0nAQIECBAgQIAAAQIECBAgQIAAAQIECFQSEKBX4rIyAQIECBAgQIAAAQIECBAgQIAAAQIECLSLgAC9XWracRIgQIAAAQIECBAgQIAAAQIECBAgQIBAJQEBeiUuKxMgQIAAAQIECBAgQIAAAQIECBAgQIBAuwgI0Nulph0nAQIECBAgQIAAAQIECBAgQIAAAQIECFQSEKBX4rIyAQIECBAgQIAAAQIECBAgQIAAAQIECLSLwP8BbwbcB7WgNf4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7" name="Picture 16" descr="Average Residual Energy vs No. of 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03" y="1784516"/>
            <a:ext cx="5544955" cy="3182387"/>
          </a:xfrm>
          <a:prstGeom prst="rect">
            <a:avLst/>
          </a:prstGeom>
        </p:spPr>
      </p:pic>
      <p:pic>
        <p:nvPicPr>
          <p:cNvPr id="18" name="Picture 17" descr="Minimum Residual Energy vs No. of 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114" y="1697888"/>
            <a:ext cx="5460634" cy="313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8529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: </a:t>
            </a:r>
            <a:r>
              <a:rPr lang="en-US" sz="2000" dirty="0" smtClean="0">
                <a:latin typeface="Times New Roman"/>
                <a:cs typeface="Times New Roman"/>
              </a:rPr>
              <a:t>19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8" y="850312"/>
            <a:ext cx="117284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noProof="1" smtClean="0">
              <a:latin typeface="Times New Roman"/>
              <a:cs typeface="Times New Roman"/>
            </a:endParaRPr>
          </a:p>
          <a:p>
            <a:pPr algn="l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2880" y="0"/>
            <a:ext cx="12009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920" y="1126156"/>
            <a:ext cx="1207008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itchFamily="34" charset="0"/>
              <a:buChar char="•"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The simulations results show that the WSA-ICR algorithm effectively finds the most optimal path for transfer of data from source to sink node. 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 The model shows exceptional performance in maximizing the lifetime of network in both shallow and  deep waters.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also balances the energy consumption of the whole network, prolonging the network life cycle and convergence speed.</a:t>
            </a:r>
          </a:p>
          <a:p>
            <a:pPr marL="457200" indent="-457200" algn="just">
              <a:buFont typeface="Arial" pitchFamily="34" charset="0"/>
              <a:buChar char="•"/>
            </a:pP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The model outperforms various state of the art algorithms like LEACH, IHSBEER, ACORC etc.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</a:t>
            </a:r>
            <a:r>
              <a:rPr lang="en-US" sz="2000" dirty="0" smtClean="0">
                <a:latin typeface="Times New Roman"/>
                <a:cs typeface="Times New Roman"/>
              </a:rPr>
              <a:t>: 20 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178584" y="783771"/>
            <a:ext cx="11728453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 smtClean="0">
                <a:latin typeface="Times New Roman"/>
                <a:ea typeface="+mn-lt"/>
                <a:cs typeface="+mn-lt"/>
              </a:rPr>
              <a:t>S. </a:t>
            </a:r>
            <a:r>
              <a:rPr lang="en-US" noProof="1" smtClean="0">
                <a:latin typeface="Times New Roman"/>
                <a:ea typeface="+mn-lt"/>
                <a:cs typeface="+mn-lt"/>
              </a:rPr>
              <a:t>Okdem</a:t>
            </a:r>
            <a:r>
              <a:rPr lang="en-US" dirty="0" smtClean="0">
                <a:latin typeface="Times New Roman"/>
                <a:ea typeface="+mn-lt"/>
                <a:cs typeface="+mn-lt"/>
              </a:rPr>
              <a:t>, D. </a:t>
            </a:r>
            <a:r>
              <a:rPr lang="en-US" noProof="1" smtClean="0">
                <a:latin typeface="Times New Roman"/>
                <a:ea typeface="+mn-lt"/>
                <a:cs typeface="+mn-lt"/>
              </a:rPr>
              <a:t>Karaboga</a:t>
            </a:r>
            <a:r>
              <a:rPr lang="en-US" dirty="0" smtClean="0">
                <a:latin typeface="Times New Roman"/>
                <a:ea typeface="+mn-lt"/>
                <a:cs typeface="+mn-lt"/>
              </a:rPr>
              <a:t>, Routing in wireless sensor networks using an ant colony optimization (ACO) router chip, Sensors 9 (2)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 smtClean="0">
              <a:latin typeface="Times New Roman"/>
              <a:ea typeface="+mn-lt"/>
              <a:cs typeface="+mn-lt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M. Saleem, I. Ulla, M. Farooq, Bee Sensor energy-efficient and scalable routing protocol for wireless sensor networks, Inf. Sci. 200 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>
                <a:latin typeface="Times New Roman"/>
                <a:ea typeface="+mn-lt"/>
                <a:cs typeface="+mn-lt"/>
              </a:rPr>
              <a:t>M. Liu, S. Xu, S. Sun, An agent-assisted QoS-based routing algorithm for wireless sensor networks, J. Network Computing . Appl. 35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 smtClean="0">
              <a:latin typeface="Times New Roman"/>
              <a:ea typeface="+mn-lt"/>
              <a:cs typeface="+mn-lt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>
                <a:latin typeface="Times New Roman"/>
                <a:ea typeface="+mn-lt"/>
                <a:cs typeface="+mn-lt"/>
              </a:rPr>
              <a:t>W. R. Heinzelman,  A. Chandrakasan and H. Balakrishnan, "Energy-efficient communication protocol for wireless micro sensor networks.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 smtClean="0">
              <a:latin typeface="Times New Roman"/>
              <a:ea typeface="+mn-lt"/>
              <a:cs typeface="+mn-lt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>
                <a:latin typeface="Times New Roman"/>
                <a:ea typeface="+mn-lt"/>
                <a:cs typeface="Times New Roman"/>
              </a:rPr>
              <a:t>Zeng B , Deng J , Dong Y , Ying X , Huang L , Xiao Z Whale swarm based energy efficient routing algorithm for wireless sensor networks IEEE Sensors 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 smtClean="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>
                <a:latin typeface="Times New Roman"/>
                <a:ea typeface="+mn-lt"/>
                <a:cs typeface="Times New Roman"/>
              </a:rPr>
              <a:t>Zeng B , Gao L , Li X (2017) Whale Swarm Algorithm for Function Optimization</a:t>
            </a:r>
            <a:r>
              <a:rPr lang="en-IN" dirty="0" smtClean="0">
                <a:latin typeface="Times New Roman"/>
                <a:ea typeface="+mn-lt"/>
                <a:cs typeface="Times New Roman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IN" dirty="0" smtClean="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dirty="0" smtClean="0">
                <a:latin typeface="Times New Roman"/>
                <a:ea typeface="+mn-lt"/>
                <a:cs typeface="Times New Roman"/>
              </a:rPr>
              <a:t>AV Jha  , B Appasani  , MS Khan , HH Song  A novel clustering protocol for network lifetime maximization in underwater wireless sensor networks,  I</a:t>
            </a:r>
            <a:r>
              <a:rPr lang="en-US" dirty="0" smtClean="0">
                <a:latin typeface="Times New Roman"/>
                <a:ea typeface="+mn-lt"/>
                <a:cs typeface="Times New Roman"/>
              </a:rPr>
              <a:t>EEE Transactions on Green Communications and Networking</a:t>
            </a:r>
            <a:r>
              <a:rPr lang="en-IN" dirty="0" smtClean="0">
                <a:latin typeface="Times New Roman"/>
                <a:ea typeface="+mn-lt"/>
                <a:cs typeface="Times New Roman"/>
              </a:rPr>
              <a:t>   </a:t>
            </a:r>
          </a:p>
          <a:p>
            <a:pPr marL="457200" indent="-457200"/>
            <a:endParaRPr lang="en-IN" dirty="0" smtClean="0">
              <a:latin typeface="Times New Roman"/>
              <a:ea typeface="+mn-lt"/>
              <a:cs typeface="Times New Roman"/>
            </a:endParaRPr>
          </a:p>
          <a:p>
            <a:pPr marL="457200" indent="-457200"/>
            <a:r>
              <a:rPr lang="en-IN" dirty="0" smtClean="0">
                <a:latin typeface="Times New Roman"/>
                <a:ea typeface="+mn-lt"/>
                <a:cs typeface="Times New Roman"/>
              </a:rPr>
              <a:t> 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41AD57F-82B0-7AC4-2712-EA7316180265}"/>
              </a:ext>
            </a:extLst>
          </p:cNvPr>
          <p:cNvSpPr/>
          <p:nvPr/>
        </p:nvSpPr>
        <p:spPr>
          <a:xfrm>
            <a:off x="-5580" y="-5611"/>
            <a:ext cx="12191999" cy="584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55DEF7-AA40-2102-65A8-C7D0E3C23C9A}"/>
              </a:ext>
            </a:extLst>
          </p:cNvPr>
          <p:cNvSpPr/>
          <p:nvPr/>
        </p:nvSpPr>
        <p:spPr>
          <a:xfrm>
            <a:off x="-5580" y="6400800"/>
            <a:ext cx="12191999" cy="4627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101563-BA00-ACFE-93E7-E9F72C691659}"/>
              </a:ext>
            </a:extLst>
          </p:cNvPr>
          <p:cNvSpPr txBox="1"/>
          <p:nvPr/>
        </p:nvSpPr>
        <p:spPr>
          <a:xfrm>
            <a:off x="-5565" y="6373481"/>
            <a:ext cx="32792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Anish Gupta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C8484D-75DB-7850-EC64-FFBBD4BE0A2F}"/>
              </a:ext>
            </a:extLst>
          </p:cNvPr>
          <p:cNvSpPr txBox="1"/>
          <p:nvPr/>
        </p:nvSpPr>
        <p:spPr>
          <a:xfrm>
            <a:off x="10795352" y="6376452"/>
            <a:ext cx="12747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Page </a:t>
            </a:r>
            <a:r>
              <a:rPr lang="en-US" sz="2000" dirty="0" smtClean="0">
                <a:latin typeface="Times New Roman"/>
                <a:cs typeface="Times New Roman"/>
              </a:rPr>
              <a:t>: 21 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7AD3D4E-92F9-5F53-AC39-EEA04A75F223}"/>
              </a:ext>
            </a:extLst>
          </p:cNvPr>
          <p:cNvSpPr txBox="1"/>
          <p:nvPr/>
        </p:nvSpPr>
        <p:spPr>
          <a:xfrm>
            <a:off x="446067" y="5263882"/>
            <a:ext cx="112097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590AB53-93EA-5B9A-D64E-F5D219BF7DBC}"/>
              </a:ext>
            </a:extLst>
          </p:cNvPr>
          <p:cNvSpPr txBox="1"/>
          <p:nvPr/>
        </p:nvSpPr>
        <p:spPr>
          <a:xfrm>
            <a:off x="234568" y="850312"/>
            <a:ext cx="11728453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IN" sz="2000" dirty="0" smtClean="0">
              <a:latin typeface="Times New Roman"/>
              <a:cs typeface="Times New Roman"/>
            </a:endParaRPr>
          </a:p>
          <a:p>
            <a:pPr algn="ctr"/>
            <a:endParaRPr lang="en-IN" sz="2000" dirty="0" smtClean="0">
              <a:latin typeface="Times New Roman"/>
              <a:cs typeface="Times New Roman"/>
            </a:endParaRPr>
          </a:p>
          <a:p>
            <a:pPr algn="ctr"/>
            <a:endParaRPr lang="en-IN" sz="2000" dirty="0" smtClean="0">
              <a:latin typeface="Times New Roman"/>
              <a:cs typeface="Times New Roman"/>
            </a:endParaRPr>
          </a:p>
          <a:p>
            <a:pPr algn="ctr"/>
            <a:endParaRPr lang="en-IN" sz="2000" dirty="0" smtClean="0">
              <a:latin typeface="Times New Roman"/>
              <a:cs typeface="Times New Roman"/>
            </a:endParaRPr>
          </a:p>
          <a:p>
            <a:pPr algn="ctr"/>
            <a:endParaRPr lang="en-IN" sz="2000" dirty="0" smtClean="0">
              <a:latin typeface="Times New Roman"/>
              <a:cs typeface="Times New Roman"/>
            </a:endParaRPr>
          </a:p>
          <a:p>
            <a:pPr algn="ctr"/>
            <a:endParaRPr lang="en-IN" sz="2000" dirty="0" smtClean="0">
              <a:latin typeface="Times New Roman"/>
              <a:cs typeface="Times New Roman"/>
            </a:endParaRPr>
          </a:p>
          <a:p>
            <a:pPr algn="ctr"/>
            <a:endParaRPr lang="en-IN" sz="2000" dirty="0" smtClean="0">
              <a:latin typeface="Times New Roman"/>
              <a:cs typeface="Times New Roman"/>
            </a:endParaRPr>
          </a:p>
          <a:p>
            <a:pPr algn="ctr"/>
            <a:r>
              <a:rPr lang="en-IN" sz="2600" dirty="0" smtClean="0">
                <a:latin typeface="Times New Roman"/>
                <a:cs typeface="Times New Roman"/>
              </a:rPr>
              <a:t>THANK YOU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xmlns="" val="41473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2022</TotalTime>
  <Words>1308</Words>
  <Application>Microsoft Office PowerPoint</Application>
  <PresentationFormat>Custom</PresentationFormat>
  <Paragraphs>316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msanu</cp:lastModifiedBy>
  <cp:revision>165</cp:revision>
  <dcterms:created xsi:type="dcterms:W3CDTF">2024-07-04T16:52:06Z</dcterms:created>
  <dcterms:modified xsi:type="dcterms:W3CDTF">2024-07-12T11:54:21Z</dcterms:modified>
</cp:coreProperties>
</file>